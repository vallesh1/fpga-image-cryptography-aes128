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  <p:sldId id="266" r:id="rId10"/>
    <p:sldId id="260" r:id="rId11"/>
    <p:sldId id="261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9"/>
    <p:restoredTop sz="94610"/>
  </p:normalViewPr>
  <p:slideViewPr>
    <p:cSldViewPr snapToGrid="0" snapToObjects="1">
      <p:cViewPr>
        <p:scale>
          <a:sx n="100" d="100"/>
          <a:sy n="100" d="100"/>
        </p:scale>
        <p:origin x="103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2614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C891C-0669-83ED-45CF-37C9A788D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543DF6-F904-A238-1C76-A69B6737C5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4C9CED-F16E-9893-38E1-DF0B32DF90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21BB14-F07D-5F45-1936-34C82BED93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2436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4EEA8-94CC-C3DC-AC17-F2F5CE559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2F5639-A170-4CF5-B51F-00AF2132BD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DA454F-92C1-0743-A724-C00F9E9ED4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299FE3-A737-EF45-342C-32A4955BAB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8211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21A0F-B386-A440-1CAC-A1236CDC8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E25B2F-42F7-552A-17C4-8192A108B3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664282-FAC0-63BD-6372-FF50307333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3D7E3D-FEF2-5F84-85D9-5356744E77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9367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96BDD-251C-8910-0821-849E67D61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1440BD-F1F0-C620-D38A-4BCE95CE69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2B01B9-0AAC-E4B6-CAC9-D6160B436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2F5D03-03C3-E2DE-E3F7-AD2C0BBD01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2587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E9A13-98AF-90DB-97D7-98E37C698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8AED64-C845-C220-2BFD-CE6A385C21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3A1A7A-CF6F-02E0-C589-2A9BC0C89E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F2D4EF-5B60-2D5B-D942-FBB2371F0F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3126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39674-5FBF-E4E6-539A-0213F9D2C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7F986B-461D-E3BA-6AFE-A8722F947E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1B8A8-A9C6-E58C-0396-BF49387218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F9E5C1-3CF2-26DB-F27A-28A65F62AE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083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10" Type="http://schemas.openxmlformats.org/officeDocument/2006/relationships/image" Target="../media/image10.png"/><Relationship Id="rId4" Type="http://schemas.openxmlformats.org/officeDocument/2006/relationships/image" Target="../media/image14.svg"/><Relationship Id="rId9" Type="http://schemas.openxmlformats.org/officeDocument/2006/relationships/image" Target="../media/image1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jpg"/><Relationship Id="rId5" Type="http://schemas.openxmlformats.org/officeDocument/2006/relationships/image" Target="../media/image10.png"/><Relationship Id="rId4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0.png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10.png"/><Relationship Id="rId4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0.png"/><Relationship Id="rId4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0.png"/><Relationship Id="rId4" Type="http://schemas.openxmlformats.org/officeDocument/2006/relationships/image" Target="../media/image15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10" Type="http://schemas.openxmlformats.org/officeDocument/2006/relationships/image" Target="../media/image10.png"/><Relationship Id="rId4" Type="http://schemas.openxmlformats.org/officeDocument/2006/relationships/image" Target="../media/image26.svg"/><Relationship Id="rId9" Type="http://schemas.openxmlformats.org/officeDocument/2006/relationships/image" Target="../media/image31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svg"/><Relationship Id="rId7" Type="http://schemas.openxmlformats.org/officeDocument/2006/relationships/image" Target="../media/image36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svg"/><Relationship Id="rId5" Type="http://schemas.openxmlformats.org/officeDocument/2006/relationships/image" Target="../media/image34.svg"/><Relationship Id="rId10" Type="http://schemas.openxmlformats.org/officeDocument/2006/relationships/image" Target="../media/image3.png"/><Relationship Id="rId4" Type="http://schemas.openxmlformats.org/officeDocument/2006/relationships/image" Target="../media/image33.svg"/><Relationship Id="rId9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jpg"/><Relationship Id="rId5" Type="http://schemas.openxmlformats.org/officeDocument/2006/relationships/image" Target="../media/image10.png"/><Relationship Id="rId4" Type="http://schemas.openxmlformats.org/officeDocument/2006/relationships/image" Target="../media/image3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r>
              <a:rPr lang="en-US" b="1" dirty="0" err="1">
                <a:solidFill>
                  <a:srgbClr val="1E1E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CRYPTOGRAPHYv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09775" cy="51435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" name="Text 2"/>
          <p:cNvSpPr/>
          <p:nvPr/>
        </p:nvSpPr>
        <p:spPr>
          <a:xfrm>
            <a:off x="367605" y="4483746"/>
            <a:ext cx="155257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spcAft>
                <a:spcPts val="243"/>
              </a:spcAft>
              <a:buNone/>
            </a:pPr>
            <a:r>
              <a:rPr lang="en-US" sz="1050" b="1" dirty="0">
                <a:solidFill>
                  <a:schemeClr val="bg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REF.NO.</a:t>
            </a: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67605" y="4667214"/>
            <a:ext cx="155257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1200" b="1" dirty="0">
                <a:solidFill>
                  <a:schemeClr val="bg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22_EC_19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5823942" y="204936"/>
            <a:ext cx="2862262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 DEPT. OF ELECTRONICS &amp; COMMUNICATION ]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2377827" y="1557896"/>
            <a:ext cx="547687" cy="23812"/>
          </a:xfrm>
          <a:prstGeom prst="rect">
            <a:avLst/>
          </a:prstGeom>
          <a:solidFill>
            <a:srgbClr val="E20074"/>
          </a:solidFill>
          <a:ln/>
        </p:spPr>
      </p:sp>
      <p:sp>
        <p:nvSpPr>
          <p:cNvPr id="13" name="Text 9"/>
          <p:cNvSpPr/>
          <p:nvPr/>
        </p:nvSpPr>
        <p:spPr>
          <a:xfrm>
            <a:off x="2377380" y="1711226"/>
            <a:ext cx="4114800" cy="18430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29"/>
              </a:lnSpc>
              <a:buNone/>
            </a:pPr>
            <a:r>
              <a:rPr lang="en-US" sz="3400" b="1" dirty="0">
                <a:solidFill>
                  <a:srgbClr val="1E1E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FLEXIBLE FPGA APPROACH TO IMAGE</a:t>
            </a:r>
          </a:p>
          <a:p>
            <a:pPr marL="0" indent="0" algn="l">
              <a:lnSpc>
                <a:spcPts val="3629"/>
              </a:lnSpc>
              <a:buNone/>
            </a:pPr>
            <a:r>
              <a:rPr lang="en-US" sz="3400" b="1" dirty="0">
                <a:solidFill>
                  <a:srgbClr val="1E1E1E"/>
                </a:solidFill>
                <a:latin typeface="Space Grotesk" pitchFamily="34" charset="0"/>
                <a:ea typeface="Space Grotesk" pitchFamily="34" charset="-122"/>
              </a:rPr>
              <a:t>CRYPTOGRAPHY</a:t>
            </a:r>
            <a:endParaRPr lang="en-US" sz="3400" dirty="0"/>
          </a:p>
        </p:txBody>
      </p:sp>
      <p:sp>
        <p:nvSpPr>
          <p:cNvPr id="14" name="Text 10"/>
          <p:cNvSpPr/>
          <p:nvPr/>
        </p:nvSpPr>
        <p:spPr>
          <a:xfrm>
            <a:off x="2376934" y="3657042"/>
            <a:ext cx="6310312" cy="2333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6"/>
              </a:lnSpc>
              <a:spcBef>
                <a:spcPts val="810"/>
              </a:spcBef>
              <a:buNone/>
            </a:pPr>
            <a:r>
              <a:rPr lang="en-US" sz="1200" dirty="0">
                <a:solidFill>
                  <a:srgbClr val="E2007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Using PYNQ-Z2 — Xilinx Zynq-7000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2376934" y="4472694"/>
            <a:ext cx="6310312" cy="671513"/>
          </a:xfrm>
          <a:prstGeom prst="rect">
            <a:avLst/>
          </a:prstGeom>
          <a:ln/>
        </p:spPr>
      </p:sp>
      <p:sp>
        <p:nvSpPr>
          <p:cNvPr id="16" name="Text 12"/>
          <p:cNvSpPr/>
          <p:nvPr/>
        </p:nvSpPr>
        <p:spPr>
          <a:xfrm>
            <a:off x="2378385" y="4556224"/>
            <a:ext cx="4886325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spcAft>
                <a:spcPts val="162"/>
              </a:spcAft>
              <a:buNone/>
            </a:pPr>
            <a:r>
              <a:rPr lang="en-US" sz="1000" dirty="0">
                <a:solidFill>
                  <a:srgbClr val="1E1E1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Lagineni Sreenithai · Raghavendra S M · Chandrakiran S M · Mulukuri Vallesh Nath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2378385" y="4728054"/>
            <a:ext cx="4886325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1050" dirty="0">
                <a:latin typeface="Space Mono" pitchFamily="34" charset="0"/>
                <a:ea typeface="Space Mono" pitchFamily="34" charset="-122"/>
                <a:cs typeface="Space Mono" pitchFamily="34" charset="-120"/>
              </a:rPr>
              <a:t>Guide: Ms. Chaithra S</a:t>
            </a:r>
            <a:endParaRPr lang="en-US" sz="105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76934" y="4472694"/>
            <a:ext cx="6310312" cy="67151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5B44954-194D-6772-F683-725E6EB645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311" y="220628"/>
            <a:ext cx="878756" cy="8984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FF2BB4-32A1-8BBB-F77E-DCCBCDE7A23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792" t="16493" r="19682" b="16402"/>
          <a:stretch>
            <a:fillRect/>
          </a:stretch>
        </p:blipFill>
        <p:spPr>
          <a:xfrm rot="5400000">
            <a:off x="6060164" y="1159542"/>
            <a:ext cx="3162878" cy="229884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930" y="0"/>
            <a:ext cx="2009775" cy="51435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" name="Text 2"/>
          <p:cNvSpPr/>
          <p:nvPr/>
        </p:nvSpPr>
        <p:spPr>
          <a:xfrm>
            <a:off x="229530" y="204936"/>
            <a:ext cx="155257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dirty="0">
                <a:solidFill>
                  <a:srgbClr val="B0BEC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SECTION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29530" y="378135"/>
            <a:ext cx="155257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>
              <a:lnSpc>
                <a:spcPts val="1404"/>
              </a:lnSpc>
              <a:spcBef>
                <a:spcPts val="162"/>
              </a:spcBef>
            </a:pPr>
            <a:r>
              <a:rPr lang="en-US" sz="900" dirty="0">
                <a:solidFill>
                  <a:srgbClr val="E2007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9530" y="1895029"/>
            <a:ext cx="1552575" cy="1428750"/>
          </a:xfrm>
          <a:prstGeom prst="rect">
            <a:avLst/>
          </a:prstGeom>
          <a:ln/>
        </p:spPr>
      </p:sp>
      <p:sp>
        <p:nvSpPr>
          <p:cNvPr id="7" name="Text 5"/>
          <p:cNvSpPr/>
          <p:nvPr/>
        </p:nvSpPr>
        <p:spPr>
          <a:xfrm>
            <a:off x="229530" y="2056135"/>
            <a:ext cx="1552575" cy="5905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5"/>
              </a:lnSpc>
              <a:spcAft>
                <a:spcPts val="607"/>
              </a:spcAft>
              <a:buNone/>
            </a:pPr>
            <a:r>
              <a:rPr lang="en-US" sz="1200" b="1" dirty="0">
                <a:solidFill>
                  <a:srgbClr val="F8F9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Case for Hardware Encryption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9530" y="2725117"/>
            <a:ext cx="1552575" cy="4381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700" dirty="0">
                <a:solidFill>
                  <a:srgbClr val="B0BEC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Software AES on CPU cannot meet real-time multimedia demands.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376934" y="256170"/>
            <a:ext cx="6310312" cy="495300"/>
          </a:xfrm>
          <a:prstGeom prst="rect">
            <a:avLst/>
          </a:prstGeom>
          <a:ln/>
        </p:spPr>
      </p:sp>
      <p:sp>
        <p:nvSpPr>
          <p:cNvPr id="11" name="Text 9"/>
          <p:cNvSpPr/>
          <p:nvPr/>
        </p:nvSpPr>
        <p:spPr>
          <a:xfrm>
            <a:off x="2376860" y="258105"/>
            <a:ext cx="3937580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40"/>
              </a:lnSpc>
              <a:buNone/>
            </a:pPr>
            <a:r>
              <a:rPr lang="en-US" sz="2100" b="1" dirty="0">
                <a:solidFill>
                  <a:srgbClr val="1E1E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PROBLEM &amp; SOLUTION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2376599" y="931404"/>
            <a:ext cx="38100" cy="152400"/>
          </a:xfrm>
          <a:prstGeom prst="rect">
            <a:avLst/>
          </a:prstGeom>
          <a:solidFill>
            <a:srgbClr val="E20074"/>
          </a:solidFill>
          <a:ln/>
        </p:spPr>
      </p:sp>
      <p:sp>
        <p:nvSpPr>
          <p:cNvPr id="14" name="Text 12"/>
          <p:cNvSpPr/>
          <p:nvPr/>
        </p:nvSpPr>
        <p:spPr>
          <a:xfrm>
            <a:off x="2505298" y="931366"/>
            <a:ext cx="80962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dirty="0">
                <a:solidFill>
                  <a:srgbClr val="E2007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THE PROBLEM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376450" y="1187760"/>
            <a:ext cx="3019425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spcAft>
                <a:spcPts val="243"/>
              </a:spcAft>
              <a:buNone/>
            </a:pPr>
            <a:r>
              <a:rPr lang="en-US" sz="1100" b="1" dirty="0">
                <a:solidFill>
                  <a:srgbClr val="1E1E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Explosive data growth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76450" y="1437977"/>
            <a:ext cx="3019425" cy="4524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Medical scans, biometrics, surveillance, and satellite imagery traverse open networks continuously.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376450" y="2003859"/>
            <a:ext cx="3019425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spcAft>
                <a:spcPts val="243"/>
              </a:spcAft>
              <a:buNone/>
            </a:pPr>
            <a:r>
              <a:rPr lang="en-US" sz="1100" b="1" dirty="0">
                <a:solidFill>
                  <a:srgbClr val="1E1E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CPU bottleneck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76450" y="2254076"/>
            <a:ext cx="3019425" cy="4524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Software AES/RSA on CPUs introduces high latency unusable for real-time telemedicine and live monitoring.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376450" y="2819958"/>
            <a:ext cx="3019425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spcAft>
                <a:spcPts val="243"/>
              </a:spcAft>
              <a:buNone/>
            </a:pPr>
            <a:r>
              <a:rPr lang="en-US" sz="1100" b="1" dirty="0">
                <a:solidFill>
                  <a:srgbClr val="1E1E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Security threats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376450" y="3070920"/>
            <a:ext cx="3019425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Unauthorized access, data breaches, and malicious tampering are growing in severity.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668454" y="931404"/>
            <a:ext cx="38100" cy="15240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22" name="Text 20"/>
          <p:cNvSpPr/>
          <p:nvPr/>
        </p:nvSpPr>
        <p:spPr>
          <a:xfrm>
            <a:off x="5798232" y="931366"/>
            <a:ext cx="881063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dirty="0">
                <a:solidFill>
                  <a:srgbClr val="00E67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OUR APPROACH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668305" y="1187053"/>
            <a:ext cx="3019425" cy="9525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4" name="Text 22"/>
          <p:cNvSpPr/>
          <p:nvPr/>
        </p:nvSpPr>
        <p:spPr>
          <a:xfrm>
            <a:off x="5851661" y="1315975"/>
            <a:ext cx="2652713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98"/>
              </a:lnSpc>
              <a:spcAft>
                <a:spcPts val="405"/>
              </a:spcAft>
              <a:buNone/>
            </a:pPr>
            <a:r>
              <a:rPr lang="en-US" sz="1100" b="1" dirty="0">
                <a:solidFill>
                  <a:srgbClr val="F8F9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AES-128 on FPGA Fabric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51661" y="1557858"/>
            <a:ext cx="2652713" cy="4524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dirty="0">
                <a:solidFill>
                  <a:srgbClr val="B0BEC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Hardware-accelerated encryption via Vivado HLS, controlled through a Python software interface.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5670203" y="2240756"/>
            <a:ext cx="1438275" cy="338137"/>
          </a:xfrm>
          <a:prstGeom prst="rect">
            <a:avLst/>
          </a:prstGeom>
          <a:ln/>
        </p:spPr>
      </p:sp>
      <p:sp>
        <p:nvSpPr>
          <p:cNvPr id="27" name="Text 25"/>
          <p:cNvSpPr/>
          <p:nvPr/>
        </p:nvSpPr>
        <p:spPr>
          <a:xfrm>
            <a:off x="5770662" y="2241389"/>
            <a:ext cx="1338262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162"/>
              </a:spcAft>
              <a:buNone/>
            </a:pPr>
            <a:r>
              <a:rPr lang="en-US" sz="700" dirty="0">
                <a:solidFill>
                  <a:srgbClr val="E2007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HARDWARE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770662" y="2400560"/>
            <a:ext cx="1338262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1E1E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FPGA Speed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247558" y="2240756"/>
            <a:ext cx="1438275" cy="338137"/>
          </a:xfrm>
          <a:prstGeom prst="rect">
            <a:avLst/>
          </a:prstGeom>
          <a:ln/>
        </p:spPr>
      </p:sp>
      <p:sp>
        <p:nvSpPr>
          <p:cNvPr id="30" name="Text 28"/>
          <p:cNvSpPr/>
          <p:nvPr/>
        </p:nvSpPr>
        <p:spPr>
          <a:xfrm>
            <a:off x="7348017" y="2241389"/>
            <a:ext cx="1338262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162"/>
              </a:spcAft>
              <a:buNone/>
            </a:pPr>
            <a:r>
              <a:rPr lang="en-US" sz="700" dirty="0">
                <a:solidFill>
                  <a:srgbClr val="E2007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SOFTWARE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348017" y="2400560"/>
            <a:ext cx="1338262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1E1E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Python </a:t>
            </a:r>
            <a:r>
              <a:rPr lang="en-US" sz="900" b="1" dirty="0" err="1">
                <a:solidFill>
                  <a:srgbClr val="1E1E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Jupyter</a:t>
            </a:r>
            <a:r>
              <a:rPr lang="en-US" sz="900" b="1" dirty="0">
                <a:solidFill>
                  <a:srgbClr val="1E1E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70203" y="2713806"/>
            <a:ext cx="1438275" cy="338137"/>
          </a:xfrm>
          <a:prstGeom prst="rect">
            <a:avLst/>
          </a:prstGeom>
          <a:ln/>
        </p:spPr>
      </p:sp>
      <p:sp>
        <p:nvSpPr>
          <p:cNvPr id="33" name="Text 31"/>
          <p:cNvSpPr/>
          <p:nvPr/>
        </p:nvSpPr>
        <p:spPr>
          <a:xfrm>
            <a:off x="5770662" y="2714439"/>
            <a:ext cx="1338262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162"/>
              </a:spcAft>
              <a:buNone/>
            </a:pPr>
            <a:r>
              <a:rPr lang="en-US" sz="700" dirty="0">
                <a:solidFill>
                  <a:srgbClr val="E2007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BRIDGE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770662" y="2873611"/>
            <a:ext cx="1338262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1E1E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AXI DMA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247558" y="2713806"/>
            <a:ext cx="1438275" cy="338137"/>
          </a:xfrm>
          <a:prstGeom prst="rect">
            <a:avLst/>
          </a:prstGeom>
          <a:ln/>
        </p:spPr>
      </p:sp>
      <p:sp>
        <p:nvSpPr>
          <p:cNvPr id="36" name="Text 34"/>
          <p:cNvSpPr/>
          <p:nvPr/>
        </p:nvSpPr>
        <p:spPr>
          <a:xfrm>
            <a:off x="7348017" y="2714439"/>
            <a:ext cx="1338262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162"/>
              </a:spcAft>
              <a:buNone/>
            </a:pPr>
            <a:r>
              <a:rPr lang="en-US" sz="700" dirty="0">
                <a:solidFill>
                  <a:srgbClr val="E2007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TARGET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7348017" y="2873611"/>
            <a:ext cx="1338262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1E1E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Low Latency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4882269"/>
            <a:ext cx="9144000" cy="261937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9" name="Text 37"/>
          <p:cNvSpPr/>
          <p:nvPr/>
        </p:nvSpPr>
        <p:spPr>
          <a:xfrm>
            <a:off x="364591" y="4965650"/>
            <a:ext cx="3228157" cy="11664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>
              <a:lnSpc>
                <a:spcPts val="1080"/>
              </a:lnSpc>
            </a:pPr>
            <a:r>
              <a:rPr lang="en-US" sz="800" dirty="0">
                <a:solidFill>
                  <a:srgbClr val="B0BEC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Dept. of Electronics and Communication</a:t>
            </a:r>
            <a:r>
              <a:rPr lang="en-US" sz="700" dirty="0">
                <a:solidFill>
                  <a:srgbClr val="B0BEC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— K.R. PURAM, BENGALURU</a:t>
            </a:r>
            <a:endParaRPr lang="en-US" sz="700" dirty="0"/>
          </a:p>
        </p:txBody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9530" y="1895029"/>
            <a:ext cx="1552575" cy="1428750"/>
          </a:xfrm>
          <a:prstGeom prst="rect">
            <a:avLst/>
          </a:prstGeom>
        </p:spPr>
      </p:pic>
      <p:pic>
        <p:nvPicPr>
          <p:cNvPr id="4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76934" y="256170"/>
            <a:ext cx="6310312" cy="495300"/>
          </a:xfrm>
          <a:prstGeom prst="rect">
            <a:avLst/>
          </a:prstGeom>
        </p:spPr>
      </p:pic>
      <p:pic>
        <p:nvPicPr>
          <p:cNvPr id="4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70203" y="2240756"/>
            <a:ext cx="1438275" cy="338137"/>
          </a:xfrm>
          <a:prstGeom prst="rect">
            <a:avLst/>
          </a:prstGeom>
        </p:spPr>
      </p:pic>
      <p:pic>
        <p:nvPicPr>
          <p:cNvPr id="4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47558" y="2240756"/>
            <a:ext cx="1438275" cy="338137"/>
          </a:xfrm>
          <a:prstGeom prst="rect">
            <a:avLst/>
          </a:prstGeom>
        </p:spPr>
      </p:pic>
      <p:pic>
        <p:nvPicPr>
          <p:cNvPr id="4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70203" y="2713806"/>
            <a:ext cx="1438275" cy="338137"/>
          </a:xfrm>
          <a:prstGeom prst="rect">
            <a:avLst/>
          </a:prstGeom>
        </p:spPr>
      </p:pic>
      <p:pic>
        <p:nvPicPr>
          <p:cNvPr id="4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47558" y="2713806"/>
            <a:ext cx="1438275" cy="338137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77E1CA0A-DDDD-E356-5EFB-B8F9E7941E4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7992" y="-101631"/>
            <a:ext cx="1005458" cy="10062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34" y="-35170"/>
            <a:ext cx="9144000" cy="51435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Shape 1"/>
          <p:cNvSpPr/>
          <p:nvPr/>
        </p:nvSpPr>
        <p:spPr>
          <a:xfrm>
            <a:off x="930" y="0"/>
            <a:ext cx="2009775" cy="51435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" name="Text 2"/>
          <p:cNvSpPr/>
          <p:nvPr/>
        </p:nvSpPr>
        <p:spPr>
          <a:xfrm>
            <a:off x="229530" y="204936"/>
            <a:ext cx="155257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dirty="0">
                <a:solidFill>
                  <a:srgbClr val="B0BEC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SECTION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29530" y="378135"/>
            <a:ext cx="155257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>
              <a:lnSpc>
                <a:spcPts val="1404"/>
              </a:lnSpc>
              <a:spcBef>
                <a:spcPts val="162"/>
              </a:spcBef>
            </a:pPr>
            <a:r>
              <a:rPr lang="en-US" sz="900" dirty="0">
                <a:solidFill>
                  <a:srgbClr val="E2007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 /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29530" y="2501168"/>
            <a:ext cx="1552575" cy="1652587"/>
          </a:xfrm>
          <a:prstGeom prst="rect">
            <a:avLst/>
          </a:prstGeom>
          <a:ln/>
        </p:spPr>
      </p:sp>
      <p:sp>
        <p:nvSpPr>
          <p:cNvPr id="8" name="Text 5"/>
          <p:cNvSpPr/>
          <p:nvPr/>
        </p:nvSpPr>
        <p:spPr>
          <a:xfrm>
            <a:off x="229530" y="2636007"/>
            <a:ext cx="155257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spcAft>
                <a:spcPts val="405"/>
              </a:spcAft>
              <a:buNone/>
            </a:pPr>
            <a:r>
              <a:rPr lang="en-US" sz="1000" b="1" dirty="0">
                <a:solidFill>
                  <a:srgbClr val="F8F9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PYNQ-Z2 Board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29530" y="2864458"/>
            <a:ext cx="1552575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spcAft>
                <a:spcPts val="81"/>
              </a:spcAft>
              <a:buNone/>
            </a:pPr>
            <a:r>
              <a:rPr lang="en-US" sz="600" dirty="0">
                <a:solidFill>
                  <a:srgbClr val="E2007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ARM CORTEX-A9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229530" y="2999482"/>
            <a:ext cx="155257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00" dirty="0">
                <a:solidFill>
                  <a:srgbClr val="B0BEC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Dual-core Processing System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229530" y="3166132"/>
            <a:ext cx="1552575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spcAft>
                <a:spcPts val="81"/>
              </a:spcAft>
              <a:buNone/>
            </a:pPr>
            <a:r>
              <a:rPr lang="en-US" sz="600" dirty="0">
                <a:solidFill>
                  <a:srgbClr val="E2007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FPGA FABRIC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229530" y="3301157"/>
            <a:ext cx="155257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00" dirty="0">
                <a:solidFill>
                  <a:srgbClr val="B0BEC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Programmable Logic for HLS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229530" y="3467807"/>
            <a:ext cx="1552575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spcAft>
                <a:spcPts val="81"/>
              </a:spcAft>
              <a:buNone/>
            </a:pPr>
            <a:r>
              <a:rPr lang="en-US" sz="600" dirty="0">
                <a:solidFill>
                  <a:srgbClr val="E2007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ETHERNET / USB-UART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229530" y="3602831"/>
            <a:ext cx="155257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00" dirty="0">
                <a:solidFill>
                  <a:srgbClr val="B0BEC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Network transfer &amp; debug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229530" y="3769482"/>
            <a:ext cx="1552575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spcAft>
                <a:spcPts val="81"/>
              </a:spcAft>
              <a:buNone/>
            </a:pPr>
            <a:r>
              <a:rPr lang="en-US" sz="600" dirty="0">
                <a:solidFill>
                  <a:srgbClr val="E2007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MICRO SD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229530" y="3904506"/>
            <a:ext cx="155257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00" dirty="0">
                <a:solidFill>
                  <a:srgbClr val="B0BEC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Linux boot image storage</a:t>
            </a:r>
            <a:endParaRPr lang="en-US" sz="600" dirty="0"/>
          </a:p>
        </p:txBody>
      </p:sp>
      <p:sp>
        <p:nvSpPr>
          <p:cNvPr id="18" name="Shape 15"/>
          <p:cNvSpPr/>
          <p:nvPr/>
        </p:nvSpPr>
        <p:spPr>
          <a:xfrm>
            <a:off x="2376934" y="256170"/>
            <a:ext cx="6310312" cy="495300"/>
          </a:xfrm>
          <a:prstGeom prst="rect">
            <a:avLst/>
          </a:prstGeom>
          <a:ln/>
        </p:spPr>
      </p:sp>
      <p:sp>
        <p:nvSpPr>
          <p:cNvPr id="19" name="Text 16"/>
          <p:cNvSpPr/>
          <p:nvPr/>
        </p:nvSpPr>
        <p:spPr>
          <a:xfrm>
            <a:off x="2376190" y="258105"/>
            <a:ext cx="3163550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>
              <a:lnSpc>
                <a:spcPts val="3240"/>
              </a:lnSpc>
            </a:pPr>
            <a:r>
              <a:rPr lang="en-US" sz="2100" b="1" dirty="0">
                <a:solidFill>
                  <a:srgbClr val="1E1E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HARDWARE PLATFORM</a:t>
            </a:r>
          </a:p>
        </p:txBody>
      </p:sp>
      <p:sp>
        <p:nvSpPr>
          <p:cNvPr id="20" name="Text 17"/>
          <p:cNvSpPr/>
          <p:nvPr/>
        </p:nvSpPr>
        <p:spPr>
          <a:xfrm>
            <a:off x="536536" y="2251322"/>
            <a:ext cx="1414463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dirty="0">
                <a:solidFill>
                  <a:srgbClr val="B0BEC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 PYNQ-Z2 / ZYNQ-7000 ]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2378348" y="905359"/>
            <a:ext cx="3038475" cy="1185863"/>
          </a:xfrm>
          <a:prstGeom prst="rect">
            <a:avLst/>
          </a:prstGeom>
          <a:solidFill>
            <a:srgbClr val="FFFFFF"/>
          </a:solidFill>
          <a:ln w="4763">
            <a:solidFill>
              <a:srgbClr val="B0BEC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564197" y="1039006"/>
            <a:ext cx="38100" cy="152400"/>
          </a:xfrm>
          <a:prstGeom prst="rect">
            <a:avLst/>
          </a:prstGeom>
          <a:solidFill>
            <a:srgbClr val="E20074"/>
          </a:solidFill>
          <a:ln/>
        </p:spPr>
      </p:sp>
      <p:sp>
        <p:nvSpPr>
          <p:cNvPr id="23" name="Text 20"/>
          <p:cNvSpPr/>
          <p:nvPr/>
        </p:nvSpPr>
        <p:spPr>
          <a:xfrm>
            <a:off x="2675818" y="1053294"/>
            <a:ext cx="1285875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00" dirty="0">
                <a:solidFill>
                  <a:srgbClr val="E2007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PROCESSING SYSTEM   PS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2564085" y="1269876"/>
            <a:ext cx="266700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486"/>
              </a:spcAft>
              <a:buNone/>
            </a:pPr>
            <a:r>
              <a:rPr lang="en-US" sz="1000" b="1" dirty="0">
                <a:solidFill>
                  <a:srgbClr val="1E1E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ARM Cortex-A9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2564085" y="1536613"/>
            <a:ext cx="2667000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spcAft>
                <a:spcPts val="203"/>
              </a:spcAft>
              <a:buNone/>
            </a:pPr>
            <a:r>
              <a:rPr lang="en-US" sz="600" dirty="0">
                <a:solidFill>
                  <a:srgbClr val="55555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Image acquisition via Python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2564085" y="1685739"/>
            <a:ext cx="2667000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spcAft>
                <a:spcPts val="203"/>
              </a:spcAft>
              <a:buNone/>
            </a:pPr>
            <a:r>
              <a:rPr lang="en-US" sz="600" dirty="0">
                <a:solidFill>
                  <a:srgbClr val="55555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Pixel packing to 128-bit AES blocks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2564085" y="1834865"/>
            <a:ext cx="2667000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Image reconstruction post-decrypt</a:t>
            </a:r>
            <a:endParaRPr lang="en-US" sz="600" dirty="0"/>
          </a:p>
        </p:txBody>
      </p:sp>
      <p:sp>
        <p:nvSpPr>
          <p:cNvPr id="28" name="Shape 25"/>
          <p:cNvSpPr/>
          <p:nvPr/>
        </p:nvSpPr>
        <p:spPr>
          <a:xfrm>
            <a:off x="5647358" y="905359"/>
            <a:ext cx="3038475" cy="1185863"/>
          </a:xfrm>
          <a:prstGeom prst="rect">
            <a:avLst/>
          </a:prstGeom>
          <a:solidFill>
            <a:srgbClr val="FFFFFF"/>
          </a:solidFill>
          <a:ln w="4763">
            <a:solidFill>
              <a:srgbClr val="B0BEC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833207" y="1039006"/>
            <a:ext cx="38100" cy="152400"/>
          </a:xfrm>
          <a:prstGeom prst="rect">
            <a:avLst/>
          </a:prstGeom>
          <a:solidFill>
            <a:srgbClr val="B0BEC5"/>
          </a:solidFill>
          <a:ln/>
        </p:spPr>
      </p:sp>
      <p:sp>
        <p:nvSpPr>
          <p:cNvPr id="30" name="Text 27"/>
          <p:cNvSpPr/>
          <p:nvPr/>
        </p:nvSpPr>
        <p:spPr>
          <a:xfrm>
            <a:off x="5943154" y="1053294"/>
            <a:ext cx="1347788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PROGRAMMABLE LOGIC — PL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5833095" y="1269876"/>
            <a:ext cx="266700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486"/>
              </a:spcAft>
              <a:buNone/>
            </a:pPr>
            <a:r>
              <a:rPr lang="en-US" sz="1000" b="1" dirty="0">
                <a:solidFill>
                  <a:srgbClr val="1E1E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FPGA Fabric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833095" y="1536613"/>
            <a:ext cx="2667000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spcAft>
                <a:spcPts val="203"/>
              </a:spcAft>
              <a:buNone/>
            </a:pPr>
            <a:r>
              <a:rPr lang="en-US" sz="600" dirty="0">
                <a:solidFill>
                  <a:srgbClr val="55555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HLS Encryption IP core (Vivado)</a:t>
            </a:r>
            <a:endParaRPr lang="en-US" sz="600" dirty="0"/>
          </a:p>
        </p:txBody>
      </p:sp>
      <p:sp>
        <p:nvSpPr>
          <p:cNvPr id="33" name="Text 30"/>
          <p:cNvSpPr/>
          <p:nvPr/>
        </p:nvSpPr>
        <p:spPr>
          <a:xfrm>
            <a:off x="5833095" y="1685739"/>
            <a:ext cx="2667000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spcAft>
                <a:spcPts val="203"/>
              </a:spcAft>
              <a:buNone/>
            </a:pPr>
            <a:r>
              <a:rPr lang="en-US" sz="600" dirty="0">
                <a:solidFill>
                  <a:srgbClr val="55555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Pipelined AES-128 hardware modules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5833095" y="1834865"/>
            <a:ext cx="2667000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DMA burst transfers (256–4096 bytes)</a:t>
            </a:r>
            <a:endParaRPr lang="en-US" sz="600" dirty="0"/>
          </a:p>
        </p:txBody>
      </p:sp>
      <p:sp>
        <p:nvSpPr>
          <p:cNvPr id="35" name="Shape 32"/>
          <p:cNvSpPr/>
          <p:nvPr/>
        </p:nvSpPr>
        <p:spPr>
          <a:xfrm>
            <a:off x="2377380" y="2221074"/>
            <a:ext cx="1981200" cy="51435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6" name="Text 33"/>
          <p:cNvSpPr/>
          <p:nvPr/>
        </p:nvSpPr>
        <p:spPr>
          <a:xfrm>
            <a:off x="2515493" y="2297348"/>
            <a:ext cx="1704975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spcAft>
                <a:spcPts val="162"/>
              </a:spcAft>
              <a:buNone/>
            </a:pPr>
            <a:r>
              <a:rPr lang="en-US" sz="600" dirty="0">
                <a:solidFill>
                  <a:srgbClr val="E2007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AXI-LITE</a:t>
            </a:r>
            <a:endParaRPr lang="en-US" sz="600" dirty="0"/>
          </a:p>
        </p:txBody>
      </p:sp>
      <p:sp>
        <p:nvSpPr>
          <p:cNvPr id="37" name="Text 34"/>
          <p:cNvSpPr/>
          <p:nvPr/>
        </p:nvSpPr>
        <p:spPr>
          <a:xfrm>
            <a:off x="2515493" y="2440707"/>
            <a:ext cx="1704975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7"/>
              </a:lnSpc>
              <a:buNone/>
            </a:pPr>
            <a:r>
              <a:rPr lang="en-US" sz="600" dirty="0">
                <a:solidFill>
                  <a:srgbClr val="B0BEC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PS control signals: start/stop, key, IV</a:t>
            </a:r>
            <a:endParaRPr lang="en-US" sz="600" dirty="0"/>
          </a:p>
        </p:txBody>
      </p:sp>
      <p:sp>
        <p:nvSpPr>
          <p:cNvPr id="38" name="Shape 35"/>
          <p:cNvSpPr/>
          <p:nvPr/>
        </p:nvSpPr>
        <p:spPr>
          <a:xfrm>
            <a:off x="4541453" y="2221074"/>
            <a:ext cx="1981200" cy="51435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9" name="Text 36"/>
          <p:cNvSpPr/>
          <p:nvPr/>
        </p:nvSpPr>
        <p:spPr>
          <a:xfrm>
            <a:off x="4679566" y="2297348"/>
            <a:ext cx="1704975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spcAft>
                <a:spcPts val="162"/>
              </a:spcAft>
              <a:buNone/>
            </a:pPr>
            <a:r>
              <a:rPr lang="en-US" sz="600" dirty="0">
                <a:solidFill>
                  <a:srgbClr val="E2007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AXI-STREAM</a:t>
            </a:r>
            <a:endParaRPr lang="en-US" sz="600" dirty="0"/>
          </a:p>
        </p:txBody>
      </p:sp>
      <p:sp>
        <p:nvSpPr>
          <p:cNvPr id="40" name="Text 37"/>
          <p:cNvSpPr/>
          <p:nvPr/>
        </p:nvSpPr>
        <p:spPr>
          <a:xfrm>
            <a:off x="4679566" y="2441116"/>
            <a:ext cx="1704975" cy="1095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7"/>
              </a:lnSpc>
              <a:buNone/>
            </a:pPr>
            <a:r>
              <a:rPr lang="en-US" sz="600" dirty="0">
                <a:solidFill>
                  <a:srgbClr val="B0BEC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High-speed pixel stream PS ↔ PL</a:t>
            </a:r>
            <a:endParaRPr lang="en-US" sz="600" dirty="0"/>
          </a:p>
        </p:txBody>
      </p:sp>
      <p:sp>
        <p:nvSpPr>
          <p:cNvPr id="41" name="Shape 38"/>
          <p:cNvSpPr/>
          <p:nvPr/>
        </p:nvSpPr>
        <p:spPr>
          <a:xfrm>
            <a:off x="6705526" y="2221074"/>
            <a:ext cx="1981200" cy="51435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2" name="Text 39"/>
          <p:cNvSpPr/>
          <p:nvPr/>
        </p:nvSpPr>
        <p:spPr>
          <a:xfrm>
            <a:off x="6843638" y="2297348"/>
            <a:ext cx="1704975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spcAft>
                <a:spcPts val="162"/>
              </a:spcAft>
              <a:buNone/>
            </a:pPr>
            <a:r>
              <a:rPr lang="en-US" sz="600" dirty="0">
                <a:solidFill>
                  <a:srgbClr val="E2007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AXI-DMA</a:t>
            </a:r>
            <a:endParaRPr lang="en-US" sz="600" dirty="0"/>
          </a:p>
        </p:txBody>
      </p:sp>
      <p:sp>
        <p:nvSpPr>
          <p:cNvPr id="43" name="Text 40"/>
          <p:cNvSpPr/>
          <p:nvPr/>
        </p:nvSpPr>
        <p:spPr>
          <a:xfrm>
            <a:off x="6843638" y="2440707"/>
            <a:ext cx="1704975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7"/>
              </a:lnSpc>
              <a:buNone/>
            </a:pPr>
            <a:r>
              <a:rPr lang="en-US" sz="600" dirty="0">
                <a:solidFill>
                  <a:srgbClr val="B0BEC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Bulk image transfer from DDR to fabric</a:t>
            </a:r>
            <a:endParaRPr lang="en-US" sz="600" dirty="0"/>
          </a:p>
        </p:txBody>
      </p:sp>
      <p:sp>
        <p:nvSpPr>
          <p:cNvPr id="44" name="Shape 41"/>
          <p:cNvSpPr/>
          <p:nvPr/>
        </p:nvSpPr>
        <p:spPr>
          <a:xfrm>
            <a:off x="0" y="4882269"/>
            <a:ext cx="9144000" cy="261937"/>
          </a:xfrm>
          <a:prstGeom prst="rect">
            <a:avLst/>
          </a:prstGeom>
          <a:solidFill>
            <a:srgbClr val="1E1E1E"/>
          </a:solidFill>
          <a:ln/>
        </p:spPr>
      </p:sp>
      <p:pic>
        <p:nvPicPr>
          <p:cNvPr id="4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9530" y="2501168"/>
            <a:ext cx="1552575" cy="1652587"/>
          </a:xfrm>
          <a:prstGeom prst="rect">
            <a:avLst/>
          </a:prstGeom>
        </p:spPr>
      </p:pic>
      <p:pic>
        <p:nvPicPr>
          <p:cNvPr id="4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76934" y="256170"/>
            <a:ext cx="6310312" cy="4953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AF63C5EC-DD22-8565-AF61-95A32591B0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7992" y="-101631"/>
            <a:ext cx="1005458" cy="1006263"/>
          </a:xfrm>
          <a:prstGeom prst="rect">
            <a:avLst/>
          </a:prstGeom>
        </p:spPr>
      </p:pic>
      <p:sp>
        <p:nvSpPr>
          <p:cNvPr id="52" name="Text 37">
            <a:extLst>
              <a:ext uri="{FF2B5EF4-FFF2-40B4-BE49-F238E27FC236}">
                <a16:creationId xmlns:a16="http://schemas.microsoft.com/office/drawing/2014/main" id="{C1EE9750-A574-49BE-A08F-2EBFDCC06B1C}"/>
              </a:ext>
            </a:extLst>
          </p:cNvPr>
          <p:cNvSpPr/>
          <p:nvPr/>
        </p:nvSpPr>
        <p:spPr>
          <a:xfrm>
            <a:off x="364591" y="4965650"/>
            <a:ext cx="3228157" cy="11664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>
              <a:lnSpc>
                <a:spcPts val="1080"/>
              </a:lnSpc>
            </a:pPr>
            <a:r>
              <a:rPr lang="en-US" sz="800" dirty="0">
                <a:solidFill>
                  <a:srgbClr val="B0BEC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Dept. of Electronics and Communication</a:t>
            </a:r>
            <a:r>
              <a:rPr lang="en-US" sz="700" dirty="0">
                <a:solidFill>
                  <a:srgbClr val="B0BEC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— K.R. PURAM, BENGALURU</a:t>
            </a:r>
            <a:endParaRPr lang="en-US" sz="700"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3F3CEB2B-D39F-4FAA-5898-7574E202173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8792" t="16493" r="19682" b="16402"/>
          <a:stretch>
            <a:fillRect/>
          </a:stretch>
        </p:blipFill>
        <p:spPr>
          <a:xfrm>
            <a:off x="0" y="904632"/>
            <a:ext cx="1916534" cy="13929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Shape 1"/>
          <p:cNvSpPr/>
          <p:nvPr/>
        </p:nvSpPr>
        <p:spPr>
          <a:xfrm>
            <a:off x="930" y="0"/>
            <a:ext cx="2009775" cy="51435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" name="Text 2"/>
          <p:cNvSpPr/>
          <p:nvPr/>
        </p:nvSpPr>
        <p:spPr>
          <a:xfrm>
            <a:off x="229530" y="204936"/>
            <a:ext cx="155257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dirty="0">
                <a:solidFill>
                  <a:srgbClr val="B0BEC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SECTION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29530" y="378135"/>
            <a:ext cx="155257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>
              <a:lnSpc>
                <a:spcPts val="1404"/>
              </a:lnSpc>
              <a:spcBef>
                <a:spcPts val="162"/>
              </a:spcBef>
            </a:pPr>
            <a:r>
              <a:rPr lang="en-US" sz="900" dirty="0">
                <a:solidFill>
                  <a:srgbClr val="E2007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 / 12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" y="1280033"/>
            <a:ext cx="2009775" cy="92392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9530" y="2929347"/>
            <a:ext cx="1552575" cy="1009650"/>
          </a:xfrm>
          <a:prstGeom prst="rect">
            <a:avLst/>
          </a:prstGeom>
          <a:ln/>
        </p:spPr>
      </p:sp>
      <p:sp>
        <p:nvSpPr>
          <p:cNvPr id="8" name="Text 5"/>
          <p:cNvSpPr/>
          <p:nvPr/>
        </p:nvSpPr>
        <p:spPr>
          <a:xfrm>
            <a:off x="229530" y="3061841"/>
            <a:ext cx="1552575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0"/>
              </a:lnSpc>
              <a:spcAft>
                <a:spcPts val="405"/>
              </a:spcAft>
              <a:buNone/>
            </a:pPr>
            <a:r>
              <a:rPr lang="en-US" sz="1000" b="1" dirty="0">
                <a:solidFill>
                  <a:srgbClr val="F8F9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FPGA Advantage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29530" y="3278758"/>
            <a:ext cx="1552575" cy="5286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37"/>
              </a:lnSpc>
              <a:buNone/>
            </a:pPr>
            <a:r>
              <a:rPr lang="en-US" sz="600" dirty="0">
                <a:solidFill>
                  <a:srgbClr val="B0BEC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Each round stage maps to a pipelined hardware module — parallel execution, minimal latency per block.</a:t>
            </a:r>
            <a:endParaRPr lang="en-US" sz="600" dirty="0"/>
          </a:p>
        </p:txBody>
      </p:sp>
      <p:sp>
        <p:nvSpPr>
          <p:cNvPr id="11" name="Shape 8"/>
          <p:cNvSpPr/>
          <p:nvPr/>
        </p:nvSpPr>
        <p:spPr>
          <a:xfrm>
            <a:off x="2376934" y="256170"/>
            <a:ext cx="6310312" cy="495300"/>
          </a:xfrm>
          <a:prstGeom prst="rect">
            <a:avLst/>
          </a:prstGeom>
          <a:ln/>
        </p:spPr>
      </p:sp>
      <p:sp>
        <p:nvSpPr>
          <p:cNvPr id="12" name="Text 9"/>
          <p:cNvSpPr/>
          <p:nvPr/>
        </p:nvSpPr>
        <p:spPr>
          <a:xfrm>
            <a:off x="2376971" y="258105"/>
            <a:ext cx="3087440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40"/>
              </a:lnSpc>
              <a:buNone/>
            </a:pPr>
            <a:r>
              <a:rPr lang="en-US" sz="2100" b="1" dirty="0">
                <a:solidFill>
                  <a:srgbClr val="1E1E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AES-128 ENGINE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2378311" y="904242"/>
            <a:ext cx="1357313" cy="461962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5" name="Text 12"/>
          <p:cNvSpPr/>
          <p:nvPr/>
        </p:nvSpPr>
        <p:spPr>
          <a:xfrm>
            <a:off x="2487848" y="982935"/>
            <a:ext cx="1138237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18"/>
              </a:lnSpc>
              <a:spcAft>
                <a:spcPts val="203"/>
              </a:spcAft>
              <a:buNone/>
            </a:pPr>
            <a:r>
              <a:rPr lang="en-US" sz="600" dirty="0">
                <a:solidFill>
                  <a:srgbClr val="E2007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ROUND 0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2487848" y="1122983"/>
            <a:ext cx="1138237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F8F9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AddRoundKey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781388" y="904242"/>
            <a:ext cx="171450" cy="46196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E2007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997003" y="904242"/>
            <a:ext cx="2500313" cy="461962"/>
          </a:xfrm>
          <a:prstGeom prst="rect">
            <a:avLst/>
          </a:prstGeom>
          <a:solidFill>
            <a:srgbClr val="E20074"/>
          </a:solidFill>
          <a:ln/>
        </p:spPr>
      </p:sp>
      <p:sp>
        <p:nvSpPr>
          <p:cNvPr id="19" name="Text 16"/>
          <p:cNvSpPr/>
          <p:nvPr/>
        </p:nvSpPr>
        <p:spPr>
          <a:xfrm>
            <a:off x="4106540" y="982935"/>
            <a:ext cx="2281238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18"/>
              </a:lnSpc>
              <a:spcAft>
                <a:spcPts val="203"/>
              </a:spcAft>
              <a:buNone/>
            </a:pPr>
            <a:r>
              <a:rPr lang="en-US" sz="600" dirty="0">
                <a:solidFill>
                  <a:srgbClr val="F8F9F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ROUNDS 1–9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4106540" y="1122983"/>
            <a:ext cx="2281238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F8F9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Sub + Shift + Mix + AddKey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541480" y="904242"/>
            <a:ext cx="171450" cy="46196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E2007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757876" y="904242"/>
            <a:ext cx="1928813" cy="461962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3" name="Text 20"/>
          <p:cNvSpPr/>
          <p:nvPr/>
        </p:nvSpPr>
        <p:spPr>
          <a:xfrm>
            <a:off x="6867413" y="982935"/>
            <a:ext cx="1709737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18"/>
              </a:lnSpc>
              <a:spcAft>
                <a:spcPts val="203"/>
              </a:spcAft>
              <a:buNone/>
            </a:pPr>
            <a:r>
              <a:rPr lang="en-US" sz="600" dirty="0">
                <a:solidFill>
                  <a:srgbClr val="00E67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ROUND 10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6867413" y="1122983"/>
            <a:ext cx="1709737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F8F9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Sub + Shift + AddKey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2376413" y="1493788"/>
            <a:ext cx="1476375" cy="7429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3"/>
          <p:cNvSpPr/>
          <p:nvPr/>
        </p:nvSpPr>
        <p:spPr>
          <a:xfrm>
            <a:off x="2474044" y="1586805"/>
            <a:ext cx="1281112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spcAft>
                <a:spcPts val="203"/>
              </a:spcAft>
              <a:buNone/>
            </a:pPr>
            <a:r>
              <a:rPr lang="en-US" sz="600" dirty="0">
                <a:solidFill>
                  <a:srgbClr val="E2007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STEP 01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2474044" y="1728899"/>
            <a:ext cx="1281112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spcAft>
                <a:spcPts val="243"/>
              </a:spcAft>
              <a:buNone/>
            </a:pPr>
            <a:r>
              <a:rPr lang="en-US" sz="900" b="1" dirty="0">
                <a:solidFill>
                  <a:srgbClr val="1E1E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SubBytes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2474044" y="1936105"/>
            <a:ext cx="1281112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7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Non-linear S-box substitution — confusion</a:t>
            </a:r>
            <a:endParaRPr lang="en-US" sz="600" dirty="0"/>
          </a:p>
        </p:txBody>
      </p:sp>
      <p:sp>
        <p:nvSpPr>
          <p:cNvPr id="29" name="Shape 26"/>
          <p:cNvSpPr/>
          <p:nvPr/>
        </p:nvSpPr>
        <p:spPr>
          <a:xfrm>
            <a:off x="3988036" y="1493788"/>
            <a:ext cx="1476375" cy="7429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7"/>
          <p:cNvSpPr/>
          <p:nvPr/>
        </p:nvSpPr>
        <p:spPr>
          <a:xfrm>
            <a:off x="4085667" y="1586805"/>
            <a:ext cx="1281112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spcAft>
                <a:spcPts val="203"/>
              </a:spcAft>
              <a:buNone/>
            </a:pPr>
            <a:r>
              <a:rPr lang="en-US" sz="600" dirty="0">
                <a:solidFill>
                  <a:srgbClr val="E2007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STEP 02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4085667" y="1728899"/>
            <a:ext cx="1281112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spcAft>
                <a:spcPts val="243"/>
              </a:spcAft>
              <a:buNone/>
            </a:pPr>
            <a:r>
              <a:rPr lang="en-US" sz="900" b="1" dirty="0">
                <a:solidFill>
                  <a:srgbClr val="1E1E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ShiftRows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4085667" y="1936105"/>
            <a:ext cx="1281112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7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Cyclic row shifting — inter-byte diffusion</a:t>
            </a:r>
            <a:endParaRPr lang="en-US" sz="600" dirty="0"/>
          </a:p>
        </p:txBody>
      </p:sp>
      <p:sp>
        <p:nvSpPr>
          <p:cNvPr id="33" name="Shape 30"/>
          <p:cNvSpPr/>
          <p:nvPr/>
        </p:nvSpPr>
        <p:spPr>
          <a:xfrm>
            <a:off x="5599695" y="1493788"/>
            <a:ext cx="1476375" cy="7429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1"/>
          <p:cNvSpPr/>
          <p:nvPr/>
        </p:nvSpPr>
        <p:spPr>
          <a:xfrm>
            <a:off x="5697327" y="1586805"/>
            <a:ext cx="1281112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spcAft>
                <a:spcPts val="203"/>
              </a:spcAft>
              <a:buNone/>
            </a:pPr>
            <a:r>
              <a:rPr lang="en-US" sz="600" dirty="0">
                <a:solidFill>
                  <a:srgbClr val="E2007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STEP 03</a:t>
            </a:r>
            <a:endParaRPr lang="en-US" sz="600" dirty="0"/>
          </a:p>
        </p:txBody>
      </p:sp>
      <p:sp>
        <p:nvSpPr>
          <p:cNvPr id="35" name="Text 32"/>
          <p:cNvSpPr/>
          <p:nvPr/>
        </p:nvSpPr>
        <p:spPr>
          <a:xfrm>
            <a:off x="5697327" y="1728899"/>
            <a:ext cx="1281112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spcAft>
                <a:spcPts val="243"/>
              </a:spcAft>
              <a:buNone/>
            </a:pPr>
            <a:r>
              <a:rPr lang="en-US" sz="900" b="1" dirty="0">
                <a:solidFill>
                  <a:srgbClr val="1E1E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MixColumns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5697327" y="1936105"/>
            <a:ext cx="1281112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7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Galois Field GF(2^8) matrix multiply</a:t>
            </a:r>
            <a:endParaRPr lang="en-US" sz="600" dirty="0"/>
          </a:p>
        </p:txBody>
      </p:sp>
      <p:sp>
        <p:nvSpPr>
          <p:cNvPr id="37" name="Shape 34"/>
          <p:cNvSpPr/>
          <p:nvPr/>
        </p:nvSpPr>
        <p:spPr>
          <a:xfrm>
            <a:off x="7211355" y="1493788"/>
            <a:ext cx="1476375" cy="7429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5"/>
          <p:cNvSpPr/>
          <p:nvPr/>
        </p:nvSpPr>
        <p:spPr>
          <a:xfrm>
            <a:off x="7308986" y="1586805"/>
            <a:ext cx="1281112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spcAft>
                <a:spcPts val="203"/>
              </a:spcAft>
              <a:buNone/>
            </a:pPr>
            <a:r>
              <a:rPr lang="en-US" sz="600" dirty="0">
                <a:solidFill>
                  <a:srgbClr val="E2007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STEP 04</a:t>
            </a:r>
            <a:endParaRPr lang="en-US" sz="600" dirty="0"/>
          </a:p>
        </p:txBody>
      </p:sp>
      <p:sp>
        <p:nvSpPr>
          <p:cNvPr id="39" name="Text 36"/>
          <p:cNvSpPr/>
          <p:nvPr/>
        </p:nvSpPr>
        <p:spPr>
          <a:xfrm>
            <a:off x="7308986" y="1728899"/>
            <a:ext cx="1281112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spcAft>
                <a:spcPts val="243"/>
              </a:spcAft>
              <a:buNone/>
            </a:pPr>
            <a:r>
              <a:rPr lang="en-US" sz="900" b="1" dirty="0">
                <a:solidFill>
                  <a:srgbClr val="1E1E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AddRoundKey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7308986" y="1936105"/>
            <a:ext cx="1281112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7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XOR with round-derived key — key mixing</a:t>
            </a:r>
            <a:endParaRPr lang="en-US" sz="600" dirty="0"/>
          </a:p>
        </p:txBody>
      </p:sp>
      <p:sp>
        <p:nvSpPr>
          <p:cNvPr id="41" name="Shape 38"/>
          <p:cNvSpPr/>
          <p:nvPr/>
        </p:nvSpPr>
        <p:spPr>
          <a:xfrm>
            <a:off x="2376934" y="2365251"/>
            <a:ext cx="6310312" cy="59055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2" name="Text 39"/>
          <p:cNvSpPr/>
          <p:nvPr/>
        </p:nvSpPr>
        <p:spPr>
          <a:xfrm>
            <a:off x="2560216" y="2458492"/>
            <a:ext cx="628650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spcAft>
                <a:spcPts val="122"/>
              </a:spcAft>
              <a:buNone/>
            </a:pPr>
            <a:r>
              <a:rPr lang="en-US" sz="600" dirty="0">
                <a:solidFill>
                  <a:srgbClr val="B0BEC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BLOCK SIZE</a:t>
            </a:r>
            <a:endParaRPr lang="en-US" sz="600" dirty="0"/>
          </a:p>
        </p:txBody>
      </p:sp>
      <p:sp>
        <p:nvSpPr>
          <p:cNvPr id="43" name="Text 40"/>
          <p:cNvSpPr/>
          <p:nvPr/>
        </p:nvSpPr>
        <p:spPr>
          <a:xfrm>
            <a:off x="2560216" y="2588382"/>
            <a:ext cx="628650" cy="2762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400" b="1" dirty="0">
                <a:solidFill>
                  <a:srgbClr val="E2007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128-bit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3554611" y="2458120"/>
            <a:ext cx="4763" cy="404813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5" name="Text 42"/>
          <p:cNvSpPr/>
          <p:nvPr/>
        </p:nvSpPr>
        <p:spPr>
          <a:xfrm>
            <a:off x="3925119" y="2458492"/>
            <a:ext cx="628650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spcAft>
                <a:spcPts val="122"/>
              </a:spcAft>
              <a:buNone/>
            </a:pPr>
            <a:r>
              <a:rPr lang="en-US" sz="600" dirty="0">
                <a:solidFill>
                  <a:srgbClr val="B0BEC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KEY LENGTH</a:t>
            </a:r>
            <a:endParaRPr lang="en-US" sz="600" dirty="0"/>
          </a:p>
        </p:txBody>
      </p:sp>
      <p:sp>
        <p:nvSpPr>
          <p:cNvPr id="46" name="Text 43"/>
          <p:cNvSpPr/>
          <p:nvPr/>
        </p:nvSpPr>
        <p:spPr>
          <a:xfrm>
            <a:off x="3925119" y="2588382"/>
            <a:ext cx="628650" cy="2762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400" b="1" dirty="0">
                <a:solidFill>
                  <a:srgbClr val="E2007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128-bit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4919514" y="2458120"/>
            <a:ext cx="4763" cy="404813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8" name="Text 45"/>
          <p:cNvSpPr/>
          <p:nvPr/>
        </p:nvSpPr>
        <p:spPr>
          <a:xfrm>
            <a:off x="5289575" y="2458492"/>
            <a:ext cx="571500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spcAft>
                <a:spcPts val="122"/>
              </a:spcAft>
              <a:buNone/>
            </a:pPr>
            <a:r>
              <a:rPr lang="en-US" sz="600" dirty="0">
                <a:solidFill>
                  <a:srgbClr val="B0BEC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TOTAL ROUNDS</a:t>
            </a:r>
            <a:endParaRPr lang="en-US" sz="600" dirty="0"/>
          </a:p>
        </p:txBody>
      </p:sp>
      <p:sp>
        <p:nvSpPr>
          <p:cNvPr id="49" name="Text 46"/>
          <p:cNvSpPr/>
          <p:nvPr/>
        </p:nvSpPr>
        <p:spPr>
          <a:xfrm>
            <a:off x="5289575" y="2588382"/>
            <a:ext cx="571500" cy="2762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400" b="1" dirty="0">
                <a:solidFill>
                  <a:srgbClr val="E2007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</a:t>
            </a:r>
            <a:endParaRPr lang="en-US" sz="1400" dirty="0"/>
          </a:p>
        </p:txBody>
      </p:sp>
      <p:sp>
        <p:nvSpPr>
          <p:cNvPr id="50" name="Shape 47"/>
          <p:cNvSpPr/>
          <p:nvPr/>
        </p:nvSpPr>
        <p:spPr>
          <a:xfrm>
            <a:off x="6226373" y="2458120"/>
            <a:ext cx="4763" cy="404813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1" name="Text 48"/>
          <p:cNvSpPr/>
          <p:nvPr/>
        </p:nvSpPr>
        <p:spPr>
          <a:xfrm>
            <a:off x="6597960" y="2458492"/>
            <a:ext cx="947737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spcAft>
                <a:spcPts val="122"/>
              </a:spcAft>
              <a:buNone/>
            </a:pPr>
            <a:r>
              <a:rPr lang="en-US" sz="600" dirty="0">
                <a:solidFill>
                  <a:srgbClr val="B0BEC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CIPHER TYPE</a:t>
            </a:r>
            <a:endParaRPr lang="en-US" sz="600" dirty="0"/>
          </a:p>
        </p:txBody>
      </p:sp>
      <p:sp>
        <p:nvSpPr>
          <p:cNvPr id="52" name="Text 49"/>
          <p:cNvSpPr/>
          <p:nvPr/>
        </p:nvSpPr>
        <p:spPr>
          <a:xfrm>
            <a:off x="6597960" y="2588382"/>
            <a:ext cx="947737" cy="2762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400" b="1" dirty="0">
                <a:solidFill>
                  <a:srgbClr val="F8F9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Symmetric</a:t>
            </a:r>
            <a:endParaRPr lang="en-US" sz="1400" dirty="0"/>
          </a:p>
        </p:txBody>
      </p:sp>
      <p:sp>
        <p:nvSpPr>
          <p:cNvPr id="53" name="Shape 50"/>
          <p:cNvSpPr/>
          <p:nvPr/>
        </p:nvSpPr>
        <p:spPr>
          <a:xfrm>
            <a:off x="0" y="4882269"/>
            <a:ext cx="9144000" cy="261937"/>
          </a:xfrm>
          <a:prstGeom prst="rect">
            <a:avLst/>
          </a:prstGeom>
          <a:solidFill>
            <a:srgbClr val="1E1E1E"/>
          </a:solidFill>
          <a:ln/>
        </p:spPr>
      </p:sp>
      <p:pic>
        <p:nvPicPr>
          <p:cNvPr id="5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9530" y="2929347"/>
            <a:ext cx="1552575" cy="1009650"/>
          </a:xfrm>
          <a:prstGeom prst="rect">
            <a:avLst/>
          </a:prstGeom>
        </p:spPr>
      </p:pic>
      <p:pic>
        <p:nvPicPr>
          <p:cNvPr id="5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76934" y="256170"/>
            <a:ext cx="6310312" cy="495300"/>
          </a:xfrm>
          <a:prstGeom prst="rect">
            <a:avLst/>
          </a:prstGeom>
        </p:spPr>
      </p:pic>
      <p:pic>
        <p:nvPicPr>
          <p:cNvPr id="5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76413" y="1493788"/>
            <a:ext cx="1476375" cy="742950"/>
          </a:xfrm>
          <a:prstGeom prst="rect">
            <a:avLst/>
          </a:prstGeom>
        </p:spPr>
      </p:pic>
      <p:pic>
        <p:nvPicPr>
          <p:cNvPr id="5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88036" y="1493788"/>
            <a:ext cx="1476375" cy="742950"/>
          </a:xfrm>
          <a:prstGeom prst="rect">
            <a:avLst/>
          </a:prstGeom>
        </p:spPr>
      </p:pic>
      <p:pic>
        <p:nvPicPr>
          <p:cNvPr id="6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99695" y="1493788"/>
            <a:ext cx="1476375" cy="742950"/>
          </a:xfrm>
          <a:prstGeom prst="rect">
            <a:avLst/>
          </a:prstGeom>
        </p:spPr>
      </p:pic>
      <p:pic>
        <p:nvPicPr>
          <p:cNvPr id="61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11355" y="1493788"/>
            <a:ext cx="1476375" cy="7429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58DCCB75-E0FB-69A7-1693-CE684E177F7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7992" y="-101631"/>
            <a:ext cx="1005458" cy="1006263"/>
          </a:xfrm>
          <a:prstGeom prst="rect">
            <a:avLst/>
          </a:prstGeom>
        </p:spPr>
      </p:pic>
      <p:sp>
        <p:nvSpPr>
          <p:cNvPr id="63" name="Text 37">
            <a:extLst>
              <a:ext uri="{FF2B5EF4-FFF2-40B4-BE49-F238E27FC236}">
                <a16:creationId xmlns:a16="http://schemas.microsoft.com/office/drawing/2014/main" id="{F3EA38D0-A5F7-9CF9-B8B6-A7E79EC96CB1}"/>
              </a:ext>
            </a:extLst>
          </p:cNvPr>
          <p:cNvSpPr/>
          <p:nvPr/>
        </p:nvSpPr>
        <p:spPr>
          <a:xfrm>
            <a:off x="364591" y="4965650"/>
            <a:ext cx="3228157" cy="11664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>
              <a:lnSpc>
                <a:spcPts val="1080"/>
              </a:lnSpc>
            </a:pPr>
            <a:r>
              <a:rPr lang="en-US" sz="800" dirty="0">
                <a:solidFill>
                  <a:srgbClr val="B0BEC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Dept. of Electronics and Communication</a:t>
            </a:r>
            <a:r>
              <a:rPr lang="en-US" sz="700" dirty="0">
                <a:solidFill>
                  <a:srgbClr val="B0BEC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— K.R. PURAM, BENGALURU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63318-7EE1-7789-7E78-84D9D1A45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FE35568-39C6-9D90-F740-BD07ABDEA002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13B8243-A9CD-F22E-1DA2-C587B32375F0}"/>
              </a:ext>
            </a:extLst>
          </p:cNvPr>
          <p:cNvSpPr/>
          <p:nvPr/>
        </p:nvSpPr>
        <p:spPr>
          <a:xfrm>
            <a:off x="930" y="0"/>
            <a:ext cx="2009775" cy="51435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1F3D38D-4050-E8DE-0D06-35E8D7148681}"/>
              </a:ext>
            </a:extLst>
          </p:cNvPr>
          <p:cNvSpPr/>
          <p:nvPr/>
        </p:nvSpPr>
        <p:spPr>
          <a:xfrm>
            <a:off x="229530" y="204936"/>
            <a:ext cx="155257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dirty="0">
                <a:solidFill>
                  <a:srgbClr val="B0BEC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SECTION</a:t>
            </a:r>
            <a:endParaRPr lang="en-US" sz="7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BFA4490-2249-1F1E-29FD-EE4378E9F072}"/>
              </a:ext>
            </a:extLst>
          </p:cNvPr>
          <p:cNvSpPr/>
          <p:nvPr/>
        </p:nvSpPr>
        <p:spPr>
          <a:xfrm>
            <a:off x="229530" y="378135"/>
            <a:ext cx="155257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>
              <a:lnSpc>
                <a:spcPts val="1404"/>
              </a:lnSpc>
              <a:spcBef>
                <a:spcPts val="162"/>
              </a:spcBef>
            </a:pPr>
            <a:r>
              <a:rPr lang="en-US" sz="900" dirty="0">
                <a:solidFill>
                  <a:srgbClr val="E2007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 / 12</a:t>
            </a:r>
            <a:endParaRPr lang="en-US" sz="900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C0267E72-B6AA-D064-9E94-B72295C6E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" y="1280033"/>
            <a:ext cx="2009775" cy="923925"/>
          </a:xfrm>
          <a:prstGeom prst="rect">
            <a:avLst/>
          </a:prstGeom>
        </p:spPr>
      </p:pic>
      <p:sp>
        <p:nvSpPr>
          <p:cNvPr id="7" name="Shape 4">
            <a:extLst>
              <a:ext uri="{FF2B5EF4-FFF2-40B4-BE49-F238E27FC236}">
                <a16:creationId xmlns:a16="http://schemas.microsoft.com/office/drawing/2014/main" id="{B0B4E57E-E177-DF01-2BE6-8B0E6CCDA3C4}"/>
              </a:ext>
            </a:extLst>
          </p:cNvPr>
          <p:cNvSpPr/>
          <p:nvPr/>
        </p:nvSpPr>
        <p:spPr>
          <a:xfrm>
            <a:off x="229530" y="2929347"/>
            <a:ext cx="1552575" cy="1009650"/>
          </a:xfrm>
          <a:prstGeom prst="rect">
            <a:avLst/>
          </a:prstGeom>
          <a:ln/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442F8249-01EC-5F99-719F-5F8096949040}"/>
              </a:ext>
            </a:extLst>
          </p:cNvPr>
          <p:cNvSpPr/>
          <p:nvPr/>
        </p:nvSpPr>
        <p:spPr>
          <a:xfrm>
            <a:off x="2376934" y="256170"/>
            <a:ext cx="6310312" cy="495300"/>
          </a:xfrm>
          <a:prstGeom prst="rect">
            <a:avLst/>
          </a:prstGeom>
          <a:ln/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350048D5-2A27-5D61-F12E-578D4B186398}"/>
              </a:ext>
            </a:extLst>
          </p:cNvPr>
          <p:cNvSpPr/>
          <p:nvPr/>
        </p:nvSpPr>
        <p:spPr>
          <a:xfrm>
            <a:off x="2376971" y="258105"/>
            <a:ext cx="3981626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40"/>
              </a:lnSpc>
              <a:buNone/>
            </a:pPr>
            <a:r>
              <a:rPr lang="en-US" sz="2100" b="1" dirty="0">
                <a:solidFill>
                  <a:srgbClr val="1E1E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AES-128 ENCRYPTION PROCESS</a:t>
            </a:r>
            <a:endParaRPr lang="en-US" sz="2100" dirty="0"/>
          </a:p>
        </p:txBody>
      </p:sp>
      <p:sp>
        <p:nvSpPr>
          <p:cNvPr id="53" name="Shape 50">
            <a:extLst>
              <a:ext uri="{FF2B5EF4-FFF2-40B4-BE49-F238E27FC236}">
                <a16:creationId xmlns:a16="http://schemas.microsoft.com/office/drawing/2014/main" id="{51F9987E-224A-825C-36E3-FC61174E1D93}"/>
              </a:ext>
            </a:extLst>
          </p:cNvPr>
          <p:cNvSpPr/>
          <p:nvPr/>
        </p:nvSpPr>
        <p:spPr>
          <a:xfrm>
            <a:off x="0" y="4882269"/>
            <a:ext cx="9144000" cy="261937"/>
          </a:xfrm>
          <a:prstGeom prst="rect">
            <a:avLst/>
          </a:prstGeom>
          <a:solidFill>
            <a:srgbClr val="1E1E1E"/>
          </a:solidFill>
          <a:ln/>
        </p:spPr>
      </p:sp>
      <p:pic>
        <p:nvPicPr>
          <p:cNvPr id="57" name="Image 2" descr="preencoded.png">
            <a:extLst>
              <a:ext uri="{FF2B5EF4-FFF2-40B4-BE49-F238E27FC236}">
                <a16:creationId xmlns:a16="http://schemas.microsoft.com/office/drawing/2014/main" id="{40B651A3-D6D1-132A-8862-2F747DBE3C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76934" y="256170"/>
            <a:ext cx="6310312" cy="49530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228DE394-FAD9-5A77-420D-B34715D758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7992" y="-101631"/>
            <a:ext cx="1005458" cy="1006263"/>
          </a:xfrm>
          <a:prstGeom prst="rect">
            <a:avLst/>
          </a:prstGeom>
        </p:spPr>
      </p:pic>
      <p:sp>
        <p:nvSpPr>
          <p:cNvPr id="63" name="Text 37">
            <a:extLst>
              <a:ext uri="{FF2B5EF4-FFF2-40B4-BE49-F238E27FC236}">
                <a16:creationId xmlns:a16="http://schemas.microsoft.com/office/drawing/2014/main" id="{4112C552-21E9-C5A6-3F4B-9838F7EE130F}"/>
              </a:ext>
            </a:extLst>
          </p:cNvPr>
          <p:cNvSpPr/>
          <p:nvPr/>
        </p:nvSpPr>
        <p:spPr>
          <a:xfrm>
            <a:off x="364591" y="4965650"/>
            <a:ext cx="3228157" cy="11664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>
              <a:lnSpc>
                <a:spcPts val="1080"/>
              </a:lnSpc>
            </a:pPr>
            <a:r>
              <a:rPr lang="en-US" sz="800" dirty="0">
                <a:solidFill>
                  <a:srgbClr val="B0BEC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Dept. of Electronics and Communication</a:t>
            </a:r>
            <a:r>
              <a:rPr lang="en-US" sz="700" dirty="0">
                <a:solidFill>
                  <a:srgbClr val="B0BEC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— K.R. PURAM, BENGALURU</a:t>
            </a:r>
            <a:endParaRPr lang="en-US" sz="700" dirty="0"/>
          </a:p>
        </p:txBody>
      </p:sp>
      <p:pic>
        <p:nvPicPr>
          <p:cNvPr id="10" name="Google Shape;344;p40">
            <a:extLst>
              <a:ext uri="{FF2B5EF4-FFF2-40B4-BE49-F238E27FC236}">
                <a16:creationId xmlns:a16="http://schemas.microsoft.com/office/drawing/2014/main" id="{C0F1CA01-1261-515C-142F-957A8B21D24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12567" r="24089"/>
          <a:stretch/>
        </p:blipFill>
        <p:spPr>
          <a:xfrm>
            <a:off x="4079623" y="1019633"/>
            <a:ext cx="2769575" cy="3391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69718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D3780-6D2A-235E-369E-386D56E33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323C1A5-1A37-CE17-AD53-A22E910D435E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FB6D049-B495-A721-4B02-98367DF327C7}"/>
              </a:ext>
            </a:extLst>
          </p:cNvPr>
          <p:cNvSpPr/>
          <p:nvPr/>
        </p:nvSpPr>
        <p:spPr>
          <a:xfrm>
            <a:off x="930" y="0"/>
            <a:ext cx="2009775" cy="51435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DFC378-AE6A-DBEC-75C3-12627D1CF6E5}"/>
              </a:ext>
            </a:extLst>
          </p:cNvPr>
          <p:cNvSpPr/>
          <p:nvPr/>
        </p:nvSpPr>
        <p:spPr>
          <a:xfrm>
            <a:off x="229530" y="204936"/>
            <a:ext cx="155257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dirty="0">
                <a:solidFill>
                  <a:srgbClr val="B0BEC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SECTION</a:t>
            </a:r>
            <a:endParaRPr lang="en-US" sz="7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362541F-78F2-C914-A493-E1FB5C4AF837}"/>
              </a:ext>
            </a:extLst>
          </p:cNvPr>
          <p:cNvSpPr/>
          <p:nvPr/>
        </p:nvSpPr>
        <p:spPr>
          <a:xfrm>
            <a:off x="229530" y="378135"/>
            <a:ext cx="155257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>
              <a:lnSpc>
                <a:spcPts val="1404"/>
              </a:lnSpc>
              <a:spcBef>
                <a:spcPts val="162"/>
              </a:spcBef>
            </a:pPr>
            <a:r>
              <a:rPr lang="en-US" sz="900" dirty="0">
                <a:solidFill>
                  <a:srgbClr val="E2007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05 / 12</a:t>
            </a:r>
            <a:endParaRPr lang="en-US" sz="900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0F32FA31-A07F-CB08-91F3-6964AA2F8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" y="1280033"/>
            <a:ext cx="2009775" cy="923925"/>
          </a:xfrm>
          <a:prstGeom prst="rect">
            <a:avLst/>
          </a:prstGeom>
        </p:spPr>
      </p:pic>
      <p:sp>
        <p:nvSpPr>
          <p:cNvPr id="7" name="Shape 4">
            <a:extLst>
              <a:ext uri="{FF2B5EF4-FFF2-40B4-BE49-F238E27FC236}">
                <a16:creationId xmlns:a16="http://schemas.microsoft.com/office/drawing/2014/main" id="{B82C6076-947A-19F2-3BBC-38B42B4D8A43}"/>
              </a:ext>
            </a:extLst>
          </p:cNvPr>
          <p:cNvSpPr/>
          <p:nvPr/>
        </p:nvSpPr>
        <p:spPr>
          <a:xfrm>
            <a:off x="229530" y="2929347"/>
            <a:ext cx="1552575" cy="1009650"/>
          </a:xfrm>
          <a:prstGeom prst="rect">
            <a:avLst/>
          </a:prstGeom>
          <a:ln/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EC6F5D6D-2487-AB4B-4A7B-D2FBDA274736}"/>
              </a:ext>
            </a:extLst>
          </p:cNvPr>
          <p:cNvSpPr/>
          <p:nvPr/>
        </p:nvSpPr>
        <p:spPr>
          <a:xfrm>
            <a:off x="2376934" y="256170"/>
            <a:ext cx="6310312" cy="495300"/>
          </a:xfrm>
          <a:prstGeom prst="rect">
            <a:avLst/>
          </a:prstGeom>
          <a:ln/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70E0A3F5-FAE5-FA7D-478F-ADB97284721E}"/>
              </a:ext>
            </a:extLst>
          </p:cNvPr>
          <p:cNvSpPr/>
          <p:nvPr/>
        </p:nvSpPr>
        <p:spPr>
          <a:xfrm>
            <a:off x="2376971" y="258105"/>
            <a:ext cx="3981626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40"/>
              </a:lnSpc>
              <a:buNone/>
            </a:pPr>
            <a:r>
              <a:rPr lang="en-US" sz="2100" b="1" dirty="0">
                <a:solidFill>
                  <a:srgbClr val="1E1E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AES-128 ENCRYPTION</a:t>
            </a:r>
            <a:endParaRPr lang="en-US" sz="2100" dirty="0"/>
          </a:p>
        </p:txBody>
      </p:sp>
      <p:sp>
        <p:nvSpPr>
          <p:cNvPr id="53" name="Shape 50">
            <a:extLst>
              <a:ext uri="{FF2B5EF4-FFF2-40B4-BE49-F238E27FC236}">
                <a16:creationId xmlns:a16="http://schemas.microsoft.com/office/drawing/2014/main" id="{C4E727CD-4F9B-8BF7-C2D3-6C4280DD82DD}"/>
              </a:ext>
            </a:extLst>
          </p:cNvPr>
          <p:cNvSpPr/>
          <p:nvPr/>
        </p:nvSpPr>
        <p:spPr>
          <a:xfrm>
            <a:off x="0" y="4882269"/>
            <a:ext cx="9144000" cy="261937"/>
          </a:xfrm>
          <a:prstGeom prst="rect">
            <a:avLst/>
          </a:prstGeom>
          <a:solidFill>
            <a:srgbClr val="1E1E1E"/>
          </a:solidFill>
          <a:ln/>
        </p:spPr>
      </p:sp>
      <p:pic>
        <p:nvPicPr>
          <p:cNvPr id="57" name="Image 2" descr="preencoded.png">
            <a:extLst>
              <a:ext uri="{FF2B5EF4-FFF2-40B4-BE49-F238E27FC236}">
                <a16:creationId xmlns:a16="http://schemas.microsoft.com/office/drawing/2014/main" id="{C1A55AD0-7133-3DA5-E766-D2A61A7760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76934" y="256170"/>
            <a:ext cx="6310312" cy="49530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CB9F5AB1-EA65-4BFA-C503-7E9155BF31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7992" y="-101631"/>
            <a:ext cx="1005458" cy="1006263"/>
          </a:xfrm>
          <a:prstGeom prst="rect">
            <a:avLst/>
          </a:prstGeom>
        </p:spPr>
      </p:pic>
      <p:sp>
        <p:nvSpPr>
          <p:cNvPr id="63" name="Text 37">
            <a:extLst>
              <a:ext uri="{FF2B5EF4-FFF2-40B4-BE49-F238E27FC236}">
                <a16:creationId xmlns:a16="http://schemas.microsoft.com/office/drawing/2014/main" id="{708F4C14-183E-68F2-4CA8-40215198B3CC}"/>
              </a:ext>
            </a:extLst>
          </p:cNvPr>
          <p:cNvSpPr/>
          <p:nvPr/>
        </p:nvSpPr>
        <p:spPr>
          <a:xfrm>
            <a:off x="364591" y="4965650"/>
            <a:ext cx="3228157" cy="11664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>
              <a:lnSpc>
                <a:spcPts val="1080"/>
              </a:lnSpc>
            </a:pPr>
            <a:r>
              <a:rPr lang="en-US" sz="800" dirty="0">
                <a:solidFill>
                  <a:srgbClr val="B0BEC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Dept. of Electronics and Communication</a:t>
            </a:r>
            <a:r>
              <a:rPr lang="en-US" sz="700" dirty="0">
                <a:solidFill>
                  <a:srgbClr val="B0BEC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— K.R. PURAM, BENGALURU</a:t>
            </a:r>
            <a:endParaRPr lang="en-US" sz="700" dirty="0"/>
          </a:p>
        </p:txBody>
      </p:sp>
      <p:sp>
        <p:nvSpPr>
          <p:cNvPr id="8" name="Google Shape;357;p41">
            <a:extLst>
              <a:ext uri="{FF2B5EF4-FFF2-40B4-BE49-F238E27FC236}">
                <a16:creationId xmlns:a16="http://schemas.microsoft.com/office/drawing/2014/main" id="{5EBAA412-3245-69E5-118B-4B2DC36BA269}"/>
              </a:ext>
            </a:extLst>
          </p:cNvPr>
          <p:cNvSpPr txBox="1">
            <a:spLocks/>
          </p:cNvSpPr>
          <p:nvPr/>
        </p:nvSpPr>
        <p:spPr>
          <a:xfrm>
            <a:off x="2376934" y="1158938"/>
            <a:ext cx="5830800" cy="5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90000"/>
              </a:lnSpc>
              <a:spcBef>
                <a:spcPts val="0"/>
              </a:spcBef>
              <a:buClr>
                <a:srgbClr val="000A30"/>
              </a:buClr>
              <a:buSzPts val="3000"/>
              <a:buFont typeface="Calibri"/>
              <a:buNone/>
            </a:pPr>
            <a:r>
              <a:rPr lang="en-GB" sz="2700" b="1" dirty="0">
                <a:solidFill>
                  <a:srgbClr val="000A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  BYTES</a:t>
            </a:r>
          </a:p>
        </p:txBody>
      </p:sp>
      <p:sp>
        <p:nvSpPr>
          <p:cNvPr id="9" name="Google Shape;358;p41">
            <a:extLst>
              <a:ext uri="{FF2B5EF4-FFF2-40B4-BE49-F238E27FC236}">
                <a16:creationId xmlns:a16="http://schemas.microsoft.com/office/drawing/2014/main" id="{3EE1BEAA-168B-1F16-87F9-30649A105282}"/>
              </a:ext>
            </a:extLst>
          </p:cNvPr>
          <p:cNvSpPr txBox="1"/>
          <p:nvPr/>
        </p:nvSpPr>
        <p:spPr>
          <a:xfrm>
            <a:off x="2239305" y="1762804"/>
            <a:ext cx="3452753" cy="2634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0480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SubBytes</a:t>
            </a:r>
            <a:r>
              <a:rPr lang="en-GB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</a:t>
            </a:r>
            <a:r>
              <a:rPr lang="en-GB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non-linear byte substitution step</a:t>
            </a:r>
            <a:r>
              <a:rPr lang="en-GB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where each byte of the 4×4 state matrix is replaced using a fixed </a:t>
            </a:r>
            <a:r>
              <a:rPr lang="en-GB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AES S-Box</a:t>
            </a:r>
            <a:r>
              <a:rPr lang="en-GB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introducing cryptographic confusion.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operation is designed to </a:t>
            </a:r>
            <a:r>
              <a:rPr lang="en-GB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resist linear and differential cryptanalysis</a:t>
            </a:r>
            <a:r>
              <a:rPr lang="en-GB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by breaking simple mathematical relationships between plaintext and ciphertext.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" name="Google Shape;359;p41" title="SubBytes.png">
            <a:extLst>
              <a:ext uri="{FF2B5EF4-FFF2-40B4-BE49-F238E27FC236}">
                <a16:creationId xmlns:a16="http://schemas.microsoft.com/office/drawing/2014/main" id="{2BCDE490-7593-B8C7-179C-5A76E03A00F7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00509" y="1482193"/>
            <a:ext cx="2914700" cy="2914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62666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55F4F-DBBD-A9F7-F3E4-5E9D5CC3A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AD3952D-34DB-0A1C-8A91-E4CFB9B117EB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2D45108-017F-CDE6-A539-2CB2D2DCCF2B}"/>
              </a:ext>
            </a:extLst>
          </p:cNvPr>
          <p:cNvSpPr/>
          <p:nvPr/>
        </p:nvSpPr>
        <p:spPr>
          <a:xfrm>
            <a:off x="930" y="0"/>
            <a:ext cx="2009775" cy="51435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6432BF4-8130-F31B-75D1-D60A764E586B}"/>
              </a:ext>
            </a:extLst>
          </p:cNvPr>
          <p:cNvSpPr/>
          <p:nvPr/>
        </p:nvSpPr>
        <p:spPr>
          <a:xfrm>
            <a:off x="229530" y="204936"/>
            <a:ext cx="155257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dirty="0">
                <a:solidFill>
                  <a:srgbClr val="B0BEC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SECTION</a:t>
            </a:r>
            <a:endParaRPr lang="en-US" sz="7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2B080C6-8030-350F-2FD4-DB06870257B5}"/>
              </a:ext>
            </a:extLst>
          </p:cNvPr>
          <p:cNvSpPr/>
          <p:nvPr/>
        </p:nvSpPr>
        <p:spPr>
          <a:xfrm>
            <a:off x="229530" y="378135"/>
            <a:ext cx="155257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>
              <a:lnSpc>
                <a:spcPts val="1404"/>
              </a:lnSpc>
              <a:spcBef>
                <a:spcPts val="162"/>
              </a:spcBef>
            </a:pPr>
            <a:r>
              <a:rPr lang="en-US" sz="900" dirty="0">
                <a:solidFill>
                  <a:srgbClr val="E2007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06 / 12</a:t>
            </a:r>
            <a:endParaRPr lang="en-US" sz="900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D749E8DF-1033-D2F5-1DEC-991B5018B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" y="1280033"/>
            <a:ext cx="2009775" cy="923925"/>
          </a:xfrm>
          <a:prstGeom prst="rect">
            <a:avLst/>
          </a:prstGeom>
        </p:spPr>
      </p:pic>
      <p:sp>
        <p:nvSpPr>
          <p:cNvPr id="7" name="Shape 4">
            <a:extLst>
              <a:ext uri="{FF2B5EF4-FFF2-40B4-BE49-F238E27FC236}">
                <a16:creationId xmlns:a16="http://schemas.microsoft.com/office/drawing/2014/main" id="{E60F895E-6899-9A6E-56B0-2F4AEB3A4B57}"/>
              </a:ext>
            </a:extLst>
          </p:cNvPr>
          <p:cNvSpPr/>
          <p:nvPr/>
        </p:nvSpPr>
        <p:spPr>
          <a:xfrm>
            <a:off x="229530" y="2929347"/>
            <a:ext cx="1552575" cy="1009650"/>
          </a:xfrm>
          <a:prstGeom prst="rect">
            <a:avLst/>
          </a:prstGeom>
          <a:ln/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7A7C9ECC-BEED-82F4-7384-E074AE8BE27C}"/>
              </a:ext>
            </a:extLst>
          </p:cNvPr>
          <p:cNvSpPr/>
          <p:nvPr/>
        </p:nvSpPr>
        <p:spPr>
          <a:xfrm>
            <a:off x="2376934" y="256170"/>
            <a:ext cx="6310312" cy="495300"/>
          </a:xfrm>
          <a:prstGeom prst="rect">
            <a:avLst/>
          </a:prstGeom>
          <a:ln/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CC9E5E9B-E664-4170-8640-1AEB5C21D7DF}"/>
              </a:ext>
            </a:extLst>
          </p:cNvPr>
          <p:cNvSpPr/>
          <p:nvPr/>
        </p:nvSpPr>
        <p:spPr>
          <a:xfrm>
            <a:off x="2376971" y="258105"/>
            <a:ext cx="3981626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40"/>
              </a:lnSpc>
              <a:buNone/>
            </a:pPr>
            <a:r>
              <a:rPr lang="en-US" sz="2100" b="1" dirty="0">
                <a:solidFill>
                  <a:srgbClr val="1E1E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AES-128 ENCRYPTION </a:t>
            </a:r>
            <a:endParaRPr lang="en-US" sz="2100" dirty="0"/>
          </a:p>
        </p:txBody>
      </p:sp>
      <p:sp>
        <p:nvSpPr>
          <p:cNvPr id="53" name="Shape 50">
            <a:extLst>
              <a:ext uri="{FF2B5EF4-FFF2-40B4-BE49-F238E27FC236}">
                <a16:creationId xmlns:a16="http://schemas.microsoft.com/office/drawing/2014/main" id="{F77D8134-E71D-6722-F0EA-FFAC858C8372}"/>
              </a:ext>
            </a:extLst>
          </p:cNvPr>
          <p:cNvSpPr/>
          <p:nvPr/>
        </p:nvSpPr>
        <p:spPr>
          <a:xfrm>
            <a:off x="0" y="4882269"/>
            <a:ext cx="9144000" cy="261937"/>
          </a:xfrm>
          <a:prstGeom prst="rect">
            <a:avLst/>
          </a:prstGeom>
          <a:solidFill>
            <a:srgbClr val="1E1E1E"/>
          </a:solidFill>
          <a:ln/>
        </p:spPr>
      </p:sp>
      <p:pic>
        <p:nvPicPr>
          <p:cNvPr id="57" name="Image 2" descr="preencoded.png">
            <a:extLst>
              <a:ext uri="{FF2B5EF4-FFF2-40B4-BE49-F238E27FC236}">
                <a16:creationId xmlns:a16="http://schemas.microsoft.com/office/drawing/2014/main" id="{49418FEE-B1DE-E260-A6A0-CB908A4C6D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76934" y="256170"/>
            <a:ext cx="6310312" cy="49530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D555BE8C-B1EB-3A98-C72A-AEB46B321B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7992" y="-101631"/>
            <a:ext cx="1005458" cy="1006263"/>
          </a:xfrm>
          <a:prstGeom prst="rect">
            <a:avLst/>
          </a:prstGeom>
        </p:spPr>
      </p:pic>
      <p:sp>
        <p:nvSpPr>
          <p:cNvPr id="63" name="Text 37">
            <a:extLst>
              <a:ext uri="{FF2B5EF4-FFF2-40B4-BE49-F238E27FC236}">
                <a16:creationId xmlns:a16="http://schemas.microsoft.com/office/drawing/2014/main" id="{851F1C74-90E4-FA66-B581-75BA6EB30C9D}"/>
              </a:ext>
            </a:extLst>
          </p:cNvPr>
          <p:cNvSpPr/>
          <p:nvPr/>
        </p:nvSpPr>
        <p:spPr>
          <a:xfrm>
            <a:off x="364591" y="4965650"/>
            <a:ext cx="3228157" cy="11664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>
              <a:lnSpc>
                <a:spcPts val="1080"/>
              </a:lnSpc>
            </a:pPr>
            <a:r>
              <a:rPr lang="en-US" sz="800" dirty="0">
                <a:solidFill>
                  <a:srgbClr val="B0BEC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Dept. of Electronics and Communication</a:t>
            </a:r>
            <a:r>
              <a:rPr lang="en-US" sz="700" dirty="0">
                <a:solidFill>
                  <a:srgbClr val="B0BEC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— K.R. PURAM, BENGALURU</a:t>
            </a:r>
            <a:endParaRPr lang="en-US" sz="700" dirty="0"/>
          </a:p>
        </p:txBody>
      </p:sp>
      <p:pic>
        <p:nvPicPr>
          <p:cNvPr id="10" name="Google Shape;371;p42" title="ShiftRows.png">
            <a:extLst>
              <a:ext uri="{FF2B5EF4-FFF2-40B4-BE49-F238E27FC236}">
                <a16:creationId xmlns:a16="http://schemas.microsoft.com/office/drawing/2014/main" id="{784C1556-A774-EABD-C6A7-9EB6FF66188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t="300" b="-300"/>
          <a:stretch/>
        </p:blipFill>
        <p:spPr>
          <a:xfrm>
            <a:off x="2605649" y="1349015"/>
            <a:ext cx="5338454" cy="2751938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72;p42">
            <a:extLst>
              <a:ext uri="{FF2B5EF4-FFF2-40B4-BE49-F238E27FC236}">
                <a16:creationId xmlns:a16="http://schemas.microsoft.com/office/drawing/2014/main" id="{513DE346-2B7E-BCA7-A38C-5E25FA7E768B}"/>
              </a:ext>
            </a:extLst>
          </p:cNvPr>
          <p:cNvSpPr txBox="1">
            <a:spLocks/>
          </p:cNvSpPr>
          <p:nvPr/>
        </p:nvSpPr>
        <p:spPr>
          <a:xfrm>
            <a:off x="2449921" y="763249"/>
            <a:ext cx="5830800" cy="5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90000"/>
              </a:lnSpc>
              <a:spcBef>
                <a:spcPts val="0"/>
              </a:spcBef>
              <a:buClr>
                <a:srgbClr val="000A30"/>
              </a:buClr>
              <a:buSzPts val="3000"/>
              <a:buFont typeface="Calibri"/>
              <a:buNone/>
            </a:pPr>
            <a:r>
              <a:rPr lang="en-GB" sz="2700" b="1" dirty="0">
                <a:solidFill>
                  <a:srgbClr val="000A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SHIFT ROWS</a:t>
            </a:r>
          </a:p>
        </p:txBody>
      </p:sp>
    </p:spTree>
    <p:extLst>
      <p:ext uri="{BB962C8B-B14F-4D97-AF65-F5344CB8AC3E}">
        <p14:creationId xmlns:p14="http://schemas.microsoft.com/office/powerpoint/2010/main" val="2878185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E298C-C73F-8E07-F2CE-CA595A875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E9B2835-08F2-FD8C-5DF2-D21EACD09A1E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0D6B607-11AD-4C36-2AEA-FA4D6C1FC80F}"/>
              </a:ext>
            </a:extLst>
          </p:cNvPr>
          <p:cNvSpPr/>
          <p:nvPr/>
        </p:nvSpPr>
        <p:spPr>
          <a:xfrm>
            <a:off x="930" y="0"/>
            <a:ext cx="2009775" cy="51435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12BA1BD-0B45-0D2C-B13C-87E1F0C0CFB0}"/>
              </a:ext>
            </a:extLst>
          </p:cNvPr>
          <p:cNvSpPr/>
          <p:nvPr/>
        </p:nvSpPr>
        <p:spPr>
          <a:xfrm>
            <a:off x="229530" y="204936"/>
            <a:ext cx="155257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dirty="0">
                <a:solidFill>
                  <a:srgbClr val="B0BEC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SECTION</a:t>
            </a:r>
            <a:endParaRPr lang="en-US" sz="7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D2D90EE-70C8-ECAA-AB3B-749A33B8A1A4}"/>
              </a:ext>
            </a:extLst>
          </p:cNvPr>
          <p:cNvSpPr/>
          <p:nvPr/>
        </p:nvSpPr>
        <p:spPr>
          <a:xfrm>
            <a:off x="229530" y="378135"/>
            <a:ext cx="155257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>
              <a:lnSpc>
                <a:spcPts val="1404"/>
              </a:lnSpc>
              <a:spcBef>
                <a:spcPts val="162"/>
              </a:spcBef>
            </a:pPr>
            <a:r>
              <a:rPr lang="en-US" sz="900" dirty="0">
                <a:solidFill>
                  <a:srgbClr val="E2007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08 / 12</a:t>
            </a:r>
            <a:endParaRPr lang="en-US" sz="900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FA59557C-AD67-93C1-FF7F-E23271297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" y="1280033"/>
            <a:ext cx="2009775" cy="923925"/>
          </a:xfrm>
          <a:prstGeom prst="rect">
            <a:avLst/>
          </a:prstGeom>
        </p:spPr>
      </p:pic>
      <p:sp>
        <p:nvSpPr>
          <p:cNvPr id="7" name="Shape 4">
            <a:extLst>
              <a:ext uri="{FF2B5EF4-FFF2-40B4-BE49-F238E27FC236}">
                <a16:creationId xmlns:a16="http://schemas.microsoft.com/office/drawing/2014/main" id="{231A74E2-1B79-A3DD-A4F9-EA0ACF338421}"/>
              </a:ext>
            </a:extLst>
          </p:cNvPr>
          <p:cNvSpPr/>
          <p:nvPr/>
        </p:nvSpPr>
        <p:spPr>
          <a:xfrm>
            <a:off x="229530" y="2929347"/>
            <a:ext cx="1552575" cy="1009650"/>
          </a:xfrm>
          <a:prstGeom prst="rect">
            <a:avLst/>
          </a:prstGeom>
          <a:ln/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92E5890D-4E84-C8F7-3E78-9D83FE77E3E3}"/>
              </a:ext>
            </a:extLst>
          </p:cNvPr>
          <p:cNvSpPr/>
          <p:nvPr/>
        </p:nvSpPr>
        <p:spPr>
          <a:xfrm>
            <a:off x="2376934" y="256170"/>
            <a:ext cx="6310312" cy="495300"/>
          </a:xfrm>
          <a:prstGeom prst="rect">
            <a:avLst/>
          </a:prstGeom>
          <a:ln/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41F594DE-CDF0-3865-9A58-2A7D91AD75B7}"/>
              </a:ext>
            </a:extLst>
          </p:cNvPr>
          <p:cNvSpPr/>
          <p:nvPr/>
        </p:nvSpPr>
        <p:spPr>
          <a:xfrm>
            <a:off x="2376971" y="258105"/>
            <a:ext cx="3981626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40"/>
              </a:lnSpc>
              <a:buNone/>
            </a:pPr>
            <a:r>
              <a:rPr lang="en-US" sz="2100" b="1" dirty="0">
                <a:solidFill>
                  <a:srgbClr val="1E1E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AES-128 ENCRYPTION</a:t>
            </a:r>
            <a:endParaRPr lang="en-US" sz="2100" dirty="0"/>
          </a:p>
        </p:txBody>
      </p:sp>
      <p:sp>
        <p:nvSpPr>
          <p:cNvPr id="53" name="Shape 50">
            <a:extLst>
              <a:ext uri="{FF2B5EF4-FFF2-40B4-BE49-F238E27FC236}">
                <a16:creationId xmlns:a16="http://schemas.microsoft.com/office/drawing/2014/main" id="{FD36F6E5-8B27-AD46-23D7-C9D44D75B78B}"/>
              </a:ext>
            </a:extLst>
          </p:cNvPr>
          <p:cNvSpPr/>
          <p:nvPr/>
        </p:nvSpPr>
        <p:spPr>
          <a:xfrm>
            <a:off x="0" y="4882269"/>
            <a:ext cx="9144000" cy="261937"/>
          </a:xfrm>
          <a:prstGeom prst="rect">
            <a:avLst/>
          </a:prstGeom>
          <a:solidFill>
            <a:srgbClr val="1E1E1E"/>
          </a:solidFill>
          <a:ln/>
        </p:spPr>
      </p:sp>
      <p:pic>
        <p:nvPicPr>
          <p:cNvPr id="57" name="Image 2" descr="preencoded.png">
            <a:extLst>
              <a:ext uri="{FF2B5EF4-FFF2-40B4-BE49-F238E27FC236}">
                <a16:creationId xmlns:a16="http://schemas.microsoft.com/office/drawing/2014/main" id="{2CD22C78-93E3-EB33-0D64-44CBE0623E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76934" y="256170"/>
            <a:ext cx="6310312" cy="49530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77790E34-BD66-6622-2785-77B9A1CA04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7992" y="-101631"/>
            <a:ext cx="1005458" cy="1006263"/>
          </a:xfrm>
          <a:prstGeom prst="rect">
            <a:avLst/>
          </a:prstGeom>
        </p:spPr>
      </p:pic>
      <p:sp>
        <p:nvSpPr>
          <p:cNvPr id="63" name="Text 37">
            <a:extLst>
              <a:ext uri="{FF2B5EF4-FFF2-40B4-BE49-F238E27FC236}">
                <a16:creationId xmlns:a16="http://schemas.microsoft.com/office/drawing/2014/main" id="{3BA0BB20-1BAB-DE97-F721-26130A1DE1A5}"/>
              </a:ext>
            </a:extLst>
          </p:cNvPr>
          <p:cNvSpPr/>
          <p:nvPr/>
        </p:nvSpPr>
        <p:spPr>
          <a:xfrm>
            <a:off x="364591" y="4965650"/>
            <a:ext cx="3228157" cy="11664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>
              <a:lnSpc>
                <a:spcPts val="1080"/>
              </a:lnSpc>
            </a:pPr>
            <a:r>
              <a:rPr lang="en-US" sz="800" dirty="0">
                <a:solidFill>
                  <a:srgbClr val="B0BEC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Dept. of Electronics and Communication</a:t>
            </a:r>
            <a:r>
              <a:rPr lang="en-US" sz="700" dirty="0">
                <a:solidFill>
                  <a:srgbClr val="B0BEC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— K.R. PURAM, BENGALURU</a:t>
            </a:r>
            <a:endParaRPr lang="en-US" sz="700" dirty="0"/>
          </a:p>
        </p:txBody>
      </p:sp>
      <p:pic>
        <p:nvPicPr>
          <p:cNvPr id="9" name="Google Shape;385;p43" title="MixColumn.png">
            <a:extLst>
              <a:ext uri="{FF2B5EF4-FFF2-40B4-BE49-F238E27FC236}">
                <a16:creationId xmlns:a16="http://schemas.microsoft.com/office/drawing/2014/main" id="{598272E6-BBFF-58F8-4539-219C43A7D40E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97464" y="1570135"/>
            <a:ext cx="4059077" cy="2164837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386;p43">
            <a:extLst>
              <a:ext uri="{FF2B5EF4-FFF2-40B4-BE49-F238E27FC236}">
                <a16:creationId xmlns:a16="http://schemas.microsoft.com/office/drawing/2014/main" id="{A779033C-89CA-C881-322C-984A5E43392E}"/>
              </a:ext>
            </a:extLst>
          </p:cNvPr>
          <p:cNvSpPr txBox="1">
            <a:spLocks/>
          </p:cNvSpPr>
          <p:nvPr/>
        </p:nvSpPr>
        <p:spPr>
          <a:xfrm>
            <a:off x="2255917" y="751061"/>
            <a:ext cx="5830800" cy="5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90000"/>
              </a:lnSpc>
              <a:spcBef>
                <a:spcPts val="0"/>
              </a:spcBef>
              <a:buClr>
                <a:srgbClr val="000A30"/>
              </a:buClr>
              <a:buSzPts val="3000"/>
              <a:buFont typeface="Calibri"/>
              <a:buNone/>
            </a:pPr>
            <a:r>
              <a:rPr lang="en-GB" sz="2700" b="1" dirty="0">
                <a:solidFill>
                  <a:srgbClr val="000A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MIX COLUMNS</a:t>
            </a:r>
          </a:p>
        </p:txBody>
      </p:sp>
      <p:sp>
        <p:nvSpPr>
          <p:cNvPr id="15" name="Google Shape;387;p43">
            <a:extLst>
              <a:ext uri="{FF2B5EF4-FFF2-40B4-BE49-F238E27FC236}">
                <a16:creationId xmlns:a16="http://schemas.microsoft.com/office/drawing/2014/main" id="{08C4FEF4-A91E-E0F7-F7D3-F6B216780C27}"/>
              </a:ext>
            </a:extLst>
          </p:cNvPr>
          <p:cNvSpPr txBox="1"/>
          <p:nvPr/>
        </p:nvSpPr>
        <p:spPr>
          <a:xfrm>
            <a:off x="1985620" y="1629142"/>
            <a:ext cx="3591732" cy="2276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0480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MixColumns</a:t>
            </a:r>
            <a:r>
              <a:rPr lang="en-GB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treats each column of the state matrix as a polynomial and multiplies it with a </a:t>
            </a:r>
            <a:r>
              <a:rPr lang="en-GB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fixed constant Matrix.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operation ensures </a:t>
            </a:r>
            <a:r>
              <a:rPr lang="en-GB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 diffusion</a:t>
            </a:r>
            <a:r>
              <a:rPr lang="en-GB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meaning a single input byte affects multiple output bytes across the column.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5677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9693C-F144-1C86-AD5E-1407166DE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C0D1DEE-6E71-0509-FC74-50B3CEEE71BE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9444902-5E4C-30CD-07C2-D2E274178499}"/>
              </a:ext>
            </a:extLst>
          </p:cNvPr>
          <p:cNvSpPr/>
          <p:nvPr/>
        </p:nvSpPr>
        <p:spPr>
          <a:xfrm>
            <a:off x="930" y="0"/>
            <a:ext cx="2009775" cy="51435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41EBC95-3ED2-A4AC-DE59-89FAE5551071}"/>
              </a:ext>
            </a:extLst>
          </p:cNvPr>
          <p:cNvSpPr/>
          <p:nvPr/>
        </p:nvSpPr>
        <p:spPr>
          <a:xfrm>
            <a:off x="229530" y="204936"/>
            <a:ext cx="155257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dirty="0">
                <a:solidFill>
                  <a:srgbClr val="B0BEC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SECTION</a:t>
            </a:r>
            <a:endParaRPr lang="en-US" sz="7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B26A735-83B5-43EC-4DC2-3CF3BF086E9B}"/>
              </a:ext>
            </a:extLst>
          </p:cNvPr>
          <p:cNvSpPr/>
          <p:nvPr/>
        </p:nvSpPr>
        <p:spPr>
          <a:xfrm>
            <a:off x="229530" y="378135"/>
            <a:ext cx="155257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>
              <a:lnSpc>
                <a:spcPts val="1404"/>
              </a:lnSpc>
              <a:spcBef>
                <a:spcPts val="162"/>
              </a:spcBef>
            </a:pPr>
            <a:r>
              <a:rPr lang="en-US" sz="900" dirty="0">
                <a:solidFill>
                  <a:srgbClr val="E2007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09 / 12</a:t>
            </a:r>
            <a:endParaRPr lang="en-US" sz="900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523936F6-FC5F-C3A5-7268-093901432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" y="1280033"/>
            <a:ext cx="2009775" cy="923925"/>
          </a:xfrm>
          <a:prstGeom prst="rect">
            <a:avLst/>
          </a:prstGeom>
        </p:spPr>
      </p:pic>
      <p:sp>
        <p:nvSpPr>
          <p:cNvPr id="7" name="Shape 4">
            <a:extLst>
              <a:ext uri="{FF2B5EF4-FFF2-40B4-BE49-F238E27FC236}">
                <a16:creationId xmlns:a16="http://schemas.microsoft.com/office/drawing/2014/main" id="{4F80C1B0-D6F0-DCE9-E508-4152D5A94503}"/>
              </a:ext>
            </a:extLst>
          </p:cNvPr>
          <p:cNvSpPr/>
          <p:nvPr/>
        </p:nvSpPr>
        <p:spPr>
          <a:xfrm>
            <a:off x="229530" y="2929347"/>
            <a:ext cx="1552575" cy="1009650"/>
          </a:xfrm>
          <a:prstGeom prst="rect">
            <a:avLst/>
          </a:prstGeom>
          <a:ln/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983F707E-AAAF-316B-DABA-83C3E362A10F}"/>
              </a:ext>
            </a:extLst>
          </p:cNvPr>
          <p:cNvSpPr/>
          <p:nvPr/>
        </p:nvSpPr>
        <p:spPr>
          <a:xfrm>
            <a:off x="2376934" y="256170"/>
            <a:ext cx="6310312" cy="495300"/>
          </a:xfrm>
          <a:prstGeom prst="rect">
            <a:avLst/>
          </a:prstGeom>
          <a:ln/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C79C56F3-D7E4-8D96-0FEF-0DF1292CFD04}"/>
              </a:ext>
            </a:extLst>
          </p:cNvPr>
          <p:cNvSpPr/>
          <p:nvPr/>
        </p:nvSpPr>
        <p:spPr>
          <a:xfrm>
            <a:off x="2376971" y="258105"/>
            <a:ext cx="3981626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40"/>
              </a:lnSpc>
              <a:buNone/>
            </a:pPr>
            <a:r>
              <a:rPr lang="en-US" sz="2100" b="1" dirty="0">
                <a:solidFill>
                  <a:srgbClr val="1E1E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AES-128 ENCRYPTION</a:t>
            </a:r>
            <a:endParaRPr lang="en-US" sz="2100" dirty="0"/>
          </a:p>
        </p:txBody>
      </p:sp>
      <p:sp>
        <p:nvSpPr>
          <p:cNvPr id="53" name="Shape 50">
            <a:extLst>
              <a:ext uri="{FF2B5EF4-FFF2-40B4-BE49-F238E27FC236}">
                <a16:creationId xmlns:a16="http://schemas.microsoft.com/office/drawing/2014/main" id="{E7BEE63D-E9B7-B6BC-0F6A-7C2264865811}"/>
              </a:ext>
            </a:extLst>
          </p:cNvPr>
          <p:cNvSpPr/>
          <p:nvPr/>
        </p:nvSpPr>
        <p:spPr>
          <a:xfrm>
            <a:off x="0" y="4882269"/>
            <a:ext cx="9144000" cy="261937"/>
          </a:xfrm>
          <a:prstGeom prst="rect">
            <a:avLst/>
          </a:prstGeom>
          <a:solidFill>
            <a:srgbClr val="1E1E1E"/>
          </a:solidFill>
          <a:ln/>
        </p:spPr>
      </p:sp>
      <p:pic>
        <p:nvPicPr>
          <p:cNvPr id="57" name="Image 2" descr="preencoded.png">
            <a:extLst>
              <a:ext uri="{FF2B5EF4-FFF2-40B4-BE49-F238E27FC236}">
                <a16:creationId xmlns:a16="http://schemas.microsoft.com/office/drawing/2014/main" id="{0A239D53-AD8F-1B26-1E0D-2FFE150F62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76934" y="256170"/>
            <a:ext cx="6310312" cy="49530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D6E98955-6CC5-6CAE-E436-7E70714A95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7992" y="-101631"/>
            <a:ext cx="1005458" cy="1006263"/>
          </a:xfrm>
          <a:prstGeom prst="rect">
            <a:avLst/>
          </a:prstGeom>
        </p:spPr>
      </p:pic>
      <p:sp>
        <p:nvSpPr>
          <p:cNvPr id="63" name="Text 37">
            <a:extLst>
              <a:ext uri="{FF2B5EF4-FFF2-40B4-BE49-F238E27FC236}">
                <a16:creationId xmlns:a16="http://schemas.microsoft.com/office/drawing/2014/main" id="{D74F3126-3BAF-95C4-A55D-D1B6BD34CB08}"/>
              </a:ext>
            </a:extLst>
          </p:cNvPr>
          <p:cNvSpPr/>
          <p:nvPr/>
        </p:nvSpPr>
        <p:spPr>
          <a:xfrm>
            <a:off x="364591" y="4965650"/>
            <a:ext cx="3228157" cy="11664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>
              <a:lnSpc>
                <a:spcPts val="1080"/>
              </a:lnSpc>
            </a:pPr>
            <a:r>
              <a:rPr lang="en-US" sz="800" dirty="0">
                <a:solidFill>
                  <a:srgbClr val="B0BEC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Dept. of Electronics and Communication</a:t>
            </a:r>
            <a:r>
              <a:rPr lang="en-US" sz="700" dirty="0">
                <a:solidFill>
                  <a:srgbClr val="B0BEC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— K.R. PURAM, BENGALURU</a:t>
            </a:r>
            <a:endParaRPr lang="en-US" sz="700" dirty="0"/>
          </a:p>
        </p:txBody>
      </p:sp>
      <p:pic>
        <p:nvPicPr>
          <p:cNvPr id="8" name="Google Shape;399;p44" title="Add Round Key.png">
            <a:extLst>
              <a:ext uri="{FF2B5EF4-FFF2-40B4-BE49-F238E27FC236}">
                <a16:creationId xmlns:a16="http://schemas.microsoft.com/office/drawing/2014/main" id="{BB72526A-AD78-4C8D-7F87-9DB03283F3DD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39429" y="1566111"/>
            <a:ext cx="3775041" cy="212347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400;p44">
            <a:extLst>
              <a:ext uri="{FF2B5EF4-FFF2-40B4-BE49-F238E27FC236}">
                <a16:creationId xmlns:a16="http://schemas.microsoft.com/office/drawing/2014/main" id="{8CB106AA-9D01-FE2B-530E-3748F7E5283F}"/>
              </a:ext>
            </a:extLst>
          </p:cNvPr>
          <p:cNvSpPr txBox="1">
            <a:spLocks/>
          </p:cNvSpPr>
          <p:nvPr/>
        </p:nvSpPr>
        <p:spPr>
          <a:xfrm>
            <a:off x="2224029" y="751061"/>
            <a:ext cx="5830800" cy="5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90000"/>
              </a:lnSpc>
              <a:spcBef>
                <a:spcPts val="0"/>
              </a:spcBef>
              <a:buClr>
                <a:srgbClr val="000A30"/>
              </a:buClr>
              <a:buSzPts val="3000"/>
              <a:buFont typeface="Calibri"/>
              <a:buNone/>
            </a:pPr>
            <a:r>
              <a:rPr lang="en-GB" sz="2700" b="1" dirty="0">
                <a:solidFill>
                  <a:srgbClr val="000A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ROUND KEY</a:t>
            </a:r>
          </a:p>
        </p:txBody>
      </p:sp>
      <p:sp>
        <p:nvSpPr>
          <p:cNvPr id="14" name="Google Shape;401;p44">
            <a:extLst>
              <a:ext uri="{FF2B5EF4-FFF2-40B4-BE49-F238E27FC236}">
                <a16:creationId xmlns:a16="http://schemas.microsoft.com/office/drawing/2014/main" id="{2AED997B-72EA-C954-2A9D-0EAD7EDD7577}"/>
              </a:ext>
            </a:extLst>
          </p:cNvPr>
          <p:cNvSpPr txBox="1"/>
          <p:nvPr/>
        </p:nvSpPr>
        <p:spPr>
          <a:xfrm>
            <a:off x="2239305" y="1751474"/>
            <a:ext cx="2903123" cy="2659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121050" bIns="91425" anchor="t" anchorCtr="0">
            <a:spAutoFit/>
          </a:bodyPr>
          <a:lstStyle/>
          <a:p>
            <a:pPr marL="269999" lvl="0" indent="-159849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AddRoundKey</a:t>
            </a:r>
            <a:r>
              <a:rPr lang="en-GB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combines the current state matrix with the </a:t>
            </a:r>
            <a:r>
              <a:rPr lang="en-GB" sz="11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round key</a:t>
            </a:r>
            <a:r>
              <a:rPr lang="en-GB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using a </a:t>
            </a:r>
            <a:r>
              <a:rPr lang="en-GB" sz="11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bitwise XOR operation</a:t>
            </a:r>
            <a:r>
              <a:rPr lang="en-GB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directly injecting key material into the data.</a:t>
            </a:r>
            <a:endParaRPr sz="1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69999" lvl="0" indent="-159849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Since XOR is reversible, this step ensures </a:t>
            </a:r>
            <a:r>
              <a:rPr lang="en-GB" sz="11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secure key mixing</a:t>
            </a:r>
            <a:r>
              <a:rPr lang="en-GB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while allowing correct decryption using the same round key.</a:t>
            </a:r>
            <a:endParaRPr sz="1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6854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930" y="0"/>
            <a:ext cx="2009775" cy="51435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" name="Text 2"/>
          <p:cNvSpPr/>
          <p:nvPr/>
        </p:nvSpPr>
        <p:spPr>
          <a:xfrm>
            <a:off x="229530" y="204936"/>
            <a:ext cx="155257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dirty="0">
                <a:solidFill>
                  <a:srgbClr val="B0BEC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SECTION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29530" y="378135"/>
            <a:ext cx="155257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>
              <a:lnSpc>
                <a:spcPts val="1404"/>
              </a:lnSpc>
              <a:spcBef>
                <a:spcPts val="162"/>
              </a:spcBef>
            </a:pPr>
            <a:r>
              <a:rPr lang="en-US" sz="900" dirty="0">
                <a:solidFill>
                  <a:srgbClr val="E2007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10 / 12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" y="1260165"/>
            <a:ext cx="2009775" cy="92392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9530" y="2888493"/>
            <a:ext cx="1552575" cy="1071563"/>
          </a:xfrm>
          <a:prstGeom prst="rect">
            <a:avLst/>
          </a:prstGeom>
          <a:ln/>
        </p:spPr>
      </p:sp>
      <p:sp>
        <p:nvSpPr>
          <p:cNvPr id="8" name="Text 5"/>
          <p:cNvSpPr/>
          <p:nvPr/>
        </p:nvSpPr>
        <p:spPr>
          <a:xfrm>
            <a:off x="229530" y="3023071"/>
            <a:ext cx="1552575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6"/>
              </a:lnSpc>
              <a:spcAft>
                <a:spcPts val="324"/>
              </a:spcAft>
              <a:buNone/>
            </a:pPr>
            <a:r>
              <a:rPr lang="en-US" sz="600" dirty="0">
                <a:solidFill>
                  <a:srgbClr val="00E67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ALL TIMING MET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229530" y="3193256"/>
            <a:ext cx="1552575" cy="3333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0"/>
              </a:lnSpc>
              <a:spcAft>
                <a:spcPts val="405"/>
              </a:spcAft>
              <a:buNone/>
            </a:pPr>
            <a:r>
              <a:rPr lang="en-US" sz="1000" b="1" dirty="0">
                <a:solidFill>
                  <a:srgbClr val="F8F9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Zero failing endpoints out of 41,536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29530" y="3578200"/>
            <a:ext cx="1552575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600" dirty="0">
                <a:solidFill>
                  <a:srgbClr val="B0BEC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WNS: 0.523 ns — all user-specified constraints satisfied.</a:t>
            </a:r>
            <a:endParaRPr lang="en-US" sz="600" dirty="0"/>
          </a:p>
        </p:txBody>
      </p:sp>
      <p:sp>
        <p:nvSpPr>
          <p:cNvPr id="12" name="Shape 9"/>
          <p:cNvSpPr/>
          <p:nvPr/>
        </p:nvSpPr>
        <p:spPr>
          <a:xfrm>
            <a:off x="2376934" y="256170"/>
            <a:ext cx="6310312" cy="495300"/>
          </a:xfrm>
          <a:prstGeom prst="rect">
            <a:avLst/>
          </a:prstGeom>
          <a:ln/>
        </p:spPr>
      </p:sp>
      <p:sp>
        <p:nvSpPr>
          <p:cNvPr id="13" name="Text 10"/>
          <p:cNvSpPr/>
          <p:nvPr/>
        </p:nvSpPr>
        <p:spPr>
          <a:xfrm>
            <a:off x="2376784" y="258105"/>
            <a:ext cx="3848755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40"/>
              </a:lnSpc>
              <a:buNone/>
            </a:pPr>
            <a:r>
              <a:rPr lang="en-US" sz="2100" b="1" dirty="0">
                <a:solidFill>
                  <a:srgbClr val="1E1E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VERIFICATION &amp; RESULTS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2376599" y="905656"/>
            <a:ext cx="38100" cy="152400"/>
          </a:xfrm>
          <a:prstGeom prst="rect">
            <a:avLst/>
          </a:prstGeom>
          <a:solidFill>
            <a:srgbClr val="E20074"/>
          </a:solidFill>
          <a:ln/>
        </p:spPr>
      </p:sp>
      <p:sp>
        <p:nvSpPr>
          <p:cNvPr id="16" name="Text 13"/>
          <p:cNvSpPr/>
          <p:nvPr/>
        </p:nvSpPr>
        <p:spPr>
          <a:xfrm>
            <a:off x="2487662" y="912800"/>
            <a:ext cx="1495425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E2007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FUNCTIONAL VERIFICATION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2376450" y="1161715"/>
            <a:ext cx="3019425" cy="481012"/>
          </a:xfrm>
          <a:prstGeom prst="rect">
            <a:avLst/>
          </a:prstGeom>
          <a:solidFill>
            <a:srgbClr val="FFFFFF"/>
          </a:solidFill>
          <a:ln w="4763">
            <a:solidFill>
              <a:srgbClr val="B0BEC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520144" y="1265076"/>
            <a:ext cx="71438" cy="71438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9" name="Text 16"/>
          <p:cNvSpPr/>
          <p:nvPr/>
        </p:nvSpPr>
        <p:spPr>
          <a:xfrm>
            <a:off x="2701975" y="1244687"/>
            <a:ext cx="2214563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spcAft>
                <a:spcPts val="122"/>
              </a:spcAft>
              <a:buNone/>
            </a:pPr>
            <a:r>
              <a:rPr lang="en-US" sz="900" b="1" dirty="0">
                <a:solidFill>
                  <a:srgbClr val="1E1E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Encrypted output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701975" y="1437122"/>
            <a:ext cx="2214563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Visually indistinguishable from random noise</a:t>
            </a:r>
            <a:endParaRPr lang="en-US" sz="600" dirty="0"/>
          </a:p>
        </p:txBody>
      </p:sp>
      <p:sp>
        <p:nvSpPr>
          <p:cNvPr id="21" name="Shape 18"/>
          <p:cNvSpPr/>
          <p:nvPr/>
        </p:nvSpPr>
        <p:spPr>
          <a:xfrm>
            <a:off x="2376450" y="1704194"/>
            <a:ext cx="3019425" cy="481012"/>
          </a:xfrm>
          <a:prstGeom prst="rect">
            <a:avLst/>
          </a:prstGeom>
          <a:solidFill>
            <a:srgbClr val="FFFFFF"/>
          </a:solidFill>
          <a:ln w="4763">
            <a:solidFill>
              <a:srgbClr val="B0BEC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520144" y="1807555"/>
            <a:ext cx="71438" cy="71438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23" name="Text 20"/>
          <p:cNvSpPr/>
          <p:nvPr/>
        </p:nvSpPr>
        <p:spPr>
          <a:xfrm>
            <a:off x="2702607" y="1787165"/>
            <a:ext cx="2414588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spcAft>
                <a:spcPts val="122"/>
              </a:spcAft>
              <a:buNone/>
            </a:pPr>
            <a:r>
              <a:rPr lang="en-US" sz="900" b="1" dirty="0">
                <a:solidFill>
                  <a:srgbClr val="1E1E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Decrypted image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2702607" y="1979600"/>
            <a:ext cx="2414588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Perfect lossless restoration — pixel-exact match</a:t>
            </a:r>
            <a:endParaRPr lang="en-US" sz="600" dirty="0"/>
          </a:p>
        </p:txBody>
      </p:sp>
      <p:sp>
        <p:nvSpPr>
          <p:cNvPr id="29" name="Shape 26"/>
          <p:cNvSpPr/>
          <p:nvPr/>
        </p:nvSpPr>
        <p:spPr>
          <a:xfrm>
            <a:off x="5668454" y="905656"/>
            <a:ext cx="38100" cy="152400"/>
          </a:xfrm>
          <a:prstGeom prst="rect">
            <a:avLst/>
          </a:prstGeom>
          <a:solidFill>
            <a:srgbClr val="E20074"/>
          </a:solidFill>
          <a:ln/>
        </p:spPr>
      </p:sp>
      <p:sp>
        <p:nvSpPr>
          <p:cNvPr id="30" name="Text 27"/>
          <p:cNvSpPr/>
          <p:nvPr/>
        </p:nvSpPr>
        <p:spPr>
          <a:xfrm>
            <a:off x="5779591" y="912800"/>
            <a:ext cx="909638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E2007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TIMING SUMMARY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5668305" y="1161901"/>
            <a:ext cx="3019425" cy="1262063"/>
          </a:xfrm>
          <a:prstGeom prst="rect">
            <a:avLst/>
          </a:prstGeom>
          <a:solidFill>
            <a:srgbClr val="FFFFFF"/>
          </a:solidFill>
          <a:ln w="4763">
            <a:solidFill>
              <a:srgbClr val="B0BEC5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73068" y="1166999"/>
            <a:ext cx="3009900" cy="204787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3" name="Text 30"/>
          <p:cNvSpPr/>
          <p:nvPr/>
        </p:nvSpPr>
        <p:spPr>
          <a:xfrm>
            <a:off x="5673514" y="1166999"/>
            <a:ext cx="150495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00" dirty="0">
                <a:solidFill>
                  <a:srgbClr val="B0BEC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METRIC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7177534" y="1166999"/>
            <a:ext cx="150495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00" dirty="0">
                <a:solidFill>
                  <a:srgbClr val="B0BEC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VALUE</a:t>
            </a:r>
            <a:endParaRPr lang="en-US" sz="600" dirty="0"/>
          </a:p>
        </p:txBody>
      </p:sp>
      <p:sp>
        <p:nvSpPr>
          <p:cNvPr id="35" name="Shape 32"/>
          <p:cNvSpPr/>
          <p:nvPr/>
        </p:nvSpPr>
        <p:spPr>
          <a:xfrm>
            <a:off x="5673068" y="1372605"/>
            <a:ext cx="3009900" cy="209550"/>
          </a:xfrm>
          <a:prstGeom prst="rect">
            <a:avLst/>
          </a:prstGeom>
          <a:ln/>
        </p:spPr>
      </p:sp>
      <p:sp>
        <p:nvSpPr>
          <p:cNvPr id="36" name="Text 33"/>
          <p:cNvSpPr/>
          <p:nvPr/>
        </p:nvSpPr>
        <p:spPr>
          <a:xfrm>
            <a:off x="5673514" y="1372605"/>
            <a:ext cx="150495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00" dirty="0">
                <a:solidFill>
                  <a:srgbClr val="1E1E1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WNS</a:t>
            </a:r>
            <a:endParaRPr lang="en-US" sz="600" dirty="0"/>
          </a:p>
        </p:txBody>
      </p:sp>
      <p:sp>
        <p:nvSpPr>
          <p:cNvPr id="37" name="Text 34"/>
          <p:cNvSpPr/>
          <p:nvPr/>
        </p:nvSpPr>
        <p:spPr>
          <a:xfrm>
            <a:off x="7177534" y="1372605"/>
            <a:ext cx="150495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00" b="1" dirty="0">
                <a:solidFill>
                  <a:srgbClr val="00AC5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0.523 ns</a:t>
            </a:r>
            <a:endParaRPr lang="en-US" sz="600" dirty="0"/>
          </a:p>
        </p:txBody>
      </p:sp>
      <p:sp>
        <p:nvSpPr>
          <p:cNvPr id="38" name="Shape 35"/>
          <p:cNvSpPr/>
          <p:nvPr/>
        </p:nvSpPr>
        <p:spPr>
          <a:xfrm>
            <a:off x="5673068" y="1582973"/>
            <a:ext cx="3009900" cy="209550"/>
          </a:xfrm>
          <a:prstGeom prst="rect">
            <a:avLst/>
          </a:prstGeom>
          <a:ln/>
        </p:spPr>
      </p:sp>
      <p:sp>
        <p:nvSpPr>
          <p:cNvPr id="39" name="Text 36"/>
          <p:cNvSpPr/>
          <p:nvPr/>
        </p:nvSpPr>
        <p:spPr>
          <a:xfrm>
            <a:off x="5673514" y="1582973"/>
            <a:ext cx="150495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00" dirty="0">
                <a:solidFill>
                  <a:srgbClr val="1E1E1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TNS</a:t>
            </a:r>
            <a:endParaRPr lang="en-US" sz="600" dirty="0"/>
          </a:p>
        </p:txBody>
      </p:sp>
      <p:sp>
        <p:nvSpPr>
          <p:cNvPr id="40" name="Text 37"/>
          <p:cNvSpPr/>
          <p:nvPr/>
        </p:nvSpPr>
        <p:spPr>
          <a:xfrm>
            <a:off x="7177534" y="1582973"/>
            <a:ext cx="150495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00" b="1" dirty="0">
                <a:solidFill>
                  <a:srgbClr val="00AC5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0.000 ns</a:t>
            </a:r>
            <a:endParaRPr lang="en-US" sz="600" dirty="0"/>
          </a:p>
        </p:txBody>
      </p:sp>
      <p:sp>
        <p:nvSpPr>
          <p:cNvPr id="41" name="Shape 38"/>
          <p:cNvSpPr/>
          <p:nvPr/>
        </p:nvSpPr>
        <p:spPr>
          <a:xfrm>
            <a:off x="5673068" y="1793342"/>
            <a:ext cx="3009900" cy="209550"/>
          </a:xfrm>
          <a:prstGeom prst="rect">
            <a:avLst/>
          </a:prstGeom>
          <a:ln/>
        </p:spPr>
      </p:sp>
      <p:sp>
        <p:nvSpPr>
          <p:cNvPr id="42" name="Text 39"/>
          <p:cNvSpPr/>
          <p:nvPr/>
        </p:nvSpPr>
        <p:spPr>
          <a:xfrm>
            <a:off x="5673514" y="1793342"/>
            <a:ext cx="150495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00" dirty="0">
                <a:solidFill>
                  <a:srgbClr val="1E1E1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WHS</a:t>
            </a:r>
            <a:endParaRPr lang="en-US" sz="600" dirty="0"/>
          </a:p>
        </p:txBody>
      </p:sp>
      <p:sp>
        <p:nvSpPr>
          <p:cNvPr id="43" name="Text 40"/>
          <p:cNvSpPr/>
          <p:nvPr/>
        </p:nvSpPr>
        <p:spPr>
          <a:xfrm>
            <a:off x="7177534" y="1793342"/>
            <a:ext cx="150495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00" b="1" dirty="0">
                <a:solidFill>
                  <a:srgbClr val="00AC5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0.016 ns</a:t>
            </a:r>
            <a:endParaRPr lang="en-US" sz="600" dirty="0"/>
          </a:p>
        </p:txBody>
      </p:sp>
      <p:sp>
        <p:nvSpPr>
          <p:cNvPr id="44" name="Shape 41"/>
          <p:cNvSpPr/>
          <p:nvPr/>
        </p:nvSpPr>
        <p:spPr>
          <a:xfrm>
            <a:off x="5673068" y="2003710"/>
            <a:ext cx="3009900" cy="209550"/>
          </a:xfrm>
          <a:prstGeom prst="rect">
            <a:avLst/>
          </a:prstGeom>
          <a:ln/>
        </p:spPr>
      </p:sp>
      <p:sp>
        <p:nvSpPr>
          <p:cNvPr id="45" name="Text 42"/>
          <p:cNvSpPr/>
          <p:nvPr/>
        </p:nvSpPr>
        <p:spPr>
          <a:xfrm>
            <a:off x="5673514" y="2003710"/>
            <a:ext cx="150495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00" dirty="0">
                <a:solidFill>
                  <a:srgbClr val="1E1E1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Failing Endpoints</a:t>
            </a:r>
            <a:endParaRPr lang="en-US" sz="600" dirty="0"/>
          </a:p>
        </p:txBody>
      </p:sp>
      <p:sp>
        <p:nvSpPr>
          <p:cNvPr id="46" name="Text 43"/>
          <p:cNvSpPr/>
          <p:nvPr/>
        </p:nvSpPr>
        <p:spPr>
          <a:xfrm>
            <a:off x="7177534" y="2003710"/>
            <a:ext cx="150495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00" b="1" dirty="0">
                <a:solidFill>
                  <a:srgbClr val="00AC5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 / 41,536</a:t>
            </a:r>
            <a:endParaRPr lang="en-US" sz="600" dirty="0"/>
          </a:p>
        </p:txBody>
      </p:sp>
      <p:sp>
        <p:nvSpPr>
          <p:cNvPr id="47" name="Text 44"/>
          <p:cNvSpPr/>
          <p:nvPr/>
        </p:nvSpPr>
        <p:spPr>
          <a:xfrm>
            <a:off x="5673514" y="2214079"/>
            <a:ext cx="150495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00" dirty="0">
                <a:solidFill>
                  <a:srgbClr val="1E1E1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Total On-Chip Power</a:t>
            </a:r>
            <a:endParaRPr lang="en-US" sz="600" dirty="0"/>
          </a:p>
        </p:txBody>
      </p:sp>
      <p:sp>
        <p:nvSpPr>
          <p:cNvPr id="48" name="Text 45"/>
          <p:cNvSpPr/>
          <p:nvPr/>
        </p:nvSpPr>
        <p:spPr>
          <a:xfrm>
            <a:off x="7177534" y="2214079"/>
            <a:ext cx="150495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00" b="1" dirty="0">
                <a:solidFill>
                  <a:srgbClr val="E2007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2.784 W</a:t>
            </a:r>
            <a:endParaRPr lang="en-US" sz="600" dirty="0"/>
          </a:p>
        </p:txBody>
      </p:sp>
      <p:sp>
        <p:nvSpPr>
          <p:cNvPr id="49" name="Shape 46"/>
          <p:cNvSpPr/>
          <p:nvPr/>
        </p:nvSpPr>
        <p:spPr>
          <a:xfrm>
            <a:off x="0" y="4882269"/>
            <a:ext cx="9144000" cy="261937"/>
          </a:xfrm>
          <a:prstGeom prst="rect">
            <a:avLst/>
          </a:prstGeom>
          <a:solidFill>
            <a:srgbClr val="1E1E1E"/>
          </a:solidFill>
          <a:ln/>
        </p:spPr>
      </p:sp>
      <p:pic>
        <p:nvPicPr>
          <p:cNvPr id="5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9530" y="2888493"/>
            <a:ext cx="1552575" cy="1071563"/>
          </a:xfrm>
          <a:prstGeom prst="rect">
            <a:avLst/>
          </a:prstGeom>
        </p:spPr>
      </p:pic>
      <p:pic>
        <p:nvPicPr>
          <p:cNvPr id="5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76934" y="256170"/>
            <a:ext cx="6310312" cy="495300"/>
          </a:xfrm>
          <a:prstGeom prst="rect">
            <a:avLst/>
          </a:prstGeom>
        </p:spPr>
      </p:pic>
      <p:pic>
        <p:nvPicPr>
          <p:cNvPr id="5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73068" y="1372605"/>
            <a:ext cx="3009900" cy="209550"/>
          </a:xfrm>
          <a:prstGeom prst="rect">
            <a:avLst/>
          </a:prstGeom>
        </p:spPr>
      </p:pic>
      <p:pic>
        <p:nvPicPr>
          <p:cNvPr id="5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73068" y="1582973"/>
            <a:ext cx="3009900" cy="209550"/>
          </a:xfrm>
          <a:prstGeom prst="rect">
            <a:avLst/>
          </a:prstGeom>
        </p:spPr>
      </p:pic>
      <p:pic>
        <p:nvPicPr>
          <p:cNvPr id="5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73068" y="1793342"/>
            <a:ext cx="3009900" cy="209550"/>
          </a:xfrm>
          <a:prstGeom prst="rect">
            <a:avLst/>
          </a:prstGeom>
        </p:spPr>
      </p:pic>
      <p:pic>
        <p:nvPicPr>
          <p:cNvPr id="5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73068" y="2003710"/>
            <a:ext cx="3009900" cy="2095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8442EF39-D79B-DDB8-D4B6-78E26911ADA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7992" y="-101631"/>
            <a:ext cx="1005458" cy="1006263"/>
          </a:xfrm>
          <a:prstGeom prst="rect">
            <a:avLst/>
          </a:prstGeom>
        </p:spPr>
      </p:pic>
      <p:sp>
        <p:nvSpPr>
          <p:cNvPr id="59" name="Text 37">
            <a:extLst>
              <a:ext uri="{FF2B5EF4-FFF2-40B4-BE49-F238E27FC236}">
                <a16:creationId xmlns:a16="http://schemas.microsoft.com/office/drawing/2014/main" id="{21B3563A-F636-66B8-72EE-4DBCCFE49492}"/>
              </a:ext>
            </a:extLst>
          </p:cNvPr>
          <p:cNvSpPr/>
          <p:nvPr/>
        </p:nvSpPr>
        <p:spPr>
          <a:xfrm>
            <a:off x="364591" y="4965650"/>
            <a:ext cx="3228157" cy="11664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>
              <a:lnSpc>
                <a:spcPts val="1080"/>
              </a:lnSpc>
            </a:pPr>
            <a:r>
              <a:rPr lang="en-US" sz="800" dirty="0">
                <a:solidFill>
                  <a:srgbClr val="B0BEC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Dept. of Electronics and Communication</a:t>
            </a:r>
            <a:r>
              <a:rPr lang="en-US" sz="700" dirty="0">
                <a:solidFill>
                  <a:srgbClr val="B0BEC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— K.R. PURAM, BENGALURU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-484"/>
            <a:ext cx="9144000" cy="52388"/>
          </a:xfrm>
          <a:prstGeom prst="rect">
            <a:avLst/>
          </a:prstGeom>
          <a:solidFill>
            <a:srgbClr val="E20074"/>
          </a:solidFill>
          <a:ln/>
        </p:spPr>
      </p:sp>
      <p:sp>
        <p:nvSpPr>
          <p:cNvPr id="4" name="Shape 2"/>
          <p:cNvSpPr/>
          <p:nvPr/>
        </p:nvSpPr>
        <p:spPr>
          <a:xfrm>
            <a:off x="930" y="0"/>
            <a:ext cx="2009775" cy="51435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Text 3"/>
          <p:cNvSpPr/>
          <p:nvPr/>
        </p:nvSpPr>
        <p:spPr>
          <a:xfrm>
            <a:off x="229530" y="256431"/>
            <a:ext cx="155257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dirty="0">
                <a:solidFill>
                  <a:srgbClr val="B0BEC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SECTION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29530" y="429630"/>
            <a:ext cx="155257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>
              <a:lnSpc>
                <a:spcPts val="1404"/>
              </a:lnSpc>
              <a:spcBef>
                <a:spcPts val="162"/>
              </a:spcBef>
            </a:pPr>
            <a:r>
              <a:rPr lang="en-US" sz="900" dirty="0">
                <a:solidFill>
                  <a:srgbClr val="E2007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11 / 12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29530" y="2518507"/>
            <a:ext cx="1552575" cy="1300163"/>
          </a:xfrm>
          <a:prstGeom prst="rect">
            <a:avLst/>
          </a:prstGeom>
          <a:ln/>
        </p:spPr>
      </p:sp>
      <p:sp>
        <p:nvSpPr>
          <p:cNvPr id="9" name="Text 6"/>
          <p:cNvSpPr/>
          <p:nvPr/>
        </p:nvSpPr>
        <p:spPr>
          <a:xfrm>
            <a:off x="229530" y="2650778"/>
            <a:ext cx="1552575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0"/>
              </a:lnSpc>
              <a:spcAft>
                <a:spcPts val="405"/>
              </a:spcAft>
              <a:buNone/>
            </a:pPr>
            <a:r>
              <a:rPr lang="en-US" sz="1000" b="1" dirty="0">
                <a:solidFill>
                  <a:srgbClr val="F8F9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Future Directions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29530" y="2869183"/>
            <a:ext cx="1552575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9"/>
              </a:lnSpc>
              <a:spcAft>
                <a:spcPts val="284"/>
              </a:spcAft>
              <a:buNone/>
            </a:pPr>
            <a:r>
              <a:rPr lang="en-US" sz="600" dirty="0">
                <a:solidFill>
                  <a:srgbClr val="B0BEC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Optimize DMA burst behavior and reduce PS load.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229530" y="3153668"/>
            <a:ext cx="1552575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9"/>
              </a:lnSpc>
              <a:spcAft>
                <a:spcPts val="284"/>
              </a:spcAft>
              <a:buNone/>
            </a:pPr>
            <a:r>
              <a:rPr lang="en-US" sz="600" dirty="0">
                <a:solidFill>
                  <a:srgbClr val="B0BEC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Apply HLS/PL-level clock gating for power reduction.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229530" y="3438153"/>
            <a:ext cx="1552575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600" dirty="0">
                <a:solidFill>
                  <a:srgbClr val="B0BEC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Scale with additional parallel IP cores or multi-channel DMA.</a:t>
            </a:r>
            <a:endParaRPr lang="en-US" sz="600" dirty="0"/>
          </a:p>
        </p:txBody>
      </p:sp>
      <p:sp>
        <p:nvSpPr>
          <p:cNvPr id="15" name="Shape 12"/>
          <p:cNvSpPr/>
          <p:nvPr/>
        </p:nvSpPr>
        <p:spPr>
          <a:xfrm>
            <a:off x="2376934" y="256170"/>
            <a:ext cx="6310312" cy="495300"/>
          </a:xfrm>
          <a:prstGeom prst="rect">
            <a:avLst/>
          </a:prstGeom>
          <a:ln/>
        </p:spPr>
      </p:sp>
      <p:sp>
        <p:nvSpPr>
          <p:cNvPr id="16" name="Text 13"/>
          <p:cNvSpPr/>
          <p:nvPr/>
        </p:nvSpPr>
        <p:spPr>
          <a:xfrm>
            <a:off x="2376376" y="258105"/>
            <a:ext cx="2142284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40"/>
              </a:lnSpc>
              <a:buNone/>
            </a:pPr>
            <a:r>
              <a:rPr lang="en-US" sz="2100" b="1" dirty="0">
                <a:solidFill>
                  <a:srgbClr val="1E1E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CONCLUSION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2377864" y="904838"/>
            <a:ext cx="3062287" cy="852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2565983" y="1021668"/>
            <a:ext cx="2686050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spcAft>
                <a:spcPts val="324"/>
              </a:spcAft>
              <a:buNone/>
            </a:pPr>
            <a:r>
              <a:rPr lang="en-US" sz="600" dirty="0">
                <a:solidFill>
                  <a:srgbClr val="E2007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DEMONSTRATED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2565983" y="1187128"/>
            <a:ext cx="2686050" cy="4619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7"/>
              </a:lnSpc>
              <a:buNone/>
            </a:pPr>
            <a:r>
              <a:rPr lang="en-US" sz="900" b="1" dirty="0">
                <a:solidFill>
                  <a:srgbClr val="1E1E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Real-time AES-128 image encryption on PYNQ-Z2 FPGA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623992" y="904838"/>
            <a:ext cx="3062287" cy="852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5812110" y="1021668"/>
            <a:ext cx="2686050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spcAft>
                <a:spcPts val="324"/>
              </a:spcAft>
              <a:buNone/>
            </a:pPr>
            <a:r>
              <a:rPr lang="en-US" sz="600" dirty="0">
                <a:solidFill>
                  <a:srgbClr val="E2007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CO-DESIGN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5812110" y="1187128"/>
            <a:ext cx="2686050" cy="4619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7"/>
              </a:lnSpc>
              <a:buNone/>
            </a:pPr>
            <a:r>
              <a:rPr lang="en-US" sz="900" b="1" dirty="0">
                <a:solidFill>
                  <a:srgbClr val="1E1E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PS handles control logic; PL handles raw cryptographic computation  clean separation of concerns.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376934" y="1886248"/>
            <a:ext cx="6310312" cy="623888"/>
          </a:xfrm>
          <a:prstGeom prst="rect">
            <a:avLst/>
          </a:prstGeom>
          <a:ln/>
        </p:spPr>
      </p:sp>
      <p:sp>
        <p:nvSpPr>
          <p:cNvPr id="25" name="Text 22"/>
          <p:cNvSpPr/>
          <p:nvPr/>
        </p:nvSpPr>
        <p:spPr>
          <a:xfrm>
            <a:off x="2376711" y="1984400"/>
            <a:ext cx="809625" cy="2905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4"/>
              </a:lnSpc>
              <a:buNone/>
            </a:pPr>
            <a:r>
              <a:rPr lang="en-US" sz="2300" b="1" dirty="0">
                <a:solidFill>
                  <a:srgbClr val="E2007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</a:t>
            </a:r>
            <a:endParaRPr lang="en-US" sz="2300" dirty="0"/>
          </a:p>
        </p:txBody>
      </p:sp>
      <p:sp>
        <p:nvSpPr>
          <p:cNvPr id="26" name="Text 23"/>
          <p:cNvSpPr/>
          <p:nvPr/>
        </p:nvSpPr>
        <p:spPr>
          <a:xfrm>
            <a:off x="2376711" y="2297609"/>
            <a:ext cx="80962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18"/>
              </a:lnSpc>
              <a:spcBef>
                <a:spcPts val="162"/>
              </a:spcBef>
              <a:buNone/>
            </a:pPr>
            <a:r>
              <a:rPr lang="en-US" sz="600" dirty="0">
                <a:solidFill>
                  <a:srgbClr val="55555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Failing endpoints</a:t>
            </a:r>
            <a:endParaRPr lang="en-US" sz="600" dirty="0"/>
          </a:p>
        </p:txBody>
      </p:sp>
      <p:sp>
        <p:nvSpPr>
          <p:cNvPr id="27" name="Shape 24"/>
          <p:cNvSpPr/>
          <p:nvPr/>
        </p:nvSpPr>
        <p:spPr>
          <a:xfrm>
            <a:off x="3551411" y="1983879"/>
            <a:ext cx="4763" cy="428625"/>
          </a:xfrm>
          <a:prstGeom prst="rect">
            <a:avLst/>
          </a:prstGeom>
          <a:solidFill>
            <a:srgbClr val="B0BEC5"/>
          </a:solidFill>
          <a:ln/>
        </p:spPr>
      </p:sp>
      <p:sp>
        <p:nvSpPr>
          <p:cNvPr id="28" name="Text 25"/>
          <p:cNvSpPr/>
          <p:nvPr/>
        </p:nvSpPr>
        <p:spPr>
          <a:xfrm>
            <a:off x="3921175" y="1984400"/>
            <a:ext cx="904875" cy="2905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4"/>
              </a:lnSpc>
              <a:buNone/>
            </a:pPr>
            <a:r>
              <a:rPr lang="en-US" sz="2300" b="1" dirty="0">
                <a:solidFill>
                  <a:srgbClr val="E2007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128</a:t>
            </a:r>
            <a:endParaRPr lang="en-US" sz="2300" dirty="0"/>
          </a:p>
        </p:txBody>
      </p:sp>
      <p:sp>
        <p:nvSpPr>
          <p:cNvPr id="29" name="Text 26"/>
          <p:cNvSpPr/>
          <p:nvPr/>
        </p:nvSpPr>
        <p:spPr>
          <a:xfrm>
            <a:off x="3921175" y="2297609"/>
            <a:ext cx="90487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18"/>
              </a:lnSpc>
              <a:spcBef>
                <a:spcPts val="162"/>
              </a:spcBef>
              <a:buNone/>
            </a:pPr>
            <a:r>
              <a:rPr lang="en-US" sz="600" dirty="0">
                <a:solidFill>
                  <a:srgbClr val="55555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bit AES key &amp; block</a:t>
            </a:r>
            <a:endParaRPr lang="en-US" sz="600" dirty="0"/>
          </a:p>
        </p:txBody>
      </p:sp>
      <p:sp>
        <p:nvSpPr>
          <p:cNvPr id="30" name="Shape 27"/>
          <p:cNvSpPr/>
          <p:nvPr/>
        </p:nvSpPr>
        <p:spPr>
          <a:xfrm>
            <a:off x="5191051" y="1983879"/>
            <a:ext cx="4763" cy="428625"/>
          </a:xfrm>
          <a:prstGeom prst="rect">
            <a:avLst/>
          </a:prstGeom>
          <a:solidFill>
            <a:srgbClr val="B0BEC5"/>
          </a:solidFill>
          <a:ln/>
        </p:spPr>
      </p:sp>
      <p:sp>
        <p:nvSpPr>
          <p:cNvPr id="31" name="Text 28"/>
          <p:cNvSpPr/>
          <p:nvPr/>
        </p:nvSpPr>
        <p:spPr>
          <a:xfrm>
            <a:off x="5561223" y="1984400"/>
            <a:ext cx="1160251" cy="2905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4"/>
              </a:lnSpc>
              <a:buNone/>
            </a:pPr>
            <a:r>
              <a:rPr lang="en-US" sz="2300" b="1" dirty="0">
                <a:solidFill>
                  <a:srgbClr val="E2007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2.784W</a:t>
            </a:r>
            <a:endParaRPr lang="en-US" sz="2300" dirty="0"/>
          </a:p>
        </p:txBody>
      </p:sp>
      <p:sp>
        <p:nvSpPr>
          <p:cNvPr id="32" name="Text 29"/>
          <p:cNvSpPr/>
          <p:nvPr/>
        </p:nvSpPr>
        <p:spPr>
          <a:xfrm>
            <a:off x="5561223" y="2297609"/>
            <a:ext cx="103822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18"/>
              </a:lnSpc>
              <a:spcBef>
                <a:spcPts val="162"/>
              </a:spcBef>
              <a:buNone/>
            </a:pPr>
            <a:r>
              <a:rPr lang="en-US" sz="600" dirty="0">
                <a:solidFill>
                  <a:srgbClr val="55555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Total on-chip power</a:t>
            </a:r>
            <a:endParaRPr lang="en-US" sz="600" dirty="0"/>
          </a:p>
        </p:txBody>
      </p:sp>
      <p:sp>
        <p:nvSpPr>
          <p:cNvPr id="33" name="Shape 30"/>
          <p:cNvSpPr/>
          <p:nvPr/>
        </p:nvSpPr>
        <p:spPr>
          <a:xfrm>
            <a:off x="6964859" y="1983879"/>
            <a:ext cx="4763" cy="428625"/>
          </a:xfrm>
          <a:prstGeom prst="rect">
            <a:avLst/>
          </a:prstGeom>
          <a:solidFill>
            <a:srgbClr val="B0BEC5"/>
          </a:solidFill>
          <a:ln/>
        </p:spPr>
      </p:sp>
      <p:sp>
        <p:nvSpPr>
          <p:cNvPr id="34" name="Text 31"/>
          <p:cNvSpPr/>
          <p:nvPr/>
        </p:nvSpPr>
        <p:spPr>
          <a:xfrm>
            <a:off x="7334585" y="1984400"/>
            <a:ext cx="952500" cy="2905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4"/>
              </a:lnSpc>
              <a:buNone/>
            </a:pPr>
            <a:r>
              <a:rPr lang="en-US" sz="2300" b="1" dirty="0">
                <a:solidFill>
                  <a:srgbClr val="E2007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57.1°C</a:t>
            </a:r>
            <a:endParaRPr lang="en-US" sz="2300" dirty="0"/>
          </a:p>
        </p:txBody>
      </p:sp>
      <p:sp>
        <p:nvSpPr>
          <p:cNvPr id="35" name="Text 32"/>
          <p:cNvSpPr/>
          <p:nvPr/>
        </p:nvSpPr>
        <p:spPr>
          <a:xfrm>
            <a:off x="7334585" y="2297609"/>
            <a:ext cx="952500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18"/>
              </a:lnSpc>
              <a:spcBef>
                <a:spcPts val="162"/>
              </a:spcBef>
              <a:buNone/>
            </a:pPr>
            <a:r>
              <a:rPr lang="en-US" sz="600" dirty="0">
                <a:solidFill>
                  <a:srgbClr val="55555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Junction temp (safe)</a:t>
            </a:r>
            <a:endParaRPr lang="en-US" sz="600" dirty="0"/>
          </a:p>
        </p:txBody>
      </p:sp>
      <p:sp>
        <p:nvSpPr>
          <p:cNvPr id="36" name="Shape 33"/>
          <p:cNvSpPr/>
          <p:nvPr/>
        </p:nvSpPr>
        <p:spPr>
          <a:xfrm>
            <a:off x="2376934" y="4575349"/>
            <a:ext cx="6310312" cy="361950"/>
          </a:xfrm>
          <a:prstGeom prst="rect">
            <a:avLst/>
          </a:prstGeom>
          <a:ln/>
        </p:spPr>
      </p:sp>
      <p:sp>
        <p:nvSpPr>
          <p:cNvPr id="37" name="Text 34"/>
          <p:cNvSpPr/>
          <p:nvPr/>
        </p:nvSpPr>
        <p:spPr>
          <a:xfrm>
            <a:off x="2377083" y="4656200"/>
            <a:ext cx="4810125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162"/>
              </a:spcAft>
              <a:buNone/>
            </a:pPr>
            <a:r>
              <a:rPr lang="en-US" sz="1000" dirty="0">
                <a:latin typeface="Space Mono" pitchFamily="34" charset="0"/>
                <a:ea typeface="Space Mono" pitchFamily="34" charset="-122"/>
                <a:cs typeface="Space Mono" pitchFamily="34" charset="-120"/>
              </a:rPr>
              <a:t>Lagineni Sreenithai · Raghavendra S M · Chandrakiran S M · Mulukuri Vallesh Nath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2377083" y="4814181"/>
            <a:ext cx="4810125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900" dirty="0">
                <a:latin typeface="Space Mono" pitchFamily="34" charset="0"/>
                <a:ea typeface="Space Mono" pitchFamily="34" charset="-122"/>
                <a:cs typeface="Space Mono" pitchFamily="34" charset="-120"/>
              </a:rPr>
              <a:t>Guide: Ms. Chaithra S | Department of Electronics &amp; Communication Engineering</a:t>
            </a:r>
            <a:endParaRPr lang="en-US" sz="900" dirty="0"/>
          </a:p>
        </p:txBody>
      </p:sp>
      <p:pic>
        <p:nvPicPr>
          <p:cNvPr id="4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9530" y="2518507"/>
            <a:ext cx="1552575" cy="1300163"/>
          </a:xfrm>
          <a:prstGeom prst="rect">
            <a:avLst/>
          </a:prstGeom>
        </p:spPr>
      </p:pic>
      <p:pic>
        <p:nvPicPr>
          <p:cNvPr id="4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76934" y="256170"/>
            <a:ext cx="6310312" cy="495300"/>
          </a:xfrm>
          <a:prstGeom prst="rect">
            <a:avLst/>
          </a:prstGeom>
        </p:spPr>
      </p:pic>
      <p:pic>
        <p:nvPicPr>
          <p:cNvPr id="4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77864" y="904838"/>
            <a:ext cx="3062287" cy="852488"/>
          </a:xfrm>
          <a:prstGeom prst="rect">
            <a:avLst/>
          </a:prstGeom>
        </p:spPr>
      </p:pic>
      <p:pic>
        <p:nvPicPr>
          <p:cNvPr id="4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23992" y="904838"/>
            <a:ext cx="3062287" cy="852488"/>
          </a:xfrm>
          <a:prstGeom prst="rect">
            <a:avLst/>
          </a:prstGeom>
        </p:spPr>
      </p:pic>
      <p:pic>
        <p:nvPicPr>
          <p:cNvPr id="4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76934" y="1886248"/>
            <a:ext cx="6310312" cy="623888"/>
          </a:xfrm>
          <a:prstGeom prst="rect">
            <a:avLst/>
          </a:prstGeom>
        </p:spPr>
      </p:pic>
      <p:pic>
        <p:nvPicPr>
          <p:cNvPr id="4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376934" y="4575349"/>
            <a:ext cx="6310312" cy="36195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0A07D2F6-4274-F977-9371-E5AF667F58E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7992" y="-101631"/>
            <a:ext cx="1005458" cy="1006263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D1EF8085-B7B3-17CA-A974-769EB2F955AE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18792" t="16493" r="19682" b="16402"/>
          <a:stretch>
            <a:fillRect/>
          </a:stretch>
        </p:blipFill>
        <p:spPr>
          <a:xfrm>
            <a:off x="0" y="904632"/>
            <a:ext cx="1916534" cy="139297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37012-7687-BB51-2431-76AAA8C23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B51F2C8-1276-AA3E-1E87-3961FD3B10C5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D032F66-AAD3-ADDF-526D-A1D28B2FF7C1}"/>
              </a:ext>
            </a:extLst>
          </p:cNvPr>
          <p:cNvSpPr/>
          <p:nvPr/>
        </p:nvSpPr>
        <p:spPr>
          <a:xfrm>
            <a:off x="0" y="-484"/>
            <a:ext cx="9144000" cy="52388"/>
          </a:xfrm>
          <a:prstGeom prst="rect">
            <a:avLst/>
          </a:prstGeom>
          <a:solidFill>
            <a:srgbClr val="E20074"/>
          </a:solidFill>
          <a:ln/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9FF839C-4AB0-690E-F033-43D28949C0B0}"/>
              </a:ext>
            </a:extLst>
          </p:cNvPr>
          <p:cNvSpPr/>
          <p:nvPr/>
        </p:nvSpPr>
        <p:spPr>
          <a:xfrm>
            <a:off x="930" y="0"/>
            <a:ext cx="2009775" cy="51435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A055BBA-9E9F-A213-1823-59AD77D8C067}"/>
              </a:ext>
            </a:extLst>
          </p:cNvPr>
          <p:cNvSpPr/>
          <p:nvPr/>
        </p:nvSpPr>
        <p:spPr>
          <a:xfrm>
            <a:off x="229530" y="256431"/>
            <a:ext cx="155257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dirty="0">
                <a:solidFill>
                  <a:srgbClr val="B0BEC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SECTION</a:t>
            </a:r>
            <a:endParaRPr lang="en-US" sz="7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F59836D-7020-4409-6DF3-29C26F39373D}"/>
              </a:ext>
            </a:extLst>
          </p:cNvPr>
          <p:cNvSpPr/>
          <p:nvPr/>
        </p:nvSpPr>
        <p:spPr>
          <a:xfrm>
            <a:off x="229530" y="429630"/>
            <a:ext cx="155257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spcBef>
                <a:spcPts val="162"/>
              </a:spcBef>
              <a:buNone/>
            </a:pPr>
            <a:r>
              <a:rPr lang="en-US" sz="900" dirty="0">
                <a:solidFill>
                  <a:srgbClr val="E2007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12 / 12</a:t>
            </a:r>
            <a:endParaRPr lang="en-US" sz="90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1D4D8310-C78F-8257-5453-2F1C3B7E476B}"/>
              </a:ext>
            </a:extLst>
          </p:cNvPr>
          <p:cNvSpPr/>
          <p:nvPr/>
        </p:nvSpPr>
        <p:spPr>
          <a:xfrm>
            <a:off x="2376934" y="256170"/>
            <a:ext cx="6310312" cy="495300"/>
          </a:xfrm>
          <a:prstGeom prst="rect">
            <a:avLst/>
          </a:prstGeom>
          <a:ln/>
        </p:spPr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8149B22D-1514-4048-D6BF-9E5654256B3D}"/>
              </a:ext>
            </a:extLst>
          </p:cNvPr>
          <p:cNvSpPr/>
          <p:nvPr/>
        </p:nvSpPr>
        <p:spPr>
          <a:xfrm>
            <a:off x="2376376" y="258105"/>
            <a:ext cx="3405446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40"/>
              </a:lnSpc>
              <a:buNone/>
            </a:pPr>
            <a:r>
              <a:rPr lang="en-US" sz="2100" b="1" dirty="0">
                <a:solidFill>
                  <a:srgbClr val="1E1E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CONFERENCE SUBMISSION</a:t>
            </a:r>
            <a:endParaRPr lang="en-US" sz="2100" dirty="0"/>
          </a:p>
        </p:txBody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7C98C1DE-AD81-0476-A3AF-531DA0EDC5A7}"/>
              </a:ext>
            </a:extLst>
          </p:cNvPr>
          <p:cNvSpPr/>
          <p:nvPr/>
        </p:nvSpPr>
        <p:spPr>
          <a:xfrm>
            <a:off x="2376934" y="4575349"/>
            <a:ext cx="6310312" cy="361950"/>
          </a:xfrm>
          <a:prstGeom prst="rect">
            <a:avLst/>
          </a:prstGeom>
          <a:ln/>
        </p:spPr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96A49481-1698-7FF3-02B6-51292905DCD9}"/>
              </a:ext>
            </a:extLst>
          </p:cNvPr>
          <p:cNvSpPr/>
          <p:nvPr/>
        </p:nvSpPr>
        <p:spPr>
          <a:xfrm>
            <a:off x="2377083" y="4656200"/>
            <a:ext cx="4810125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162"/>
              </a:spcAft>
              <a:buNone/>
            </a:pPr>
            <a:r>
              <a:rPr lang="en-US" sz="1000" dirty="0">
                <a:latin typeface="Space Mono" pitchFamily="34" charset="0"/>
                <a:ea typeface="Space Mono" pitchFamily="34" charset="-122"/>
                <a:cs typeface="Space Mono" pitchFamily="34" charset="-120"/>
              </a:rPr>
              <a:t>Lagineni Sreenithai · Raghavendra S M · Chandrakiran S M · Mulukuri Vallesh Nath</a:t>
            </a:r>
            <a:endParaRPr lang="en-US" sz="1000" dirty="0"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AB0D1543-BC6E-6F73-67B8-DD6B55CCB287}"/>
              </a:ext>
            </a:extLst>
          </p:cNvPr>
          <p:cNvSpPr/>
          <p:nvPr/>
        </p:nvSpPr>
        <p:spPr>
          <a:xfrm>
            <a:off x="2377083" y="4814181"/>
            <a:ext cx="4810125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900" dirty="0">
                <a:latin typeface="Space Mono" pitchFamily="34" charset="0"/>
                <a:ea typeface="Space Mono" pitchFamily="34" charset="-122"/>
                <a:cs typeface="Space Mono" pitchFamily="34" charset="-120"/>
              </a:rPr>
              <a:t>Guide: Ms. Chaithra S | Department of Electronics &amp; Communication Engineering</a:t>
            </a:r>
            <a:endParaRPr lang="en-US" sz="900" dirty="0"/>
          </a:p>
        </p:txBody>
      </p:sp>
      <p:pic>
        <p:nvPicPr>
          <p:cNvPr id="41" name="Image 2" descr="preencoded.png">
            <a:extLst>
              <a:ext uri="{FF2B5EF4-FFF2-40B4-BE49-F238E27FC236}">
                <a16:creationId xmlns:a16="http://schemas.microsoft.com/office/drawing/2014/main" id="{A1F223FC-BAC2-44CC-017C-5D1F4E7F5D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76934" y="256170"/>
            <a:ext cx="6310312" cy="495300"/>
          </a:xfrm>
          <a:prstGeom prst="rect">
            <a:avLst/>
          </a:prstGeom>
        </p:spPr>
      </p:pic>
      <p:pic>
        <p:nvPicPr>
          <p:cNvPr id="45" name="Image 6" descr="preencoded.png">
            <a:extLst>
              <a:ext uri="{FF2B5EF4-FFF2-40B4-BE49-F238E27FC236}">
                <a16:creationId xmlns:a16="http://schemas.microsoft.com/office/drawing/2014/main" id="{9DFFBDED-4FE2-09C6-E626-27CF997155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76934" y="4575349"/>
            <a:ext cx="6310312" cy="36195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E3ADA289-68DF-E907-BCF2-F97220FB37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7992" y="-101631"/>
            <a:ext cx="1005458" cy="1006263"/>
          </a:xfrm>
          <a:prstGeom prst="rect">
            <a:avLst/>
          </a:prstGeom>
        </p:spPr>
      </p:pic>
      <p:pic>
        <p:nvPicPr>
          <p:cNvPr id="7" name="Google Shape;537;p54">
            <a:extLst>
              <a:ext uri="{FF2B5EF4-FFF2-40B4-BE49-F238E27FC236}">
                <a16:creationId xmlns:a16="http://schemas.microsoft.com/office/drawing/2014/main" id="{0096A1E1-0CFB-FB60-799B-0B38BA5477B0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64509" y="1304251"/>
            <a:ext cx="6037345" cy="2534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9035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877</Words>
  <Application>Microsoft Office PowerPoint</Application>
  <PresentationFormat>On-screen Show (16:9)</PresentationFormat>
  <Paragraphs>190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Space Grotesk</vt:lpstr>
      <vt:lpstr>Space Mono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chandrakiran mithare</cp:lastModifiedBy>
  <cp:revision>14</cp:revision>
  <dcterms:created xsi:type="dcterms:W3CDTF">2026-05-01T13:13:25Z</dcterms:created>
  <dcterms:modified xsi:type="dcterms:W3CDTF">2026-05-02T07:07:43Z</dcterms:modified>
</cp:coreProperties>
</file>
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y="5143500" cx="9144000"/>
  <p:notesSz cx="6858000" cy="9144000"/>
  <p:embeddedFontLst>
    <p:embeddedFont>
      <p:font typeface="Robot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D5F3B5-7702-42B7-9A3D-AA3D50D7201B}">
  <a:tblStyle styleId="{75D5F3B5-7702-42B7-9A3D-AA3D50D7201B}"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20" Type="http://schemas.openxmlformats.org/officeDocument/2006/relationships/slide" Target="slides/slide13.xml"/><Relationship Id="rId41" Type="http://schemas.openxmlformats.org/officeDocument/2006/relationships/font" Target="fonts/Roboto-bold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Roboto-bold.fntdata"/><Relationship Id="rId16" Type="http://schemas.openxmlformats.org/officeDocument/2006/relationships/slide" Target="slides/slide9.xml"/><Relationship Id="rId38" Type="http://schemas.openxmlformats.org/officeDocument/2006/relationships/font" Target="fonts/Roboto-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2b7e2078d_2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b2b7e2078d_2_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2b7e2078d_2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b2b7e2078d_2_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2b7e2078d_2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b2b7e2078d_2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2c08169d5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g3b2c08169d5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b2b91c356b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g3b2b91c356b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b2b7e2078d_2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g3b2b7e2078d_2_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2b7e2078d_2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g3b2b7e2078d_2_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b2b7e2078d_2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g3b2b7e2078d_2_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b2b91c356b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g3b2b91c356b_0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b2b7e2078d_2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g3b2b7e2078d_2_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b2b91c356b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3b2b91c356b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b2b91c356b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g3b2b91c356b_0_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b2c08169d5_4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g3b2c08169d5_4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b2b7e2078d_2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g3b2b7e2078d_2_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b2bd25fbe5_0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g3b2bd25fbe5_0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b2b7e2078d_2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g3b2b7e2078d_2_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b2c08169d5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g3b2c08169d5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b2c08169d5_2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g3b2c08169d5_2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b2c08169d5_2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g3b2c08169d5_2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b2c08169d5_2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0" name="Google Shape;390;g3b2c08169d5_2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b2bd25fbe5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4" name="Google Shape;404;g3b2bd25fbe5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b2bd25fbe5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7" name="Google Shape;417;g3b2bd25fbe5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b2b7e2078d_2_2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0" name="Google Shape;430;g3b2b7e2078d_2_2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b2b7e2078d_2_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8" name="Google Shape;448;g3b2b7e2078d_2_2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b2b7e2078d_2_2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2" name="Google Shape;462;g3b2b7e2078d_2_2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b2b7e2078d_2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6" name="Google Shape;476;g3b2b7e2078d_2_2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b2b7e2078d_2_2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0" name="Google Shape;490;g3b2b7e2078d_2_2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b2b7e2078d_2_2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4" name="Google Shape;504;g3b2b7e2078d_2_2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b530219697_8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8" name="Google Shape;518;g3b530219697_8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b530219697_8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9" name="Google Shape;529;g3b530219697_8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22"/>
          <p:cNvSpPr/>
          <p:nvPr>
            <p:ph idx="2" type="pic"/>
          </p:nvPr>
        </p:nvSpPr>
        <p:spPr>
          <a:xfrm>
            <a:off x="3887391" y="740569"/>
            <a:ext cx="4629150" cy="3655219"/>
          </a:xfrm>
          <a:prstGeom prst="rect">
            <a:avLst/>
          </a:prstGeom>
          <a:noFill/>
          <a:ln>
            <a:noFill/>
          </a:ln>
        </p:spPr>
      </p:sp>
      <p:sp>
        <p:nvSpPr>
          <p:cNvPr id="109" name="Google Shape;109;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5" name="Google Shape;115;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24.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6.jpg"/><Relationship Id="rId6" Type="http://schemas.openxmlformats.org/officeDocument/2006/relationships/image" Target="../media/image20.jpg"/><Relationship Id="rId7"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2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2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6790" y="0"/>
            <a:ext cx="9144000" cy="51435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130" name="Google Shape;130;p25"/>
          <p:cNvPicPr preferRelativeResize="0"/>
          <p:nvPr/>
        </p:nvPicPr>
        <p:blipFill rotWithShape="1">
          <a:blip r:embed="rId3">
            <a:alphaModFix/>
          </a:blip>
          <a:srcRect b="2740" l="60" r="36200" t="-108"/>
          <a:stretch/>
        </p:blipFill>
        <p:spPr>
          <a:xfrm>
            <a:off x="6055675" y="2026351"/>
            <a:ext cx="3043320" cy="3117149"/>
          </a:xfrm>
          <a:custGeom>
            <a:rect b="b" l="l" r="r" t="t"/>
            <a:pathLst>
              <a:path extrusionOk="0" h="5825419" w="5919758">
                <a:moveTo>
                  <a:pt x="5919758" y="0"/>
                </a:moveTo>
                <a:lnTo>
                  <a:pt x="5919758" y="5825419"/>
                </a:lnTo>
                <a:lnTo>
                  <a:pt x="1120273" y="5825419"/>
                </a:lnTo>
                <a:lnTo>
                  <a:pt x="0" y="1588036"/>
                </a:lnTo>
                <a:close/>
              </a:path>
            </a:pathLst>
          </a:custGeom>
          <a:noFill/>
          <a:ln>
            <a:noFill/>
          </a:ln>
        </p:spPr>
      </p:pic>
      <p:sp>
        <p:nvSpPr>
          <p:cNvPr id="131" name="Google Shape;131;p25"/>
          <p:cNvSpPr txBox="1"/>
          <p:nvPr>
            <p:ph type="ctrTitle"/>
          </p:nvPr>
        </p:nvSpPr>
        <p:spPr>
          <a:xfrm>
            <a:off x="316793" y="4636424"/>
            <a:ext cx="6205451" cy="34464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1800"/>
              <a:buFont typeface="Calibri"/>
              <a:buNone/>
            </a:pPr>
            <a:r>
              <a:rPr b="1" i="1" lang="en-GB" sz="1800">
                <a:solidFill>
                  <a:schemeClr val="lt1"/>
                </a:solidFill>
                <a:latin typeface="Times New Roman"/>
                <a:ea typeface="Times New Roman"/>
                <a:cs typeface="Times New Roman"/>
                <a:sym typeface="Times New Roman"/>
              </a:rPr>
              <a:t>Department of  </a:t>
            </a:r>
            <a:r>
              <a:rPr b="1" lang="en-GB" sz="1800">
                <a:solidFill>
                  <a:schemeClr val="lt1"/>
                </a:solidFill>
                <a:latin typeface="Times New Roman"/>
                <a:ea typeface="Times New Roman"/>
                <a:cs typeface="Times New Roman"/>
                <a:sym typeface="Times New Roman"/>
              </a:rPr>
              <a:t>Electronics &amp; Communication Engineering</a:t>
            </a:r>
            <a:endParaRPr b="1" sz="1800">
              <a:solidFill>
                <a:schemeClr val="lt1"/>
              </a:solidFill>
              <a:latin typeface="Times New Roman"/>
              <a:ea typeface="Times New Roman"/>
              <a:cs typeface="Times New Roman"/>
              <a:sym typeface="Times New Roman"/>
            </a:endParaRPr>
          </a:p>
        </p:txBody>
      </p:sp>
      <p:sp>
        <p:nvSpPr>
          <p:cNvPr id="132" name="Google Shape;132;p25"/>
          <p:cNvSpPr/>
          <p:nvPr/>
        </p:nvSpPr>
        <p:spPr>
          <a:xfrm>
            <a:off x="438628" y="458889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133" name="Google Shape;133;p25"/>
          <p:cNvPicPr preferRelativeResize="0"/>
          <p:nvPr/>
        </p:nvPicPr>
        <p:blipFill rotWithShape="1">
          <a:blip r:embed="rId4">
            <a:alphaModFix/>
          </a:blip>
          <a:srcRect b="0" l="0" r="0" t="0"/>
          <a:stretch/>
        </p:blipFill>
        <p:spPr>
          <a:xfrm>
            <a:off x="220079" y="74948"/>
            <a:ext cx="1360328" cy="874655"/>
          </a:xfrm>
          <a:prstGeom prst="rect">
            <a:avLst/>
          </a:prstGeom>
          <a:noFill/>
          <a:ln>
            <a:noFill/>
          </a:ln>
        </p:spPr>
      </p:pic>
      <p:sp>
        <p:nvSpPr>
          <p:cNvPr id="134" name="Google Shape;134;p25"/>
          <p:cNvSpPr txBox="1"/>
          <p:nvPr/>
        </p:nvSpPr>
        <p:spPr>
          <a:xfrm>
            <a:off x="1841063" y="590000"/>
            <a:ext cx="5080500" cy="439500"/>
          </a:xfrm>
          <a:prstGeom prst="rect">
            <a:avLst/>
          </a:prstGeom>
          <a:noFill/>
          <a:ln>
            <a:noFill/>
          </a:ln>
        </p:spPr>
        <p:txBody>
          <a:bodyPr anchorCtr="0" anchor="b" bIns="34275" lIns="68575" spcFirstLastPara="1" rIns="68575" wrap="square" tIns="34275">
            <a:normAutofit/>
          </a:bodyPr>
          <a:lstStyle/>
          <a:p>
            <a:pPr indent="0" lvl="0" marL="0" marR="0" rtl="0" algn="r">
              <a:lnSpc>
                <a:spcPct val="90000"/>
              </a:lnSpc>
              <a:spcBef>
                <a:spcPts val="0"/>
              </a:spcBef>
              <a:spcAft>
                <a:spcPts val="0"/>
              </a:spcAft>
              <a:buClr>
                <a:schemeClr val="lt1"/>
              </a:buClr>
              <a:buSzPts val="2100"/>
              <a:buFont typeface="Calibri"/>
              <a:buNone/>
            </a:pPr>
            <a:r>
              <a:rPr b="1" i="0" lang="en-GB" sz="2100" u="none" cap="none" strike="noStrike">
                <a:solidFill>
                  <a:schemeClr val="lt1"/>
                </a:solidFill>
                <a:latin typeface="Times New Roman"/>
                <a:ea typeface="Times New Roman"/>
                <a:cs typeface="Times New Roman"/>
                <a:sym typeface="Times New Roman"/>
              </a:rPr>
              <a:t>Project Report Presentation 2024-25</a:t>
            </a:r>
            <a:r>
              <a:rPr b="1" i="0" lang="en-GB" sz="2100" u="none" cap="none" strike="noStrike">
                <a:solidFill>
                  <a:schemeClr val="lt1"/>
                </a:solidFill>
                <a:latin typeface="Times New Roman"/>
                <a:ea typeface="Times New Roman"/>
                <a:cs typeface="Times New Roman"/>
                <a:sym typeface="Times New Roman"/>
              </a:rPr>
              <a:t> </a:t>
            </a:r>
            <a:endParaRPr b="1" i="0" sz="2100" u="none" cap="none" strike="noStrike">
              <a:solidFill>
                <a:schemeClr val="lt1"/>
              </a:solidFill>
              <a:latin typeface="Times New Roman"/>
              <a:ea typeface="Times New Roman"/>
              <a:cs typeface="Times New Roman"/>
              <a:sym typeface="Times New Roman"/>
            </a:endParaRPr>
          </a:p>
        </p:txBody>
      </p:sp>
      <p:sp>
        <p:nvSpPr>
          <p:cNvPr id="135" name="Google Shape;135;p25"/>
          <p:cNvSpPr txBox="1"/>
          <p:nvPr/>
        </p:nvSpPr>
        <p:spPr>
          <a:xfrm>
            <a:off x="344769" y="3926791"/>
            <a:ext cx="4291658" cy="543907"/>
          </a:xfrm>
          <a:prstGeom prst="rect">
            <a:avLst/>
          </a:prstGeom>
          <a:noFill/>
          <a:ln>
            <a:noFill/>
          </a:ln>
        </p:spPr>
        <p:txBody>
          <a:bodyPr anchorCtr="0" anchor="b" bIns="34275" lIns="68575" spcFirstLastPara="1" rIns="68575" wrap="square" tIns="34275">
            <a:normAutofit lnSpcReduction="10000"/>
          </a:bodyPr>
          <a:lstStyle/>
          <a:p>
            <a:pPr indent="0" lvl="0" marL="0" marR="0" rtl="0" algn="l">
              <a:lnSpc>
                <a:spcPct val="90000"/>
              </a:lnSpc>
              <a:spcBef>
                <a:spcPts val="0"/>
              </a:spcBef>
              <a:spcAft>
                <a:spcPts val="0"/>
              </a:spcAft>
              <a:buClr>
                <a:srgbClr val="FFC000"/>
              </a:buClr>
              <a:buSzPts val="1800"/>
              <a:buFont typeface="Calibri"/>
              <a:buNone/>
            </a:pPr>
            <a:r>
              <a:rPr b="1" i="0" lang="en-GB" sz="1800" u="none" cap="none" strike="noStrike">
                <a:solidFill>
                  <a:srgbClr val="FFC000"/>
                </a:solidFill>
                <a:latin typeface="Times New Roman"/>
                <a:ea typeface="Times New Roman"/>
                <a:cs typeface="Times New Roman"/>
                <a:sym typeface="Times New Roman"/>
              </a:rPr>
              <a:t>Project Mentor:</a:t>
            </a:r>
            <a:endParaRPr b="0" i="0" sz="1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FFC000"/>
              </a:buClr>
              <a:buSzPts val="1800"/>
              <a:buFont typeface="Calibri"/>
              <a:buNone/>
            </a:pPr>
            <a:r>
              <a:rPr b="1" i="0" lang="en-GB" sz="1800" u="none" cap="none" strike="noStrike">
                <a:solidFill>
                  <a:srgbClr val="FFC000"/>
                </a:solidFill>
                <a:latin typeface="Times New Roman"/>
                <a:ea typeface="Times New Roman"/>
                <a:cs typeface="Times New Roman"/>
                <a:sym typeface="Times New Roman"/>
              </a:rPr>
              <a:t>Prof. CHAITHRA S	</a:t>
            </a:r>
            <a:endParaRPr b="0" i="0" sz="1100" u="none" cap="none" strike="noStrike">
              <a:solidFill>
                <a:srgbClr val="000000"/>
              </a:solidFill>
              <a:latin typeface="Times New Roman"/>
              <a:ea typeface="Times New Roman"/>
              <a:cs typeface="Times New Roman"/>
              <a:sym typeface="Times New Roman"/>
            </a:endParaRPr>
          </a:p>
        </p:txBody>
      </p:sp>
      <p:sp>
        <p:nvSpPr>
          <p:cNvPr id="136" name="Google Shape;136;p25"/>
          <p:cNvSpPr txBox="1"/>
          <p:nvPr/>
        </p:nvSpPr>
        <p:spPr>
          <a:xfrm>
            <a:off x="2094707" y="1629717"/>
            <a:ext cx="4941000" cy="439800"/>
          </a:xfrm>
          <a:prstGeom prst="rect">
            <a:avLst/>
          </a:prstGeom>
          <a:noFill/>
          <a:ln>
            <a:noFill/>
          </a:ln>
        </p:spPr>
        <p:txBody>
          <a:bodyPr anchorCtr="0" anchor="b" bIns="34275" lIns="68575" spcFirstLastPara="1" rIns="68575" wrap="square" tIns="34275">
            <a:normAutofit fontScale="77500"/>
          </a:bodyPr>
          <a:lstStyle/>
          <a:p>
            <a:pPr indent="0" lvl="0" marL="0" marR="0" rtl="0" algn="ctr">
              <a:lnSpc>
                <a:spcPct val="90000"/>
              </a:lnSpc>
              <a:spcBef>
                <a:spcPts val="0"/>
              </a:spcBef>
              <a:spcAft>
                <a:spcPts val="0"/>
              </a:spcAft>
              <a:buClr>
                <a:srgbClr val="FFFF00"/>
              </a:buClr>
              <a:buSzPct val="100000"/>
              <a:buFont typeface="Calibri"/>
              <a:buNone/>
            </a:pPr>
            <a:r>
              <a:rPr b="1" i="0" lang="en-GB" sz="2100" u="none" cap="none" strike="noStrike">
                <a:solidFill>
                  <a:srgbClr val="FFFF00"/>
                </a:solidFill>
                <a:latin typeface="Times New Roman"/>
                <a:ea typeface="Times New Roman"/>
                <a:cs typeface="Times New Roman"/>
                <a:sym typeface="Times New Roman"/>
              </a:rPr>
              <a:t>Subject: Project Work final presentation (BEC786)</a:t>
            </a:r>
            <a:endParaRPr b="1" i="0" sz="2100" u="none" cap="none" strike="noStrike">
              <a:solidFill>
                <a:srgbClr val="FFFF00"/>
              </a:solidFill>
              <a:latin typeface="Times New Roman"/>
              <a:ea typeface="Times New Roman"/>
              <a:cs typeface="Times New Roman"/>
              <a:sym typeface="Times New Roman"/>
            </a:endParaRPr>
          </a:p>
        </p:txBody>
      </p:sp>
      <p:pic>
        <p:nvPicPr>
          <p:cNvPr descr="C:\Users\bruser1729\AppData\Local\Microsoft\Windows\INetCache\Content.MSO\CEB9F6D2.tmp" id="137" name="Google Shape;137;p25"/>
          <p:cNvPicPr preferRelativeResize="0"/>
          <p:nvPr/>
        </p:nvPicPr>
        <p:blipFill rotWithShape="1">
          <a:blip r:embed="rId5">
            <a:alphaModFix/>
          </a:blip>
          <a:srcRect b="0" l="0" r="0" t="0"/>
          <a:stretch/>
        </p:blipFill>
        <p:spPr>
          <a:xfrm>
            <a:off x="7861040" y="193084"/>
            <a:ext cx="827983" cy="684335"/>
          </a:xfrm>
          <a:prstGeom prst="rect">
            <a:avLst/>
          </a:prstGeom>
          <a:noFill/>
          <a:ln>
            <a:noFill/>
          </a:ln>
        </p:spPr>
      </p:pic>
      <p:sp>
        <p:nvSpPr>
          <p:cNvPr id="138" name="Google Shape;138;p25"/>
          <p:cNvSpPr/>
          <p:nvPr/>
        </p:nvSpPr>
        <p:spPr>
          <a:xfrm>
            <a:off x="2558975" y="157265"/>
            <a:ext cx="4181400" cy="4398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B9BD4"/>
              </a:buClr>
              <a:buSzPts val="1400"/>
              <a:buFont typeface="Arial"/>
              <a:buNone/>
            </a:pPr>
            <a:r>
              <a:t/>
            </a:r>
            <a:endParaRPr b="1" i="0" sz="1400" u="none" cap="none" strike="noStrike">
              <a:solidFill>
                <a:srgbClr val="5B9BD4"/>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5B9BD4"/>
              </a:buClr>
              <a:buSzPts val="1400"/>
              <a:buFont typeface="Arial"/>
              <a:buNone/>
            </a:pPr>
            <a:r>
              <a:rPr b="1" i="0" lang="en-GB" sz="1400" u="none" cap="none" strike="noStrike">
                <a:solidFill>
                  <a:srgbClr val="5B9BD4"/>
                </a:solidFill>
                <a:latin typeface="Times New Roman"/>
                <a:ea typeface="Times New Roman"/>
                <a:cs typeface="Times New Roman"/>
                <a:sym typeface="Times New Roman"/>
              </a:rPr>
              <a:t>VISVESVARAYA TECHNOLOGICAL UNIVERSITY</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900"/>
              <a:buFont typeface="Arial"/>
              <a:buNone/>
            </a:pPr>
            <a:r>
              <a:rPr b="0" i="0" lang="en-GB" sz="900" u="none" cap="none" strike="noStrike">
                <a:solidFill>
                  <a:schemeClr val="lt1"/>
                </a:solidFill>
                <a:latin typeface="Times New Roman"/>
                <a:ea typeface="Times New Roman"/>
                <a:cs typeface="Times New Roman"/>
                <a:sym typeface="Times New Roman"/>
              </a:rPr>
              <a:t>JNANA SANGAMA, BELAGAVI-590018, KARNATAKA</a:t>
            </a:r>
            <a:endParaRPr b="0" i="0" sz="8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Times New Roman"/>
              <a:ea typeface="Times New Roman"/>
              <a:cs typeface="Times New Roman"/>
              <a:sym typeface="Times New Roman"/>
            </a:endParaRPr>
          </a:p>
        </p:txBody>
      </p:sp>
      <p:pic>
        <p:nvPicPr>
          <p:cNvPr descr="VTU_logo" id="139" name="Google Shape;139;p25"/>
          <p:cNvPicPr preferRelativeResize="0"/>
          <p:nvPr/>
        </p:nvPicPr>
        <p:blipFill rotWithShape="1">
          <a:blip r:embed="rId6">
            <a:alphaModFix/>
          </a:blip>
          <a:srcRect b="0" l="0" r="0" t="0"/>
          <a:stretch/>
        </p:blipFill>
        <p:spPr>
          <a:xfrm>
            <a:off x="4282312" y="1038775"/>
            <a:ext cx="529828" cy="650295"/>
          </a:xfrm>
          <a:prstGeom prst="rect">
            <a:avLst/>
          </a:prstGeom>
          <a:noFill/>
          <a:ln>
            <a:noFill/>
          </a:ln>
        </p:spPr>
      </p:pic>
      <p:sp>
        <p:nvSpPr>
          <p:cNvPr id="140" name="Google Shape;140;p25"/>
          <p:cNvSpPr txBox="1"/>
          <p:nvPr/>
        </p:nvSpPr>
        <p:spPr>
          <a:xfrm>
            <a:off x="2087171" y="2034853"/>
            <a:ext cx="4941000" cy="439800"/>
          </a:xfrm>
          <a:prstGeom prst="rect">
            <a:avLst/>
          </a:prstGeom>
          <a:noFill/>
          <a:ln>
            <a:noFill/>
          </a:ln>
        </p:spPr>
        <p:txBody>
          <a:bodyPr anchorCtr="0" anchor="b" bIns="34275" lIns="68575" spcFirstLastPara="1" rIns="68575" wrap="square" tIns="34275">
            <a:normAutofit lnSpcReduction="10000"/>
          </a:bodyPr>
          <a:lstStyle/>
          <a:p>
            <a:pPr indent="0" lvl="0" marL="0" marR="0" rtl="0" algn="ctr">
              <a:lnSpc>
                <a:spcPct val="90000"/>
              </a:lnSpc>
              <a:spcBef>
                <a:spcPts val="0"/>
              </a:spcBef>
              <a:spcAft>
                <a:spcPts val="0"/>
              </a:spcAft>
              <a:buClr>
                <a:srgbClr val="FFFF00"/>
              </a:buClr>
              <a:buSzPts val="1400"/>
              <a:buFont typeface="Calibri"/>
              <a:buNone/>
            </a:pPr>
            <a:r>
              <a:rPr b="1" i="0" lang="en-GB" sz="1400" u="none" cap="none" strike="noStrike">
                <a:solidFill>
                  <a:srgbClr val="FFFF00"/>
                </a:solidFill>
                <a:latin typeface="Times New Roman"/>
                <a:ea typeface="Times New Roman"/>
                <a:cs typeface="Times New Roman"/>
                <a:sym typeface="Times New Roman"/>
              </a:rPr>
              <a:t>TITLE : A FLEXIBLE FPGA APPROACH TO </a:t>
            </a:r>
            <a:br>
              <a:rPr b="1" i="0" lang="en-GB" sz="1400" u="none" cap="none" strike="noStrike">
                <a:solidFill>
                  <a:srgbClr val="FFFF00"/>
                </a:solidFill>
                <a:latin typeface="Times New Roman"/>
                <a:ea typeface="Times New Roman"/>
                <a:cs typeface="Times New Roman"/>
                <a:sym typeface="Times New Roman"/>
              </a:rPr>
            </a:br>
            <a:r>
              <a:rPr b="1" i="0" lang="en-GB" sz="1400" u="none" cap="none" strike="noStrike">
                <a:solidFill>
                  <a:srgbClr val="FFFF00"/>
                </a:solidFill>
                <a:latin typeface="Times New Roman"/>
                <a:ea typeface="Times New Roman"/>
                <a:cs typeface="Times New Roman"/>
                <a:sym typeface="Times New Roman"/>
              </a:rPr>
              <a:t>IMAGE CRYPTOGRAPHY</a:t>
            </a:r>
            <a:endParaRPr b="1" i="0" sz="1400" u="none" cap="none" strike="noStrike">
              <a:solidFill>
                <a:srgbClr val="FFFF00"/>
              </a:solidFill>
              <a:latin typeface="Times New Roman"/>
              <a:ea typeface="Times New Roman"/>
              <a:cs typeface="Times New Roman"/>
              <a:sym typeface="Times New Roman"/>
            </a:endParaRPr>
          </a:p>
        </p:txBody>
      </p:sp>
      <p:sp>
        <p:nvSpPr>
          <p:cNvPr id="141" name="Google Shape;141;p25"/>
          <p:cNvSpPr txBox="1"/>
          <p:nvPr/>
        </p:nvSpPr>
        <p:spPr>
          <a:xfrm>
            <a:off x="344769" y="2730097"/>
            <a:ext cx="4624200" cy="14451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rgbClr val="00B050"/>
                </a:solidFill>
                <a:latin typeface="Calibri"/>
                <a:ea typeface="Calibri"/>
                <a:cs typeface="Calibri"/>
                <a:sym typeface="Calibri"/>
              </a:rPr>
              <a:t>Project Group Number:19</a:t>
            </a:r>
            <a:endParaRPr b="0" i="0" sz="800" u="none" cap="none" strike="noStrike">
              <a:solidFill>
                <a:srgbClr val="000000"/>
              </a:solidFill>
              <a:latin typeface="Calibri"/>
              <a:ea typeface="Calibri"/>
              <a:cs typeface="Calibri"/>
              <a:sym typeface="Calibri"/>
            </a:endParaRPr>
          </a:p>
          <a:p>
            <a:pPr indent="-254000" lvl="0" marL="254000" marR="0" rtl="0" algn="l">
              <a:lnSpc>
                <a:spcPct val="90000"/>
              </a:lnSpc>
              <a:spcBef>
                <a:spcPts val="600"/>
              </a:spcBef>
              <a:spcAft>
                <a:spcPts val="0"/>
              </a:spcAft>
              <a:buClr>
                <a:srgbClr val="000000"/>
              </a:buClr>
              <a:buSzPts val="1800"/>
              <a:buFont typeface="Arial"/>
              <a:buNone/>
            </a:pPr>
            <a:r>
              <a:rPr b="1" i="0" lang="en-GB" sz="1800" u="none" cap="none" strike="noStrike">
                <a:solidFill>
                  <a:srgbClr val="00B050"/>
                </a:solidFill>
                <a:latin typeface="Calibri"/>
                <a:ea typeface="Calibri"/>
                <a:cs typeface="Calibri"/>
                <a:sym typeface="Calibri"/>
              </a:rPr>
              <a:t>RAGHAVENDRA S MASHYAL     1CD22EC133</a:t>
            </a:r>
            <a:endParaRPr b="0" i="0" sz="800" u="none" cap="none" strike="noStrike">
              <a:solidFill>
                <a:srgbClr val="000000"/>
              </a:solidFill>
              <a:latin typeface="Calibri"/>
              <a:ea typeface="Calibri"/>
              <a:cs typeface="Calibri"/>
              <a:sym typeface="Calibri"/>
            </a:endParaRPr>
          </a:p>
          <a:p>
            <a:pPr indent="-254000" lvl="0" marL="254000" marR="0" rtl="0" algn="l">
              <a:lnSpc>
                <a:spcPct val="90000"/>
              </a:lnSpc>
              <a:spcBef>
                <a:spcPts val="0"/>
              </a:spcBef>
              <a:spcAft>
                <a:spcPts val="0"/>
              </a:spcAft>
              <a:buClr>
                <a:srgbClr val="000000"/>
              </a:buClr>
              <a:buSzPts val="1800"/>
              <a:buFont typeface="Arial"/>
              <a:buNone/>
            </a:pPr>
            <a:r>
              <a:rPr b="1" i="0" lang="en-GB" sz="1800" u="none" cap="none" strike="noStrike">
                <a:solidFill>
                  <a:srgbClr val="00B050"/>
                </a:solidFill>
                <a:latin typeface="Calibri"/>
                <a:ea typeface="Calibri"/>
                <a:cs typeface="Calibri"/>
                <a:sym typeface="Calibri"/>
              </a:rPr>
              <a:t>LAGINENI SREENITHAI	            1CD22EC082</a:t>
            </a:r>
            <a:endParaRPr b="0" i="0" sz="800" u="none" cap="none" strike="noStrike">
              <a:solidFill>
                <a:srgbClr val="000000"/>
              </a:solidFill>
              <a:latin typeface="Calibri"/>
              <a:ea typeface="Calibri"/>
              <a:cs typeface="Calibri"/>
              <a:sym typeface="Calibri"/>
            </a:endParaRPr>
          </a:p>
          <a:p>
            <a:pPr indent="-254000" lvl="0" marL="254000" marR="0" rtl="0" algn="l">
              <a:lnSpc>
                <a:spcPct val="90000"/>
              </a:lnSpc>
              <a:spcBef>
                <a:spcPts val="0"/>
              </a:spcBef>
              <a:spcAft>
                <a:spcPts val="0"/>
              </a:spcAft>
              <a:buClr>
                <a:srgbClr val="000000"/>
              </a:buClr>
              <a:buSzPts val="1800"/>
              <a:buFont typeface="Arial"/>
              <a:buNone/>
            </a:pPr>
            <a:r>
              <a:rPr b="1" i="0" lang="en-GB" sz="1800" u="none" cap="none" strike="noStrike">
                <a:solidFill>
                  <a:srgbClr val="00B050"/>
                </a:solidFill>
                <a:latin typeface="Calibri"/>
                <a:ea typeface="Calibri"/>
                <a:cs typeface="Calibri"/>
                <a:sym typeface="Calibri"/>
              </a:rPr>
              <a:t>CHANDRAKIRAN S MITHARE	   1CD22EC034</a:t>
            </a:r>
            <a:endParaRPr b="0" i="0" sz="800" u="none" cap="none" strike="noStrike">
              <a:solidFill>
                <a:srgbClr val="000000"/>
              </a:solidFill>
              <a:latin typeface="Calibri"/>
              <a:ea typeface="Calibri"/>
              <a:cs typeface="Calibri"/>
              <a:sym typeface="Calibri"/>
            </a:endParaRPr>
          </a:p>
          <a:p>
            <a:pPr indent="-254000" lvl="0" marL="254000" marR="0" rtl="0" algn="l">
              <a:lnSpc>
                <a:spcPct val="90000"/>
              </a:lnSpc>
              <a:spcBef>
                <a:spcPts val="0"/>
              </a:spcBef>
              <a:spcAft>
                <a:spcPts val="0"/>
              </a:spcAft>
              <a:buClr>
                <a:srgbClr val="000000"/>
              </a:buClr>
              <a:buSzPts val="1800"/>
              <a:buFont typeface="Arial"/>
              <a:buNone/>
            </a:pPr>
            <a:r>
              <a:rPr b="1" i="0" lang="en-GB" sz="1800" u="none" cap="none" strike="noStrike">
                <a:solidFill>
                  <a:srgbClr val="00B050"/>
                </a:solidFill>
                <a:latin typeface="Calibri"/>
                <a:ea typeface="Calibri"/>
                <a:cs typeface="Calibri"/>
                <a:sym typeface="Calibri"/>
              </a:rPr>
              <a:t>MULUKURI VALLESH NATH       1CD22EC178</a:t>
            </a:r>
            <a:endParaRPr b="0" i="0" sz="800" u="none" cap="none" strike="noStrike">
              <a:solidFill>
                <a:srgbClr val="000000"/>
              </a:solidFill>
              <a:latin typeface="Calibri"/>
              <a:ea typeface="Calibri"/>
              <a:cs typeface="Calibri"/>
              <a:sym typeface="Calibri"/>
            </a:endParaRPr>
          </a:p>
          <a:p>
            <a:pPr indent="0" lvl="0" marL="177800" marR="0" rtl="0" algn="l">
              <a:lnSpc>
                <a:spcPct val="90000"/>
              </a:lnSpc>
              <a:spcBef>
                <a:spcPts val="600"/>
              </a:spcBef>
              <a:spcAft>
                <a:spcPts val="600"/>
              </a:spcAft>
              <a:buClr>
                <a:srgbClr val="000000"/>
              </a:buClr>
              <a:buSzPts val="1800"/>
              <a:buFont typeface="Arial"/>
              <a:buNone/>
            </a:pPr>
            <a:r>
              <a:rPr b="1" i="0" lang="en-GB" sz="1800" u="none" cap="none" strike="noStrike">
                <a:solidFill>
                  <a:srgbClr val="00B050"/>
                </a:solidFill>
                <a:latin typeface="Calibri"/>
                <a:ea typeface="Calibri"/>
                <a:cs typeface="Calibri"/>
                <a:sym typeface="Calibri"/>
              </a:rPr>
              <a:t> </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ctrTitle"/>
          </p:nvPr>
        </p:nvSpPr>
        <p:spPr>
          <a:xfrm>
            <a:off x="1847942" y="524215"/>
            <a:ext cx="3851366" cy="507492"/>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Times New Roman"/>
                <a:ea typeface="Times New Roman"/>
                <a:cs typeface="Times New Roman"/>
                <a:sym typeface="Times New Roman"/>
              </a:rPr>
              <a:t>TABLE OF CONTENTS</a:t>
            </a:r>
            <a:endParaRPr b="1" sz="2700">
              <a:solidFill>
                <a:srgbClr val="000A30"/>
              </a:solidFill>
              <a:latin typeface="Times New Roman"/>
              <a:ea typeface="Times New Roman"/>
              <a:cs typeface="Times New Roman"/>
              <a:sym typeface="Times New Roman"/>
            </a:endParaRPr>
          </a:p>
        </p:txBody>
      </p:sp>
      <p:sp>
        <p:nvSpPr>
          <p:cNvPr id="147" name="Google Shape;147;p26"/>
          <p:cNvSpPr txBox="1"/>
          <p:nvPr/>
        </p:nvSpPr>
        <p:spPr>
          <a:xfrm>
            <a:off x="1915173" y="1307896"/>
            <a:ext cx="6653970" cy="3161216"/>
          </a:xfrm>
          <a:prstGeom prst="rect">
            <a:avLst/>
          </a:prstGeom>
          <a:noFill/>
          <a:ln>
            <a:noFill/>
          </a:ln>
        </p:spPr>
        <p:txBody>
          <a:bodyPr anchorCtr="0" anchor="t" bIns="34275" lIns="68575" spcFirstLastPara="1" rIns="68575" wrap="square" tIns="34275">
            <a:normAutofit fontScale="70000" lnSpcReduction="20000"/>
          </a:bodyPr>
          <a:lstStyle/>
          <a:p>
            <a:pPr indent="-346710" lvl="0" marL="342900" marR="0" rtl="0" algn="l">
              <a:lnSpc>
                <a:spcPct val="100000"/>
              </a:lnSpc>
              <a:spcBef>
                <a:spcPts val="0"/>
              </a:spcBef>
              <a:spcAft>
                <a:spcPts val="0"/>
              </a:spcAft>
              <a:buClr>
                <a:schemeClr val="dk1"/>
              </a:buClr>
              <a:buSzPct val="100000"/>
              <a:buFont typeface="Arial"/>
              <a:buAutoNum type="arabicPeriod"/>
            </a:pPr>
            <a:r>
              <a:rPr b="0" i="0" lang="en-GB" sz="1800" u="none" cap="none" strike="noStrike">
                <a:solidFill>
                  <a:schemeClr val="dk1"/>
                </a:solidFill>
                <a:latin typeface="Times New Roman"/>
                <a:ea typeface="Times New Roman"/>
                <a:cs typeface="Times New Roman"/>
                <a:sym typeface="Times New Roman"/>
              </a:rPr>
              <a:t>ABSTRACT</a:t>
            </a:r>
            <a:endParaRPr b="0" i="0" sz="1100" u="none" cap="none" strike="noStrike">
              <a:solidFill>
                <a:srgbClr val="000000"/>
              </a:solidFill>
              <a:latin typeface="Times New Roman"/>
              <a:ea typeface="Times New Roman"/>
              <a:cs typeface="Times New Roman"/>
              <a:sym typeface="Times New Roman"/>
            </a:endParaRPr>
          </a:p>
          <a:p>
            <a:pPr indent="-346710" lvl="0" marL="342900" marR="0" rtl="0" algn="l">
              <a:lnSpc>
                <a:spcPct val="100000"/>
              </a:lnSpc>
              <a:spcBef>
                <a:spcPts val="800"/>
              </a:spcBef>
              <a:spcAft>
                <a:spcPts val="0"/>
              </a:spcAft>
              <a:buClr>
                <a:schemeClr val="dk1"/>
              </a:buClr>
              <a:buSzPct val="100000"/>
              <a:buFont typeface="Arial"/>
              <a:buAutoNum type="arabicPeriod"/>
            </a:pPr>
            <a:r>
              <a:rPr b="0" i="0" lang="en-GB" sz="1800" u="none" cap="none" strike="noStrike">
                <a:solidFill>
                  <a:schemeClr val="dk1"/>
                </a:solidFill>
                <a:latin typeface="Times New Roman"/>
                <a:ea typeface="Times New Roman"/>
                <a:cs typeface="Times New Roman"/>
                <a:sym typeface="Times New Roman"/>
              </a:rPr>
              <a:t>INTRODUCTION </a:t>
            </a:r>
            <a:endParaRPr b="0" i="0" sz="1100" u="none" cap="none" strike="noStrike">
              <a:solidFill>
                <a:srgbClr val="000000"/>
              </a:solidFill>
              <a:latin typeface="Times New Roman"/>
              <a:ea typeface="Times New Roman"/>
              <a:cs typeface="Times New Roman"/>
              <a:sym typeface="Times New Roman"/>
            </a:endParaRPr>
          </a:p>
          <a:p>
            <a:pPr indent="-346710" lvl="0" marL="342900" marR="0" rtl="0" algn="l">
              <a:lnSpc>
                <a:spcPct val="100000"/>
              </a:lnSpc>
              <a:spcBef>
                <a:spcPts val="800"/>
              </a:spcBef>
              <a:spcAft>
                <a:spcPts val="0"/>
              </a:spcAft>
              <a:buClr>
                <a:schemeClr val="dk1"/>
              </a:buClr>
              <a:buSzPct val="100000"/>
              <a:buFont typeface="Arial"/>
              <a:buAutoNum type="arabicPeriod"/>
            </a:pPr>
            <a:r>
              <a:rPr b="0" i="0" lang="en-GB" sz="1800" u="none" cap="none" strike="noStrike">
                <a:solidFill>
                  <a:schemeClr val="dk1"/>
                </a:solidFill>
                <a:latin typeface="Times New Roman"/>
                <a:ea typeface="Times New Roman"/>
                <a:cs typeface="Times New Roman"/>
                <a:sym typeface="Times New Roman"/>
              </a:rPr>
              <a:t>LITERATURE SURVEY</a:t>
            </a:r>
            <a:endParaRPr b="0" i="0" sz="1100" u="none" cap="none" strike="noStrike">
              <a:solidFill>
                <a:srgbClr val="000000"/>
              </a:solidFill>
              <a:latin typeface="Times New Roman"/>
              <a:ea typeface="Times New Roman"/>
              <a:cs typeface="Times New Roman"/>
              <a:sym typeface="Times New Roman"/>
            </a:endParaRPr>
          </a:p>
          <a:p>
            <a:pPr indent="-346710" lvl="0" marL="342900" marR="0" rtl="0" algn="l">
              <a:lnSpc>
                <a:spcPct val="100000"/>
              </a:lnSpc>
              <a:spcBef>
                <a:spcPts val="800"/>
              </a:spcBef>
              <a:spcAft>
                <a:spcPts val="0"/>
              </a:spcAft>
              <a:buClr>
                <a:schemeClr val="dk1"/>
              </a:buClr>
              <a:buSzPct val="100000"/>
              <a:buFont typeface="Arial"/>
              <a:buAutoNum type="arabicPeriod"/>
            </a:pPr>
            <a:r>
              <a:rPr b="0" i="0" lang="en-GB" sz="1800" u="none" cap="none" strike="noStrike">
                <a:solidFill>
                  <a:schemeClr val="dk1"/>
                </a:solidFill>
                <a:latin typeface="Times New Roman"/>
                <a:ea typeface="Times New Roman"/>
                <a:cs typeface="Times New Roman"/>
                <a:sym typeface="Times New Roman"/>
              </a:rPr>
              <a:t>BLOCK DIAGRAM OF  PROJECT</a:t>
            </a:r>
            <a:endParaRPr b="0" i="0" sz="1100" u="none" cap="none" strike="noStrike">
              <a:solidFill>
                <a:srgbClr val="000000"/>
              </a:solidFill>
              <a:latin typeface="Times New Roman"/>
              <a:ea typeface="Times New Roman"/>
              <a:cs typeface="Times New Roman"/>
              <a:sym typeface="Times New Roman"/>
            </a:endParaRPr>
          </a:p>
          <a:p>
            <a:pPr indent="-346710" lvl="0" marL="342900" marR="0" rtl="0" algn="l">
              <a:lnSpc>
                <a:spcPct val="100000"/>
              </a:lnSpc>
              <a:spcBef>
                <a:spcPts val="800"/>
              </a:spcBef>
              <a:spcAft>
                <a:spcPts val="0"/>
              </a:spcAft>
              <a:buClr>
                <a:schemeClr val="dk1"/>
              </a:buClr>
              <a:buSzPct val="100000"/>
              <a:buFont typeface="Arial"/>
              <a:buAutoNum type="arabicPeriod"/>
            </a:pPr>
            <a:r>
              <a:rPr b="0" i="0" lang="en-GB" sz="1800" u="none" cap="none" strike="noStrike">
                <a:solidFill>
                  <a:schemeClr val="dk1"/>
                </a:solidFill>
                <a:latin typeface="Times New Roman"/>
                <a:ea typeface="Times New Roman"/>
                <a:cs typeface="Times New Roman"/>
                <a:sym typeface="Times New Roman"/>
              </a:rPr>
              <a:t>METHODOLOGY</a:t>
            </a:r>
            <a:endParaRPr b="0" i="0" sz="1100" u="none" cap="none" strike="noStrike">
              <a:solidFill>
                <a:srgbClr val="000000"/>
              </a:solidFill>
              <a:latin typeface="Times New Roman"/>
              <a:ea typeface="Times New Roman"/>
              <a:cs typeface="Times New Roman"/>
              <a:sym typeface="Times New Roman"/>
            </a:endParaRPr>
          </a:p>
          <a:p>
            <a:pPr indent="-346710" lvl="0" marL="342900" marR="0" rtl="0" algn="l">
              <a:lnSpc>
                <a:spcPct val="100000"/>
              </a:lnSpc>
              <a:spcBef>
                <a:spcPts val="800"/>
              </a:spcBef>
              <a:spcAft>
                <a:spcPts val="0"/>
              </a:spcAft>
              <a:buClr>
                <a:schemeClr val="dk1"/>
              </a:buClr>
              <a:buSzPct val="100000"/>
              <a:buFont typeface="Arial"/>
              <a:buAutoNum type="arabicPeriod"/>
            </a:pPr>
            <a:r>
              <a:rPr b="0" i="0" lang="en-GB" sz="1800" u="none" cap="none" strike="noStrike">
                <a:solidFill>
                  <a:schemeClr val="dk1"/>
                </a:solidFill>
                <a:latin typeface="Times New Roman"/>
                <a:ea typeface="Times New Roman"/>
                <a:cs typeface="Times New Roman"/>
                <a:sym typeface="Times New Roman"/>
              </a:rPr>
              <a:t>COMPONENTS REQUIRED</a:t>
            </a:r>
            <a:endParaRPr b="0" i="0" sz="1100" u="none" cap="none" strike="noStrike">
              <a:solidFill>
                <a:srgbClr val="000000"/>
              </a:solidFill>
              <a:latin typeface="Times New Roman"/>
              <a:ea typeface="Times New Roman"/>
              <a:cs typeface="Times New Roman"/>
              <a:sym typeface="Times New Roman"/>
            </a:endParaRPr>
          </a:p>
          <a:p>
            <a:pPr indent="-346710" lvl="0" marL="342900" marR="0" rtl="0" algn="l">
              <a:lnSpc>
                <a:spcPct val="100000"/>
              </a:lnSpc>
              <a:spcBef>
                <a:spcPts val="800"/>
              </a:spcBef>
              <a:spcAft>
                <a:spcPts val="0"/>
              </a:spcAft>
              <a:buClr>
                <a:schemeClr val="dk1"/>
              </a:buClr>
              <a:buSzPct val="100000"/>
              <a:buFont typeface="Arial"/>
              <a:buAutoNum type="arabicPeriod"/>
            </a:pPr>
            <a:r>
              <a:rPr b="0" i="0" lang="en-GB" sz="1800" u="none" cap="none" strike="noStrike">
                <a:solidFill>
                  <a:schemeClr val="dk1"/>
                </a:solidFill>
                <a:latin typeface="Times New Roman"/>
                <a:ea typeface="Times New Roman"/>
                <a:cs typeface="Times New Roman"/>
                <a:sym typeface="Times New Roman"/>
              </a:rPr>
              <a:t>FLOW CHART</a:t>
            </a:r>
            <a:endParaRPr sz="1800">
              <a:solidFill>
                <a:schemeClr val="dk1"/>
              </a:solidFill>
              <a:latin typeface="Times New Roman"/>
              <a:ea typeface="Times New Roman"/>
              <a:cs typeface="Times New Roman"/>
              <a:sym typeface="Times New Roman"/>
            </a:endParaRPr>
          </a:p>
          <a:p>
            <a:pPr indent="-346710" lvl="0" marL="342900" marR="0" rtl="0" algn="l">
              <a:lnSpc>
                <a:spcPct val="100000"/>
              </a:lnSpc>
              <a:spcBef>
                <a:spcPts val="800"/>
              </a:spcBef>
              <a:spcAft>
                <a:spcPts val="0"/>
              </a:spcAft>
              <a:buClr>
                <a:schemeClr val="dk1"/>
              </a:buClr>
              <a:buSzPct val="100000"/>
              <a:buFont typeface="Times New Roman"/>
              <a:buAutoNum type="arabicPeriod"/>
            </a:pPr>
            <a:r>
              <a:rPr lang="en-GB" sz="1800">
                <a:solidFill>
                  <a:schemeClr val="dk1"/>
                </a:solidFill>
                <a:latin typeface="Times New Roman"/>
                <a:ea typeface="Times New Roman"/>
                <a:cs typeface="Times New Roman"/>
                <a:sym typeface="Times New Roman"/>
              </a:rPr>
              <a:t>PYTHON IMPLEMENTATION</a:t>
            </a:r>
            <a:endParaRPr sz="1800">
              <a:solidFill>
                <a:schemeClr val="dk1"/>
              </a:solidFill>
              <a:latin typeface="Times New Roman"/>
              <a:ea typeface="Times New Roman"/>
              <a:cs typeface="Times New Roman"/>
              <a:sym typeface="Times New Roman"/>
            </a:endParaRPr>
          </a:p>
          <a:p>
            <a:pPr indent="-346710" lvl="0" marL="342900" marR="0" rtl="0" algn="l">
              <a:lnSpc>
                <a:spcPct val="100000"/>
              </a:lnSpc>
              <a:spcBef>
                <a:spcPts val="800"/>
              </a:spcBef>
              <a:spcAft>
                <a:spcPts val="0"/>
              </a:spcAft>
              <a:buClr>
                <a:schemeClr val="dk1"/>
              </a:buClr>
              <a:buSzPct val="100000"/>
              <a:buFont typeface="Arial"/>
              <a:buAutoNum type="arabicPeriod"/>
            </a:pPr>
            <a:r>
              <a:rPr b="0" i="0" lang="en-GB" sz="1800" u="none" cap="none" strike="noStrike">
                <a:solidFill>
                  <a:schemeClr val="dk1"/>
                </a:solidFill>
                <a:latin typeface="Times New Roman"/>
                <a:ea typeface="Times New Roman"/>
                <a:cs typeface="Times New Roman"/>
                <a:sym typeface="Times New Roman"/>
              </a:rPr>
              <a:t>OUTCOME</a:t>
            </a:r>
            <a:endParaRPr b="0" i="0" sz="1100" u="none" cap="none" strike="noStrike">
              <a:solidFill>
                <a:srgbClr val="000000"/>
              </a:solidFill>
              <a:latin typeface="Times New Roman"/>
              <a:ea typeface="Times New Roman"/>
              <a:cs typeface="Times New Roman"/>
              <a:sym typeface="Times New Roman"/>
            </a:endParaRPr>
          </a:p>
          <a:p>
            <a:pPr indent="-346710" lvl="0" marL="342900" marR="0" rtl="0" algn="l">
              <a:lnSpc>
                <a:spcPct val="100000"/>
              </a:lnSpc>
              <a:spcBef>
                <a:spcPts val="800"/>
              </a:spcBef>
              <a:spcAft>
                <a:spcPts val="0"/>
              </a:spcAft>
              <a:buClr>
                <a:schemeClr val="dk1"/>
              </a:buClr>
              <a:buSzPct val="100000"/>
              <a:buFont typeface="Arial"/>
              <a:buAutoNum type="arabicPeriod"/>
            </a:pPr>
            <a:r>
              <a:rPr b="0" i="0" lang="en-GB" sz="1800" u="none" cap="none" strike="noStrike">
                <a:solidFill>
                  <a:schemeClr val="dk1"/>
                </a:solidFill>
                <a:latin typeface="Times New Roman"/>
                <a:ea typeface="Times New Roman"/>
                <a:cs typeface="Times New Roman"/>
                <a:sym typeface="Times New Roman"/>
              </a:rPr>
              <a:t>APPLICATION</a:t>
            </a:r>
            <a:endParaRPr b="0" i="0" sz="1800" u="none" cap="none" strike="noStrike">
              <a:solidFill>
                <a:schemeClr val="dk1"/>
              </a:solidFill>
              <a:latin typeface="Times New Roman"/>
              <a:ea typeface="Times New Roman"/>
              <a:cs typeface="Times New Roman"/>
              <a:sym typeface="Times New Roman"/>
            </a:endParaRPr>
          </a:p>
          <a:p>
            <a:pPr indent="-346710" lvl="0" marL="342900" marR="0" rtl="0" algn="l">
              <a:lnSpc>
                <a:spcPct val="100000"/>
              </a:lnSpc>
              <a:spcBef>
                <a:spcPts val="800"/>
              </a:spcBef>
              <a:spcAft>
                <a:spcPts val="0"/>
              </a:spcAft>
              <a:buClr>
                <a:schemeClr val="dk1"/>
              </a:buClr>
              <a:buSzPct val="100000"/>
              <a:buFont typeface="Arial"/>
              <a:buAutoNum type="arabicPeriod"/>
            </a:pPr>
            <a:r>
              <a:rPr b="0" i="0" lang="en-GB" sz="1800" u="none" cap="none" strike="noStrike">
                <a:solidFill>
                  <a:schemeClr val="dk1"/>
                </a:solidFill>
                <a:latin typeface="Times New Roman"/>
                <a:ea typeface="Times New Roman"/>
                <a:cs typeface="Times New Roman"/>
                <a:sym typeface="Times New Roman"/>
              </a:rPr>
              <a:t>CONCLUSION</a:t>
            </a:r>
            <a:endParaRPr b="0" i="0" sz="1800" u="none" cap="none" strike="noStrike">
              <a:solidFill>
                <a:schemeClr val="dk1"/>
              </a:solidFill>
              <a:latin typeface="Times New Roman"/>
              <a:ea typeface="Times New Roman"/>
              <a:cs typeface="Times New Roman"/>
              <a:sym typeface="Times New Roman"/>
            </a:endParaRPr>
          </a:p>
          <a:p>
            <a:pPr indent="-346710" lvl="0" marL="342900" marR="0" rtl="0" algn="l">
              <a:lnSpc>
                <a:spcPct val="100000"/>
              </a:lnSpc>
              <a:spcBef>
                <a:spcPts val="800"/>
              </a:spcBef>
              <a:spcAft>
                <a:spcPts val="0"/>
              </a:spcAft>
              <a:buClr>
                <a:schemeClr val="dk1"/>
              </a:buClr>
              <a:buSzPct val="100000"/>
              <a:buFont typeface="Arial"/>
              <a:buAutoNum type="arabicPeriod"/>
            </a:pPr>
            <a:r>
              <a:rPr b="0" i="0" lang="en-GB" sz="1800" u="none" cap="none" strike="noStrike">
                <a:solidFill>
                  <a:schemeClr val="dk1"/>
                </a:solidFill>
                <a:latin typeface="Times New Roman"/>
                <a:ea typeface="Times New Roman"/>
                <a:cs typeface="Times New Roman"/>
                <a:sym typeface="Times New Roman"/>
              </a:rPr>
              <a:t>REFERENCES</a:t>
            </a:r>
            <a:endParaRPr b="0" i="0" sz="1100" u="none" cap="none" strike="noStrike">
              <a:solidFill>
                <a:srgbClr val="000000"/>
              </a:solidFill>
              <a:latin typeface="Times New Roman"/>
              <a:ea typeface="Times New Roman"/>
              <a:cs typeface="Times New Roman"/>
              <a:sym typeface="Times New Roman"/>
            </a:endParaRPr>
          </a:p>
        </p:txBody>
      </p:sp>
      <p:sp>
        <p:nvSpPr>
          <p:cNvPr id="148" name="Google Shape;148;p26"/>
          <p:cNvSpPr/>
          <p:nvPr/>
        </p:nvSpPr>
        <p:spPr>
          <a:xfrm>
            <a:off x="376517" y="0"/>
            <a:ext cx="1284643" cy="127747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149" name="Google Shape;149;p26"/>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150" name="Google Shape;150;p26"/>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151" name="Google Shape;151;p26"/>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152" name="Google Shape;152;p26"/>
          <p:cNvSpPr txBox="1"/>
          <p:nvPr/>
        </p:nvSpPr>
        <p:spPr>
          <a:xfrm>
            <a:off x="6243638" y="4773205"/>
            <a:ext cx="2764631" cy="27699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Project Work Phase 2 (BEC786)</a:t>
            </a:r>
            <a:endParaRPr b="1" i="0" sz="1400" u="none" cap="none" strike="noStrike">
              <a:solidFill>
                <a:schemeClr val="lt1"/>
              </a:solidFill>
              <a:latin typeface="Times New Roman"/>
              <a:ea typeface="Times New Roman"/>
              <a:cs typeface="Times New Roman"/>
              <a:sym typeface="Times New Roman"/>
            </a:endParaRPr>
          </a:p>
        </p:txBody>
      </p:sp>
      <p:sp>
        <p:nvSpPr>
          <p:cNvPr id="153" name="Google Shape;153;p26"/>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pic>
        <p:nvPicPr>
          <p:cNvPr descr="VTU_logo" id="154" name="Google Shape;154;p26"/>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ctrTitle"/>
          </p:nvPr>
        </p:nvSpPr>
        <p:spPr>
          <a:xfrm>
            <a:off x="1847942" y="524215"/>
            <a:ext cx="3851366" cy="507492"/>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Times New Roman"/>
                <a:ea typeface="Times New Roman"/>
                <a:cs typeface="Times New Roman"/>
                <a:sym typeface="Times New Roman"/>
              </a:rPr>
              <a:t>ABSTRACT</a:t>
            </a:r>
            <a:endParaRPr b="1" sz="2700">
              <a:solidFill>
                <a:srgbClr val="000A30"/>
              </a:solidFill>
              <a:latin typeface="Times New Roman"/>
              <a:ea typeface="Times New Roman"/>
              <a:cs typeface="Times New Roman"/>
              <a:sym typeface="Times New Roman"/>
            </a:endParaRPr>
          </a:p>
        </p:txBody>
      </p:sp>
      <p:sp>
        <p:nvSpPr>
          <p:cNvPr id="160" name="Google Shape;160;p27"/>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161" name="Google Shape;161;p27"/>
          <p:cNvSpPr txBox="1"/>
          <p:nvPr/>
        </p:nvSpPr>
        <p:spPr>
          <a:xfrm>
            <a:off x="6695025" y="4773200"/>
            <a:ext cx="2037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162" name="Google Shape;162;p27"/>
          <p:cNvSpPr/>
          <p:nvPr/>
        </p:nvSpPr>
        <p:spPr>
          <a:xfrm>
            <a:off x="376517" y="0"/>
            <a:ext cx="1284643" cy="127747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163" name="Google Shape;163;p27"/>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164" name="Google Shape;164;p27"/>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165" name="Google Shape;165;p27"/>
          <p:cNvSpPr txBox="1"/>
          <p:nvPr/>
        </p:nvSpPr>
        <p:spPr>
          <a:xfrm>
            <a:off x="376525" y="1452875"/>
            <a:ext cx="8555400" cy="2894100"/>
          </a:xfrm>
          <a:prstGeom prst="rect">
            <a:avLst/>
          </a:prstGeom>
          <a:noFill/>
          <a:ln>
            <a:noFill/>
          </a:ln>
        </p:spPr>
        <p:txBody>
          <a:bodyPr anchorCtr="0" anchor="t" bIns="34275" lIns="68575" spcFirstLastPara="1" rIns="68575" wrap="square" tIns="34275">
            <a:noAutofit/>
          </a:bodyPr>
          <a:lstStyle/>
          <a:p>
            <a:pPr indent="0" lvl="0" marL="0" marR="0" rtl="0" algn="just">
              <a:lnSpc>
                <a:spcPct val="150000"/>
              </a:lnSpc>
              <a:spcBef>
                <a:spcPts val="0"/>
              </a:spcBef>
              <a:spcAft>
                <a:spcPts val="0"/>
              </a:spcAft>
              <a:buNone/>
            </a:pPr>
            <a:r>
              <a:rPr lang="en-GB" sz="1200">
                <a:latin typeface="Times New Roman"/>
                <a:ea typeface="Times New Roman"/>
                <a:cs typeface="Times New Roman"/>
                <a:sym typeface="Times New Roman"/>
              </a:rPr>
              <a:t>In the rapidly evolving landscape of digital media, ensuring the confidentiality and integrity of image transmission has become a critical priority, particularly within medical diagnostics, industrial surveillance, and IoT networks. Traditional software-based encryption methods often face significant bottlenecks when run on General-Purpose Processors (GPPs), failing to meet the strict latency and throughput requirements of modern real-time systems. To address these limitations, this project presents a robust Hardware/Software Co-design cryptography scheme implemented on the PYNQ-Z2 development board. By leveraging the Xilinx Vivado High-Level Synthesis (HLS) toolchain, computationally intensive encryption algorithms are transformed from C++ into optimized Register Transfer Level (RTL) logic. This allows the system to offload block-based image processing directly onto the Programmable Logic (PL), utilizing the FPGA’s massive parallelism to bypass the sequential processing overhead of standard CPUs. A high-bandwidth AXI Direct Memory Access (DMA) architecture is employed to establish a seamless data pipeline, ensuring that image data flows continuously between the processing system and the hardware accelerator without stalling. </a:t>
            </a:r>
            <a:endParaRPr sz="1200">
              <a:latin typeface="Times New Roman"/>
              <a:ea typeface="Times New Roman"/>
              <a:cs typeface="Times New Roman"/>
              <a:sym typeface="Times New Roman"/>
            </a:endParaRPr>
          </a:p>
        </p:txBody>
      </p:sp>
      <p:sp>
        <p:nvSpPr>
          <p:cNvPr id="166" name="Google Shape;166;p27"/>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pic>
        <p:nvPicPr>
          <p:cNvPr descr="VTU_logo" id="167" name="Google Shape;167;p27"/>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ctrTitle"/>
          </p:nvPr>
        </p:nvSpPr>
        <p:spPr>
          <a:xfrm>
            <a:off x="1847942" y="524216"/>
            <a:ext cx="38514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Calibri"/>
                <a:ea typeface="Calibri"/>
                <a:cs typeface="Calibri"/>
                <a:sym typeface="Calibri"/>
              </a:rPr>
              <a:t>INTRODUCTION</a:t>
            </a:r>
            <a:endParaRPr b="1" sz="2700">
              <a:solidFill>
                <a:srgbClr val="000A30"/>
              </a:solidFill>
              <a:latin typeface="Calibri"/>
              <a:ea typeface="Calibri"/>
              <a:cs typeface="Calibri"/>
              <a:sym typeface="Calibri"/>
            </a:endParaRPr>
          </a:p>
        </p:txBody>
      </p:sp>
      <p:sp>
        <p:nvSpPr>
          <p:cNvPr id="173" name="Google Shape;173;p28"/>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74" name="Google Shape;174;p28"/>
          <p:cNvSpPr txBox="1"/>
          <p:nvPr/>
        </p:nvSpPr>
        <p:spPr>
          <a:xfrm>
            <a:off x="6859282" y="4773205"/>
            <a:ext cx="1928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Calibri"/>
                <a:ea typeface="Calibri"/>
                <a:cs typeface="Calibri"/>
                <a:sym typeface="Calibri"/>
              </a:rPr>
              <a:t>www.cambridge.edu.in</a:t>
            </a:r>
            <a:endParaRPr b="0" i="0" sz="1100" u="none" cap="none" strike="noStrike">
              <a:solidFill>
                <a:srgbClr val="000000"/>
              </a:solidFill>
              <a:latin typeface="Arial"/>
              <a:ea typeface="Arial"/>
              <a:cs typeface="Arial"/>
              <a:sym typeface="Arial"/>
            </a:endParaRPr>
          </a:p>
        </p:txBody>
      </p:sp>
      <p:sp>
        <p:nvSpPr>
          <p:cNvPr id="175" name="Google Shape;175;p28"/>
          <p:cNvSpPr/>
          <p:nvPr/>
        </p:nvSpPr>
        <p:spPr>
          <a:xfrm>
            <a:off x="376517" y="0"/>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176" name="Google Shape;176;p28"/>
          <p:cNvPicPr preferRelativeResize="0"/>
          <p:nvPr/>
        </p:nvPicPr>
        <p:blipFill rotWithShape="1">
          <a:blip r:embed="rId3">
            <a:alphaModFix/>
          </a:blip>
          <a:srcRect b="0" l="0" r="0" t="0"/>
          <a:stretch/>
        </p:blipFill>
        <p:spPr>
          <a:xfrm>
            <a:off x="511212" y="312326"/>
            <a:ext cx="1015254" cy="652781"/>
          </a:xfrm>
          <a:prstGeom prst="rect">
            <a:avLst/>
          </a:prstGeom>
          <a:noFill/>
          <a:ln>
            <a:noFill/>
          </a:ln>
        </p:spPr>
      </p:pic>
      <p:sp>
        <p:nvSpPr>
          <p:cNvPr id="177" name="Google Shape;177;p28"/>
          <p:cNvSpPr/>
          <p:nvPr/>
        </p:nvSpPr>
        <p:spPr>
          <a:xfrm>
            <a:off x="1915173" y="1052312"/>
            <a:ext cx="675900" cy="47400"/>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78" name="Google Shape;178;p28"/>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Calibri"/>
                <a:ea typeface="Calibri"/>
                <a:cs typeface="Calibri"/>
                <a:sym typeface="Calibri"/>
              </a:rPr>
              <a:t>Department of</a:t>
            </a:r>
            <a:r>
              <a:rPr b="1" i="0" lang="en-GB" sz="1400" u="none" cap="none" strike="noStrike">
                <a:solidFill>
                  <a:schemeClr val="lt1"/>
                </a:solidFill>
                <a:latin typeface="Calibri"/>
                <a:ea typeface="Calibri"/>
                <a:cs typeface="Calibri"/>
                <a:sym typeface="Calibri"/>
              </a:rPr>
              <a:t> Electronics &amp; Communication Engineering</a:t>
            </a:r>
            <a:endParaRPr b="1" i="0" sz="1400" u="none" cap="none" strike="noStrike">
              <a:solidFill>
                <a:schemeClr val="lt1"/>
              </a:solidFill>
              <a:latin typeface="Calibri"/>
              <a:ea typeface="Calibri"/>
              <a:cs typeface="Calibri"/>
              <a:sym typeface="Calibri"/>
            </a:endParaRPr>
          </a:p>
        </p:txBody>
      </p:sp>
      <p:pic>
        <p:nvPicPr>
          <p:cNvPr descr="VTU_logo" id="179" name="Google Shape;179;p28"/>
          <p:cNvPicPr preferRelativeResize="0"/>
          <p:nvPr/>
        </p:nvPicPr>
        <p:blipFill rotWithShape="1">
          <a:blip r:embed="rId4">
            <a:alphaModFix/>
          </a:blip>
          <a:srcRect b="0" l="0" r="0" t="0"/>
          <a:stretch/>
        </p:blipFill>
        <p:spPr>
          <a:xfrm>
            <a:off x="8014064" y="58332"/>
            <a:ext cx="917966" cy="1126682"/>
          </a:xfrm>
          <a:prstGeom prst="rect">
            <a:avLst/>
          </a:prstGeom>
          <a:noFill/>
          <a:ln>
            <a:noFill/>
          </a:ln>
        </p:spPr>
      </p:pic>
      <p:pic>
        <p:nvPicPr>
          <p:cNvPr id="180" name="Google Shape;180;p28" title="Screenshot 2026-01-07 at 8.53.37 PM.png"/>
          <p:cNvPicPr preferRelativeResize="0"/>
          <p:nvPr/>
        </p:nvPicPr>
        <p:blipFill>
          <a:blip r:embed="rId5">
            <a:alphaModFix/>
          </a:blip>
          <a:stretch>
            <a:fillRect/>
          </a:stretch>
        </p:blipFill>
        <p:spPr>
          <a:xfrm>
            <a:off x="5193168" y="1254255"/>
            <a:ext cx="3402447" cy="3378259"/>
          </a:xfrm>
          <a:prstGeom prst="rect">
            <a:avLst/>
          </a:prstGeom>
          <a:noFill/>
          <a:ln>
            <a:noFill/>
          </a:ln>
        </p:spPr>
      </p:pic>
      <p:pic>
        <p:nvPicPr>
          <p:cNvPr id="181" name="Google Shape;181;p28" title="Screenshot 2026-01-07 at 8.55.31 PM.png"/>
          <p:cNvPicPr preferRelativeResize="0"/>
          <p:nvPr/>
        </p:nvPicPr>
        <p:blipFill>
          <a:blip r:embed="rId6">
            <a:alphaModFix/>
          </a:blip>
          <a:stretch>
            <a:fillRect/>
          </a:stretch>
        </p:blipFill>
        <p:spPr>
          <a:xfrm>
            <a:off x="221359" y="1378796"/>
            <a:ext cx="4803323" cy="271828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9"/>
          <p:cNvSpPr txBox="1"/>
          <p:nvPr>
            <p:ph type="ctrTitle"/>
          </p:nvPr>
        </p:nvSpPr>
        <p:spPr>
          <a:xfrm>
            <a:off x="1847942" y="524216"/>
            <a:ext cx="38514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Calibri"/>
                <a:ea typeface="Calibri"/>
                <a:cs typeface="Calibri"/>
                <a:sym typeface="Calibri"/>
              </a:rPr>
              <a:t>INTRODUCTION</a:t>
            </a:r>
            <a:endParaRPr b="1" sz="2700">
              <a:solidFill>
                <a:srgbClr val="000A30"/>
              </a:solidFill>
              <a:latin typeface="Calibri"/>
              <a:ea typeface="Calibri"/>
              <a:cs typeface="Calibri"/>
              <a:sym typeface="Calibri"/>
            </a:endParaRPr>
          </a:p>
        </p:txBody>
      </p:sp>
      <p:sp>
        <p:nvSpPr>
          <p:cNvPr id="187" name="Google Shape;187;p29"/>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88" name="Google Shape;188;p29"/>
          <p:cNvSpPr txBox="1"/>
          <p:nvPr/>
        </p:nvSpPr>
        <p:spPr>
          <a:xfrm>
            <a:off x="6859282" y="4773205"/>
            <a:ext cx="1928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Calibri"/>
                <a:ea typeface="Calibri"/>
                <a:cs typeface="Calibri"/>
                <a:sym typeface="Calibri"/>
              </a:rPr>
              <a:t>www.cambridge.edu.in</a:t>
            </a:r>
            <a:endParaRPr b="0" i="0" sz="1100" u="none" cap="none" strike="noStrike">
              <a:solidFill>
                <a:srgbClr val="000000"/>
              </a:solidFill>
              <a:latin typeface="Arial"/>
              <a:ea typeface="Arial"/>
              <a:cs typeface="Arial"/>
              <a:sym typeface="Arial"/>
            </a:endParaRPr>
          </a:p>
        </p:txBody>
      </p:sp>
      <p:sp>
        <p:nvSpPr>
          <p:cNvPr id="189" name="Google Shape;189;p29"/>
          <p:cNvSpPr/>
          <p:nvPr/>
        </p:nvSpPr>
        <p:spPr>
          <a:xfrm>
            <a:off x="376517" y="0"/>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190" name="Google Shape;190;p29"/>
          <p:cNvPicPr preferRelativeResize="0"/>
          <p:nvPr/>
        </p:nvPicPr>
        <p:blipFill rotWithShape="1">
          <a:blip r:embed="rId3">
            <a:alphaModFix/>
          </a:blip>
          <a:srcRect b="0" l="0" r="0" t="0"/>
          <a:stretch/>
        </p:blipFill>
        <p:spPr>
          <a:xfrm>
            <a:off x="511212" y="312326"/>
            <a:ext cx="1015254" cy="652781"/>
          </a:xfrm>
          <a:prstGeom prst="rect">
            <a:avLst/>
          </a:prstGeom>
          <a:noFill/>
          <a:ln>
            <a:noFill/>
          </a:ln>
        </p:spPr>
      </p:pic>
      <p:sp>
        <p:nvSpPr>
          <p:cNvPr id="191" name="Google Shape;191;p29"/>
          <p:cNvSpPr/>
          <p:nvPr/>
        </p:nvSpPr>
        <p:spPr>
          <a:xfrm>
            <a:off x="1915173" y="1052312"/>
            <a:ext cx="675900" cy="47400"/>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92" name="Google Shape;192;p29"/>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Calibri"/>
                <a:ea typeface="Calibri"/>
                <a:cs typeface="Calibri"/>
                <a:sym typeface="Calibri"/>
              </a:rPr>
              <a:t>Department of</a:t>
            </a:r>
            <a:r>
              <a:rPr b="1" i="0" lang="en-GB" sz="1400" u="none" cap="none" strike="noStrike">
                <a:solidFill>
                  <a:schemeClr val="lt1"/>
                </a:solidFill>
                <a:latin typeface="Calibri"/>
                <a:ea typeface="Calibri"/>
                <a:cs typeface="Calibri"/>
                <a:sym typeface="Calibri"/>
              </a:rPr>
              <a:t> Electronics &amp; Communication Engineering</a:t>
            </a:r>
            <a:endParaRPr b="1" i="0" sz="1400" u="none" cap="none" strike="noStrike">
              <a:solidFill>
                <a:schemeClr val="lt1"/>
              </a:solidFill>
              <a:latin typeface="Calibri"/>
              <a:ea typeface="Calibri"/>
              <a:cs typeface="Calibri"/>
              <a:sym typeface="Calibri"/>
            </a:endParaRPr>
          </a:p>
        </p:txBody>
      </p:sp>
      <p:sp>
        <p:nvSpPr>
          <p:cNvPr id="193" name="Google Shape;193;p29"/>
          <p:cNvSpPr txBox="1"/>
          <p:nvPr/>
        </p:nvSpPr>
        <p:spPr>
          <a:xfrm>
            <a:off x="376525" y="1376700"/>
            <a:ext cx="8391000" cy="28866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1200"/>
              </a:spcBef>
              <a:spcAft>
                <a:spcPts val="1200"/>
              </a:spcAft>
              <a:buNone/>
            </a:pPr>
            <a:r>
              <a:rPr lang="en-GB" sz="1200">
                <a:solidFill>
                  <a:schemeClr val="dk1"/>
                </a:solidFill>
                <a:latin typeface="Times New Roman"/>
                <a:ea typeface="Times New Roman"/>
                <a:cs typeface="Times New Roman"/>
                <a:sym typeface="Times New Roman"/>
              </a:rPr>
              <a:t>The rapid growth of IoT has shifted computation from cloud-centric systems to edge-based embedded platforms to achieve low latency and energy efficiency. FPGA-based devices, particularly the PYNQ-Z2, enable high-speed, low-power execution of compute-intensive tasks such as image processing and machine learning directly at the edge. However, transmitting large volumes of image data over wired and wireless networks introduces significant security risks, especially due to high pixel correlation and large data sizes that make conventional software-based encryption inefficient. Hardware-accelerated cryptography on FPGAs overcomes these limitations by exploiting massive parallelism, reducing latency, and lowering power consumption compared to CPU-based approaches. Integrating image encryption and hardware acceleration within a single FPGA framework ensures secure, real-time data protection at the edge, making it especially suitable for latency-sensitive and security-critical applications such as surveillance and healthcare imaging.</a:t>
            </a:r>
            <a:endParaRPr sz="1200">
              <a:solidFill>
                <a:schemeClr val="dk1"/>
              </a:solidFill>
              <a:latin typeface="Times New Roman"/>
              <a:ea typeface="Times New Roman"/>
              <a:cs typeface="Times New Roman"/>
              <a:sym typeface="Times New Roman"/>
            </a:endParaRPr>
          </a:p>
        </p:txBody>
      </p:sp>
      <p:pic>
        <p:nvPicPr>
          <p:cNvPr descr="VTU_logo" id="194" name="Google Shape;194;p29"/>
          <p:cNvPicPr preferRelativeResize="0"/>
          <p:nvPr/>
        </p:nvPicPr>
        <p:blipFill rotWithShape="1">
          <a:blip r:embed="rId4">
            <a:alphaModFix/>
          </a:blip>
          <a:srcRect b="0" l="0" r="0" t="0"/>
          <a:stretch/>
        </p:blipFill>
        <p:spPr>
          <a:xfrm>
            <a:off x="8014064" y="58332"/>
            <a:ext cx="917966" cy="112668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0"/>
          <p:cNvSpPr txBox="1"/>
          <p:nvPr/>
        </p:nvSpPr>
        <p:spPr>
          <a:xfrm>
            <a:off x="1915173" y="505319"/>
            <a:ext cx="5452555" cy="507492"/>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A30"/>
              </a:buClr>
              <a:buSzPts val="2700"/>
              <a:buFont typeface="Calibri"/>
              <a:buNone/>
            </a:pPr>
            <a:r>
              <a:rPr b="1" i="0" lang="en-GB" sz="2700" u="none" cap="none" strike="noStrike">
                <a:solidFill>
                  <a:srgbClr val="000A30"/>
                </a:solidFill>
                <a:latin typeface="Times New Roman"/>
                <a:ea typeface="Times New Roman"/>
                <a:cs typeface="Times New Roman"/>
                <a:sym typeface="Times New Roman"/>
              </a:rPr>
              <a:t>LITERATURE SURVEY</a:t>
            </a:r>
            <a:endParaRPr b="1" i="0" sz="2700" u="none" cap="none" strike="noStrike">
              <a:solidFill>
                <a:srgbClr val="000A30"/>
              </a:solidFill>
              <a:latin typeface="Times New Roman"/>
              <a:ea typeface="Times New Roman"/>
              <a:cs typeface="Times New Roman"/>
              <a:sym typeface="Times New Roman"/>
            </a:endParaRPr>
          </a:p>
        </p:txBody>
      </p:sp>
      <p:sp>
        <p:nvSpPr>
          <p:cNvPr id="200" name="Google Shape;200;p30"/>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201" name="Google Shape;201;p30"/>
          <p:cNvSpPr txBox="1"/>
          <p:nvPr/>
        </p:nvSpPr>
        <p:spPr>
          <a:xfrm>
            <a:off x="6646599" y="4773200"/>
            <a:ext cx="20310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202" name="Google Shape;202;p30"/>
          <p:cNvSpPr/>
          <p:nvPr/>
        </p:nvSpPr>
        <p:spPr>
          <a:xfrm>
            <a:off x="376517" y="0"/>
            <a:ext cx="1284643" cy="127747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203" name="Google Shape;203;p30"/>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204" name="Google Shape;204;p30"/>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205" name="Google Shape;205;p30"/>
          <p:cNvSpPr txBox="1"/>
          <p:nvPr/>
        </p:nvSpPr>
        <p:spPr>
          <a:xfrm>
            <a:off x="376517" y="1432845"/>
            <a:ext cx="8227840" cy="2997020"/>
          </a:xfrm>
          <a:prstGeom prst="rect">
            <a:avLst/>
          </a:prstGeom>
          <a:noFill/>
          <a:ln>
            <a:noFill/>
          </a:ln>
        </p:spPr>
        <p:txBody>
          <a:bodyPr anchorCtr="0" anchor="t" bIns="34275" lIns="68575" spcFirstLastPara="1" rIns="68575" wrap="square" tIns="34275">
            <a:norm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206" name="Google Shape;206;p30"/>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pic>
        <p:nvPicPr>
          <p:cNvPr descr="VTU_logo" id="207" name="Google Shape;207;p30"/>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graphicFrame>
        <p:nvGraphicFramePr>
          <p:cNvPr id="208" name="Google Shape;208;p30"/>
          <p:cNvGraphicFramePr/>
          <p:nvPr/>
        </p:nvGraphicFramePr>
        <p:xfrm>
          <a:off x="297893" y="1319479"/>
          <a:ext cx="3000000" cy="3000000"/>
        </p:xfrm>
        <a:graphic>
          <a:graphicData uri="http://schemas.openxmlformats.org/drawingml/2006/table">
            <a:tbl>
              <a:tblPr bandRow="1" firstRow="1">
                <a:noFill/>
                <a:tableStyleId>{75D5F3B5-7702-42B7-9A3D-AA3D50D7201B}</a:tableStyleId>
              </a:tblPr>
              <a:tblGrid>
                <a:gridCol w="551475"/>
                <a:gridCol w="2431950"/>
                <a:gridCol w="1587000"/>
                <a:gridCol w="936525"/>
                <a:gridCol w="1150350"/>
                <a:gridCol w="2029775"/>
              </a:tblGrid>
              <a:tr h="686675">
                <a:tc>
                  <a:txBody>
                    <a:bodyPr/>
                    <a:lstStyle/>
                    <a:p>
                      <a:pPr indent="0" lvl="0" marL="0" marR="0" rtl="0" algn="l">
                        <a:lnSpc>
                          <a:spcPct val="100000"/>
                        </a:lnSpc>
                        <a:spcBef>
                          <a:spcPts val="0"/>
                        </a:spcBef>
                        <a:spcAft>
                          <a:spcPts val="0"/>
                        </a:spcAft>
                        <a:buNone/>
                      </a:pPr>
                      <a:r>
                        <a:rPr b="1" i="0" lang="en-GB" sz="1100" u="none" cap="none" strike="noStrike">
                          <a:solidFill>
                            <a:schemeClr val="lt1"/>
                          </a:solidFill>
                          <a:latin typeface="Times New Roman"/>
                          <a:ea typeface="Times New Roman"/>
                          <a:cs typeface="Times New Roman"/>
                          <a:sym typeface="Times New Roman"/>
                        </a:rPr>
                        <a:t>Sl. No</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b="1" i="0" lang="en-GB" sz="1100" u="none" cap="none" strike="noStrike">
                          <a:solidFill>
                            <a:schemeClr val="lt1"/>
                          </a:solidFill>
                          <a:latin typeface="Times New Roman"/>
                          <a:ea typeface="Times New Roman"/>
                          <a:cs typeface="Times New Roman"/>
                          <a:sym typeface="Times New Roman"/>
                        </a:rPr>
                        <a:t>Title of the Research Paper</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b="1" i="0" lang="en-GB" sz="1100" u="none" cap="none" strike="noStrike">
                          <a:solidFill>
                            <a:schemeClr val="lt1"/>
                          </a:solidFill>
                          <a:latin typeface="Times New Roman"/>
                          <a:ea typeface="Times New Roman"/>
                          <a:cs typeface="Times New Roman"/>
                          <a:sym typeface="Times New Roman"/>
                        </a:rPr>
                        <a:t>Authors</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b="1" i="0" lang="en-GB" sz="1100" u="none" cap="none" strike="noStrike">
                          <a:solidFill>
                            <a:schemeClr val="lt1"/>
                          </a:solidFill>
                          <a:latin typeface="Times New Roman"/>
                          <a:ea typeface="Times New Roman"/>
                          <a:cs typeface="Times New Roman"/>
                          <a:sym typeface="Times New Roman"/>
                        </a:rPr>
                        <a:t>Year of publication</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b="1" i="0" lang="en-GB" sz="1100" u="none" cap="none" strike="noStrike">
                          <a:solidFill>
                            <a:schemeClr val="lt1"/>
                          </a:solidFill>
                          <a:latin typeface="Times New Roman"/>
                          <a:ea typeface="Times New Roman"/>
                          <a:cs typeface="Times New Roman"/>
                          <a:sym typeface="Times New Roman"/>
                        </a:rPr>
                        <a:t>No of</a:t>
                      </a:r>
                      <a:endParaRPr b="1" i="0" sz="1100" u="none" cap="none" strike="noStrik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GB" sz="1100" u="none" cap="none" strike="noStrike">
                          <a:solidFill>
                            <a:schemeClr val="lt1"/>
                          </a:solidFill>
                          <a:latin typeface="Times New Roman"/>
                          <a:ea typeface="Times New Roman"/>
                          <a:cs typeface="Times New Roman"/>
                          <a:sym typeface="Times New Roman"/>
                        </a:rPr>
                        <a:t>Citations</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b="1" i="0" lang="en-GB" sz="1100" u="none" cap="none" strike="noStrike">
                          <a:solidFill>
                            <a:schemeClr val="lt1"/>
                          </a:solidFill>
                          <a:latin typeface="Times New Roman"/>
                          <a:ea typeface="Times New Roman"/>
                          <a:cs typeface="Times New Roman"/>
                          <a:sym typeface="Times New Roman"/>
                        </a:rPr>
                        <a:t>Challenges Faced</a:t>
                      </a:r>
                      <a:endParaRPr sz="1100" u="none" cap="none" strike="noStrike">
                        <a:latin typeface="Times New Roman"/>
                        <a:ea typeface="Times New Roman"/>
                        <a:cs typeface="Times New Roman"/>
                        <a:sym typeface="Times New Roman"/>
                      </a:endParaRPr>
                    </a:p>
                  </a:txBody>
                  <a:tcPr marT="34300" marB="34300" marR="68600" marL="68600"/>
                </a:tc>
              </a:tr>
              <a:tr h="686675">
                <a:tc>
                  <a:txBody>
                    <a:bodyPr/>
                    <a:lstStyle/>
                    <a:p>
                      <a:pPr indent="0" lvl="0" marL="0" marR="0" rtl="0" algn="l">
                        <a:lnSpc>
                          <a:spcPct val="100000"/>
                        </a:lnSpc>
                        <a:spcBef>
                          <a:spcPts val="0"/>
                        </a:spcBef>
                        <a:spcAft>
                          <a:spcPts val="0"/>
                        </a:spcAft>
                        <a:buNone/>
                      </a:pPr>
                      <a:r>
                        <a:rPr b="0" i="0" lang="en-GB" sz="1100" u="none" cap="none" strike="noStrike">
                          <a:solidFill>
                            <a:schemeClr val="dk1"/>
                          </a:solidFill>
                          <a:latin typeface="Times New Roman"/>
                          <a:ea typeface="Times New Roman"/>
                          <a:cs typeface="Times New Roman"/>
                          <a:sym typeface="Times New Roman"/>
                        </a:rPr>
                        <a:t>1</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rtl="0" algn="l">
                        <a:lnSpc>
                          <a:spcPct val="115000"/>
                        </a:lnSpc>
                        <a:spcBef>
                          <a:spcPts val="1200"/>
                        </a:spcBef>
                        <a:spcAft>
                          <a:spcPts val="1200"/>
                        </a:spcAft>
                        <a:buSzPts val="1100"/>
                        <a:buNone/>
                      </a:pPr>
                      <a:r>
                        <a:rPr lang="en-GB" sz="1100">
                          <a:latin typeface="Times New Roman"/>
                          <a:ea typeface="Times New Roman"/>
                          <a:cs typeface="Times New Roman"/>
                          <a:sym typeface="Times New Roman"/>
                        </a:rPr>
                        <a:t>Image Classification on PYNQ-Z2 Using ResNet20 and Tensil’s TCU</a:t>
                      </a:r>
                      <a:endParaRPr sz="1100">
                        <a:latin typeface="Times New Roman"/>
                        <a:ea typeface="Times New Roman"/>
                        <a:cs typeface="Times New Roman"/>
                        <a:sym typeface="Times New Roman"/>
                      </a:endParaRPr>
                    </a:p>
                  </a:txBody>
                  <a:tcPr marT="34300" marB="34300" marR="68600" marL="68600"/>
                </a:tc>
                <a:tc>
                  <a:txBody>
                    <a:bodyPr/>
                    <a:lstStyle/>
                    <a:p>
                      <a:pPr indent="0" lvl="0" marL="0" rtl="0" algn="l">
                        <a:lnSpc>
                          <a:spcPct val="115000"/>
                        </a:lnSpc>
                        <a:spcBef>
                          <a:spcPts val="1200"/>
                        </a:spcBef>
                        <a:spcAft>
                          <a:spcPts val="1200"/>
                        </a:spcAft>
                        <a:buSzPts val="1100"/>
                        <a:buNone/>
                      </a:pPr>
                      <a:r>
                        <a:rPr lang="en-GB" sz="1100">
                          <a:latin typeface="Times New Roman"/>
                          <a:ea typeface="Times New Roman"/>
                          <a:cs typeface="Times New Roman"/>
                          <a:sym typeface="Times New Roman"/>
                        </a:rPr>
                        <a:t>R. Jaimon, S. Sabu, S. John, A. Muhammed, N. S., V. K., A. Francis</a:t>
                      </a:r>
                      <a:endParaRPr sz="1100">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b="0" i="0" lang="en-GB" sz="1100" u="none" cap="none" strike="noStrike">
                          <a:solidFill>
                            <a:schemeClr val="dk1"/>
                          </a:solidFill>
                          <a:latin typeface="Times New Roman"/>
                          <a:ea typeface="Times New Roman"/>
                          <a:cs typeface="Times New Roman"/>
                          <a:sym typeface="Times New Roman"/>
                        </a:rPr>
                        <a:t>202</a:t>
                      </a:r>
                      <a:r>
                        <a:rPr lang="en-GB" sz="1100">
                          <a:latin typeface="Times New Roman"/>
                          <a:ea typeface="Times New Roman"/>
                          <a:cs typeface="Times New Roman"/>
                          <a:sym typeface="Times New Roman"/>
                        </a:rPr>
                        <a:t>5</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lang="en-GB" sz="1100">
                          <a:latin typeface="Times New Roman"/>
                          <a:ea typeface="Times New Roman"/>
                          <a:cs typeface="Times New Roman"/>
                          <a:sym typeface="Times New Roman"/>
                        </a:rPr>
                        <a:t>1</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rtl="0" algn="l">
                        <a:lnSpc>
                          <a:spcPct val="115000"/>
                        </a:lnSpc>
                        <a:spcBef>
                          <a:spcPts val="1200"/>
                        </a:spcBef>
                        <a:spcAft>
                          <a:spcPts val="1200"/>
                        </a:spcAft>
                        <a:buSzPts val="1100"/>
                        <a:buNone/>
                      </a:pPr>
                      <a:r>
                        <a:rPr lang="en-GB" sz="1100">
                          <a:latin typeface="Times New Roman"/>
                          <a:ea typeface="Times New Roman"/>
                          <a:cs typeface="Times New Roman"/>
                          <a:sym typeface="Times New Roman"/>
                        </a:rPr>
                        <a:t>Limited by evaluation on only one CNN model and lack of real-time deployment analysis on diverse image datasets.</a:t>
                      </a:r>
                      <a:endParaRPr sz="1100">
                        <a:latin typeface="Times New Roman"/>
                        <a:ea typeface="Times New Roman"/>
                        <a:cs typeface="Times New Roman"/>
                        <a:sym typeface="Times New Roman"/>
                      </a:endParaRPr>
                    </a:p>
                  </a:txBody>
                  <a:tcPr marT="34300" marB="34300" marR="68600" marL="68600"/>
                </a:tc>
              </a:tr>
              <a:tr h="827175">
                <a:tc>
                  <a:txBody>
                    <a:bodyPr/>
                    <a:lstStyle/>
                    <a:p>
                      <a:pPr indent="0" lvl="0" marL="0" marR="0" rtl="0" algn="l">
                        <a:lnSpc>
                          <a:spcPct val="100000"/>
                        </a:lnSpc>
                        <a:spcBef>
                          <a:spcPts val="0"/>
                        </a:spcBef>
                        <a:spcAft>
                          <a:spcPts val="0"/>
                        </a:spcAft>
                        <a:buNone/>
                      </a:pPr>
                      <a:r>
                        <a:rPr lang="en-GB" sz="1100" u="none" cap="none" strike="noStrike">
                          <a:latin typeface="Times New Roman"/>
                          <a:ea typeface="Times New Roman"/>
                          <a:cs typeface="Times New Roman"/>
                          <a:sym typeface="Times New Roman"/>
                        </a:rPr>
                        <a:t>2</a:t>
                      </a:r>
                      <a:endParaRPr sz="1100"/>
                    </a:p>
                  </a:txBody>
                  <a:tcPr marT="34300" marB="34300" marR="68600" marL="68600"/>
                </a:tc>
                <a:tc>
                  <a:txBody>
                    <a:bodyPr/>
                    <a:lstStyle/>
                    <a:p>
                      <a:pPr indent="0" lvl="0" marL="0" rtl="0" algn="l">
                        <a:lnSpc>
                          <a:spcPct val="115000"/>
                        </a:lnSpc>
                        <a:spcBef>
                          <a:spcPts val="1200"/>
                        </a:spcBef>
                        <a:spcAft>
                          <a:spcPts val="1200"/>
                        </a:spcAft>
                        <a:buSzPts val="1100"/>
                        <a:buNone/>
                      </a:pPr>
                      <a:r>
                        <a:rPr lang="en-GB" sz="1100">
                          <a:latin typeface="Times New Roman"/>
                          <a:ea typeface="Times New Roman"/>
                          <a:cs typeface="Times New Roman"/>
                          <a:sym typeface="Times New Roman"/>
                        </a:rPr>
                        <a:t>Hardware–Software Co-Simulation of an AES-128 Based Data Encryption in Image Processing Systems for the Internet of Things Environment</a:t>
                      </a:r>
                      <a:endParaRPr sz="1100">
                        <a:latin typeface="Times New Roman"/>
                        <a:ea typeface="Times New Roman"/>
                        <a:cs typeface="Times New Roman"/>
                        <a:sym typeface="Times New Roman"/>
                      </a:endParaRPr>
                    </a:p>
                  </a:txBody>
                  <a:tcPr marT="34300" marB="34300" marR="68600" marL="68600"/>
                </a:tc>
                <a:tc>
                  <a:txBody>
                    <a:bodyPr/>
                    <a:lstStyle/>
                    <a:p>
                      <a:pPr indent="0" lvl="0" marL="0" rtl="0" algn="l">
                        <a:lnSpc>
                          <a:spcPct val="115000"/>
                        </a:lnSpc>
                        <a:spcBef>
                          <a:spcPts val="1200"/>
                        </a:spcBef>
                        <a:spcAft>
                          <a:spcPts val="1200"/>
                        </a:spcAft>
                        <a:buSzPts val="1100"/>
                        <a:buNone/>
                      </a:pPr>
                      <a:r>
                        <a:rPr lang="en-GB" sz="1100">
                          <a:latin typeface="Times New Roman"/>
                          <a:ea typeface="Times New Roman"/>
                          <a:cs typeface="Times New Roman"/>
                          <a:sym typeface="Times New Roman"/>
                        </a:rPr>
                        <a:t>K. Lata, S. Saini</a:t>
                      </a:r>
                      <a:endParaRPr sz="1100">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b="0" i="0" lang="en-GB" sz="1100" u="none" cap="none" strike="noStrike">
                          <a:solidFill>
                            <a:schemeClr val="dk1"/>
                          </a:solidFill>
                          <a:latin typeface="Times New Roman"/>
                          <a:ea typeface="Times New Roman"/>
                          <a:cs typeface="Times New Roman"/>
                          <a:sym typeface="Times New Roman"/>
                        </a:rPr>
                        <a:t>202</a:t>
                      </a:r>
                      <a:r>
                        <a:rPr lang="en-GB" sz="1100">
                          <a:latin typeface="Times New Roman"/>
                          <a:ea typeface="Times New Roman"/>
                          <a:cs typeface="Times New Roman"/>
                          <a:sym typeface="Times New Roman"/>
                        </a:rPr>
                        <a:t>0</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lang="en-GB" sz="1100">
                          <a:latin typeface="Times New Roman"/>
                          <a:ea typeface="Times New Roman"/>
                          <a:cs typeface="Times New Roman"/>
                          <a:sym typeface="Times New Roman"/>
                        </a:rPr>
                        <a:t>12</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rtl="0" algn="l">
                        <a:lnSpc>
                          <a:spcPct val="115000"/>
                        </a:lnSpc>
                        <a:spcBef>
                          <a:spcPts val="1200"/>
                        </a:spcBef>
                        <a:spcAft>
                          <a:spcPts val="1200"/>
                        </a:spcAft>
                        <a:buSzPts val="1100"/>
                        <a:buNone/>
                      </a:pPr>
                      <a:r>
                        <a:rPr lang="en-GB" sz="1100">
                          <a:latin typeface="Times New Roman"/>
                          <a:ea typeface="Times New Roman"/>
                          <a:cs typeface="Times New Roman"/>
                          <a:sym typeface="Times New Roman"/>
                        </a:rPr>
                        <a:t>Co-simulation overhead challenges and power-performance trade-offs not optimized for low-resource IoT edge devices.</a:t>
                      </a:r>
                      <a:endParaRPr sz="1100">
                        <a:latin typeface="Times New Roman"/>
                        <a:ea typeface="Times New Roman"/>
                        <a:cs typeface="Times New Roman"/>
                        <a:sym typeface="Times New Roman"/>
                      </a:endParaRPr>
                    </a:p>
                  </a:txBody>
                  <a:tcPr marT="34300" marB="34300" marR="68600" marL="68600"/>
                </a:tc>
              </a:tr>
              <a:tr h="827175">
                <a:tc>
                  <a:txBody>
                    <a:bodyPr/>
                    <a:lstStyle/>
                    <a:p>
                      <a:pPr indent="0" lvl="0" marL="0" marR="0" rtl="0" algn="l">
                        <a:lnSpc>
                          <a:spcPct val="100000"/>
                        </a:lnSpc>
                        <a:spcBef>
                          <a:spcPts val="0"/>
                        </a:spcBef>
                        <a:spcAft>
                          <a:spcPts val="0"/>
                        </a:spcAft>
                        <a:buNone/>
                      </a:pPr>
                      <a:r>
                        <a:rPr lang="en-GB" sz="1100" u="none" cap="none" strike="noStrike">
                          <a:latin typeface="Times New Roman"/>
                          <a:ea typeface="Times New Roman"/>
                          <a:cs typeface="Times New Roman"/>
                          <a:sym typeface="Times New Roman"/>
                        </a:rPr>
                        <a:t>3</a:t>
                      </a:r>
                      <a:endParaRPr sz="1100"/>
                    </a:p>
                    <a:p>
                      <a:pPr indent="0" lvl="0" marL="0" marR="0" rtl="0" algn="l">
                        <a:lnSpc>
                          <a:spcPct val="100000"/>
                        </a:lnSpc>
                        <a:spcBef>
                          <a:spcPts val="0"/>
                        </a:spcBef>
                        <a:spcAft>
                          <a:spcPts val="0"/>
                        </a:spcAft>
                        <a:buNone/>
                      </a:pPr>
                      <a:r>
                        <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rtl="0" algn="l">
                        <a:lnSpc>
                          <a:spcPct val="115000"/>
                        </a:lnSpc>
                        <a:spcBef>
                          <a:spcPts val="1200"/>
                        </a:spcBef>
                        <a:spcAft>
                          <a:spcPts val="1200"/>
                        </a:spcAft>
                        <a:buNone/>
                      </a:pPr>
                      <a:r>
                        <a:rPr lang="en-GB" sz="1100">
                          <a:latin typeface="Times New Roman"/>
                          <a:ea typeface="Times New Roman"/>
                          <a:cs typeface="Times New Roman"/>
                          <a:sym typeface="Times New Roman"/>
                        </a:rPr>
                        <a:t>A New Chaotic Symmetric Key Stream Cipher for Image Security in the Internet of Things</a:t>
                      </a:r>
                      <a:endParaRPr sz="1100">
                        <a:latin typeface="Times New Roman"/>
                        <a:ea typeface="Times New Roman"/>
                        <a:cs typeface="Times New Roman"/>
                        <a:sym typeface="Times New Roman"/>
                      </a:endParaRPr>
                    </a:p>
                  </a:txBody>
                  <a:tcPr marT="91425" marB="91425" marR="91425" marL="91425"/>
                </a:tc>
                <a:tc>
                  <a:txBody>
                    <a:bodyPr/>
                    <a:lstStyle/>
                    <a:p>
                      <a:pPr indent="0" lvl="0" marL="0" rtl="0" algn="l">
                        <a:lnSpc>
                          <a:spcPct val="115000"/>
                        </a:lnSpc>
                        <a:spcBef>
                          <a:spcPts val="1200"/>
                        </a:spcBef>
                        <a:spcAft>
                          <a:spcPts val="1200"/>
                        </a:spcAft>
                        <a:buSzPts val="1100"/>
                        <a:buNone/>
                      </a:pPr>
                      <a:r>
                        <a:rPr lang="en-GB" sz="1100">
                          <a:latin typeface="Times New Roman"/>
                          <a:ea typeface="Times New Roman"/>
                          <a:cs typeface="Times New Roman"/>
                          <a:sym typeface="Times New Roman"/>
                        </a:rPr>
                        <a:t>E. H. Y. Wajih, A. Abdelli, M. Machhout, F. Kharroubi</a:t>
                      </a:r>
                      <a:endParaRPr sz="1100">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b="0" i="0" lang="en-GB" sz="1100" u="none" cap="none" strike="noStrike">
                          <a:solidFill>
                            <a:schemeClr val="dk1"/>
                          </a:solidFill>
                          <a:latin typeface="Times New Roman"/>
                          <a:ea typeface="Times New Roman"/>
                          <a:cs typeface="Times New Roman"/>
                          <a:sym typeface="Times New Roman"/>
                        </a:rPr>
                        <a:t>202</a:t>
                      </a:r>
                      <a:r>
                        <a:rPr lang="en-GB" sz="1100">
                          <a:latin typeface="Times New Roman"/>
                          <a:ea typeface="Times New Roman"/>
                          <a:cs typeface="Times New Roman"/>
                          <a:sym typeface="Times New Roman"/>
                        </a:rPr>
                        <a:t>3</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lang="en-GB" sz="1100">
                          <a:latin typeface="Times New Roman"/>
                          <a:ea typeface="Times New Roman"/>
                          <a:cs typeface="Times New Roman"/>
                          <a:sym typeface="Times New Roman"/>
                        </a:rPr>
                        <a:t>5</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rtl="0" algn="l">
                        <a:lnSpc>
                          <a:spcPct val="115000"/>
                        </a:lnSpc>
                        <a:spcBef>
                          <a:spcPts val="1200"/>
                        </a:spcBef>
                        <a:spcAft>
                          <a:spcPts val="1200"/>
                        </a:spcAft>
                        <a:buSzPts val="1100"/>
                        <a:buNone/>
                      </a:pPr>
                      <a:r>
                        <a:rPr lang="en-GB" sz="1100">
                          <a:latin typeface="Times New Roman"/>
                          <a:ea typeface="Times New Roman"/>
                          <a:cs typeface="Times New Roman"/>
                          <a:sym typeface="Times New Roman"/>
                        </a:rPr>
                        <a:t>Chaotic cipher increases computational complexity and may face synchronization issues in real-time IoT streams.</a:t>
                      </a:r>
                      <a:endParaRPr sz="1100">
                        <a:latin typeface="Times New Roman"/>
                        <a:ea typeface="Times New Roman"/>
                        <a:cs typeface="Times New Roman"/>
                        <a:sym typeface="Times New Roman"/>
                      </a:endParaRPr>
                    </a:p>
                  </a:txBody>
                  <a:tcPr marT="34300" marB="34300" marR="68600" marL="6860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1"/>
          <p:cNvSpPr txBox="1"/>
          <p:nvPr/>
        </p:nvSpPr>
        <p:spPr>
          <a:xfrm>
            <a:off x="1915173" y="505319"/>
            <a:ext cx="5452555" cy="507492"/>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A30"/>
              </a:buClr>
              <a:buSzPts val="2700"/>
              <a:buFont typeface="Calibri"/>
              <a:buNone/>
            </a:pPr>
            <a:r>
              <a:rPr b="1" i="0" lang="en-GB" sz="2700" u="none" cap="none" strike="noStrike">
                <a:solidFill>
                  <a:srgbClr val="000A30"/>
                </a:solidFill>
                <a:latin typeface="Calibri"/>
                <a:ea typeface="Calibri"/>
                <a:cs typeface="Calibri"/>
                <a:sym typeface="Calibri"/>
              </a:rPr>
              <a:t>LITERATURE SURVEY</a:t>
            </a:r>
            <a:endParaRPr b="1" i="0" sz="2700" u="none" cap="none" strike="noStrike">
              <a:solidFill>
                <a:srgbClr val="000A30"/>
              </a:solidFill>
              <a:latin typeface="Calibri"/>
              <a:ea typeface="Calibri"/>
              <a:cs typeface="Calibri"/>
              <a:sym typeface="Calibri"/>
            </a:endParaRPr>
          </a:p>
        </p:txBody>
      </p:sp>
      <p:sp>
        <p:nvSpPr>
          <p:cNvPr id="214" name="Google Shape;214;p31"/>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15" name="Google Shape;215;p31"/>
          <p:cNvSpPr txBox="1"/>
          <p:nvPr/>
        </p:nvSpPr>
        <p:spPr>
          <a:xfrm>
            <a:off x="6859282" y="4773205"/>
            <a:ext cx="1818374" cy="27699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Calibri"/>
                <a:ea typeface="Calibri"/>
                <a:cs typeface="Calibri"/>
                <a:sym typeface="Calibri"/>
              </a:rPr>
              <a:t>www.cambridge.edu.in</a:t>
            </a:r>
            <a:endParaRPr b="0" i="0" sz="1100" u="none" cap="none" strike="noStrike">
              <a:solidFill>
                <a:srgbClr val="000000"/>
              </a:solidFill>
              <a:latin typeface="Arial"/>
              <a:ea typeface="Arial"/>
              <a:cs typeface="Arial"/>
              <a:sym typeface="Arial"/>
            </a:endParaRPr>
          </a:p>
        </p:txBody>
      </p:sp>
      <p:sp>
        <p:nvSpPr>
          <p:cNvPr id="216" name="Google Shape;216;p31"/>
          <p:cNvSpPr/>
          <p:nvPr/>
        </p:nvSpPr>
        <p:spPr>
          <a:xfrm>
            <a:off x="376517" y="-163422"/>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217" name="Google Shape;217;p31"/>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218" name="Google Shape;218;p31"/>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19" name="Google Shape;219;p31"/>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Calibri"/>
                <a:ea typeface="Calibri"/>
                <a:cs typeface="Calibri"/>
                <a:sym typeface="Calibri"/>
              </a:rPr>
              <a:t>Department of</a:t>
            </a:r>
            <a:r>
              <a:rPr b="1" i="0" lang="en-GB" sz="1400" u="none" cap="none" strike="noStrike">
                <a:solidFill>
                  <a:schemeClr val="lt1"/>
                </a:solidFill>
                <a:latin typeface="Calibri"/>
                <a:ea typeface="Calibri"/>
                <a:cs typeface="Calibri"/>
                <a:sym typeface="Calibri"/>
              </a:rPr>
              <a:t> Electronics &amp; Communication Engineering</a:t>
            </a:r>
            <a:endParaRPr b="1" i="0" sz="1400" u="none" cap="none" strike="noStrike">
              <a:solidFill>
                <a:schemeClr val="lt1"/>
              </a:solidFill>
              <a:latin typeface="Calibri"/>
              <a:ea typeface="Calibri"/>
              <a:cs typeface="Calibri"/>
              <a:sym typeface="Calibri"/>
            </a:endParaRPr>
          </a:p>
        </p:txBody>
      </p:sp>
      <p:pic>
        <p:nvPicPr>
          <p:cNvPr descr="VTU_logo" id="220" name="Google Shape;220;p31"/>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graphicFrame>
        <p:nvGraphicFramePr>
          <p:cNvPr id="221" name="Google Shape;221;p31"/>
          <p:cNvGraphicFramePr/>
          <p:nvPr/>
        </p:nvGraphicFramePr>
        <p:xfrm>
          <a:off x="376517" y="1207756"/>
          <a:ext cx="3000000" cy="3000000"/>
        </p:xfrm>
        <a:graphic>
          <a:graphicData uri="http://schemas.openxmlformats.org/drawingml/2006/table">
            <a:tbl>
              <a:tblPr bandRow="1" firstRow="1">
                <a:noFill/>
                <a:tableStyleId>{75D5F3B5-7702-42B7-9A3D-AA3D50D7201B}</a:tableStyleId>
              </a:tblPr>
              <a:tblGrid>
                <a:gridCol w="551475"/>
                <a:gridCol w="2431950"/>
                <a:gridCol w="1587000"/>
                <a:gridCol w="936525"/>
                <a:gridCol w="1150350"/>
                <a:gridCol w="2029775"/>
              </a:tblGrid>
              <a:tr h="858950">
                <a:tc>
                  <a:txBody>
                    <a:bodyPr/>
                    <a:lstStyle/>
                    <a:p>
                      <a:pPr indent="0" lvl="0" marL="0" marR="0" rtl="0" algn="l">
                        <a:lnSpc>
                          <a:spcPct val="100000"/>
                        </a:lnSpc>
                        <a:spcBef>
                          <a:spcPts val="0"/>
                        </a:spcBef>
                        <a:spcAft>
                          <a:spcPts val="0"/>
                        </a:spcAft>
                        <a:buNone/>
                      </a:pPr>
                      <a:r>
                        <a:rPr b="0" lang="en-GB" sz="1100" u="none" cap="none" strike="noStrike">
                          <a:solidFill>
                            <a:schemeClr val="dk1"/>
                          </a:solidFill>
                          <a:latin typeface="Times New Roman"/>
                          <a:ea typeface="Times New Roman"/>
                          <a:cs typeface="Times New Roman"/>
                          <a:sym typeface="Times New Roman"/>
                        </a:rPr>
                        <a:t>4</a:t>
                      </a:r>
                      <a:endParaRPr sz="1100"/>
                    </a:p>
                  </a:txBody>
                  <a:tcPr marT="34300" marB="34300" marR="68600" marL="68600">
                    <a:solidFill>
                      <a:srgbClr val="9CC2E5"/>
                    </a:solidFill>
                  </a:tcPr>
                </a:tc>
                <a:tc>
                  <a:txBody>
                    <a:bodyPr/>
                    <a:lstStyle/>
                    <a:p>
                      <a:pPr indent="0" lvl="0" marL="0" marR="0" rtl="0" algn="l">
                        <a:lnSpc>
                          <a:spcPct val="100000"/>
                        </a:lnSpc>
                        <a:spcBef>
                          <a:spcPts val="0"/>
                        </a:spcBef>
                        <a:spcAft>
                          <a:spcPts val="0"/>
                        </a:spcAft>
                        <a:buNone/>
                      </a:pPr>
                      <a:r>
                        <a:rPr b="0" lang="en-GB" sz="1100">
                          <a:solidFill>
                            <a:schemeClr val="dk1"/>
                          </a:solidFill>
                          <a:latin typeface="Times New Roman"/>
                          <a:ea typeface="Times New Roman"/>
                          <a:cs typeface="Times New Roman"/>
                          <a:sym typeface="Times New Roman"/>
                        </a:rPr>
                        <a:t>Enhancement of Image using Verilog and MATLAB</a:t>
                      </a:r>
                      <a:endParaRPr b="0" sz="1100" u="none" cap="none" strike="noStrike">
                        <a:solidFill>
                          <a:schemeClr val="dk1"/>
                        </a:solidFill>
                        <a:latin typeface="Times New Roman"/>
                        <a:ea typeface="Times New Roman"/>
                        <a:cs typeface="Times New Roman"/>
                        <a:sym typeface="Times New Roman"/>
                      </a:endParaRPr>
                    </a:p>
                  </a:txBody>
                  <a:tcPr marT="34300" marB="34300" marR="68600" marL="68600">
                    <a:solidFill>
                      <a:srgbClr val="9CC2E5"/>
                    </a:solidFill>
                  </a:tcPr>
                </a:tc>
                <a:tc>
                  <a:txBody>
                    <a:bodyPr/>
                    <a:lstStyle/>
                    <a:p>
                      <a:pPr indent="0" lvl="0" marL="0" rtl="0" algn="l">
                        <a:lnSpc>
                          <a:spcPct val="115000"/>
                        </a:lnSpc>
                        <a:spcBef>
                          <a:spcPts val="1200"/>
                        </a:spcBef>
                        <a:spcAft>
                          <a:spcPts val="1200"/>
                        </a:spcAft>
                        <a:buSzPts val="1100"/>
                        <a:buNone/>
                      </a:pPr>
                      <a:r>
                        <a:rPr b="0" lang="en-GB" sz="1100">
                          <a:solidFill>
                            <a:schemeClr val="dk1"/>
                          </a:solidFill>
                          <a:latin typeface="Times New Roman"/>
                          <a:ea typeface="Times New Roman"/>
                          <a:cs typeface="Times New Roman"/>
                          <a:sym typeface="Times New Roman"/>
                        </a:rPr>
                        <a:t>C. S., N. P. H. L., P. V., S. M.</a:t>
                      </a:r>
                      <a:endParaRPr b="0" sz="1100">
                        <a:solidFill>
                          <a:schemeClr val="dk1"/>
                        </a:solidFill>
                        <a:latin typeface="Times New Roman"/>
                        <a:ea typeface="Times New Roman"/>
                        <a:cs typeface="Times New Roman"/>
                        <a:sym typeface="Times New Roman"/>
                      </a:endParaRPr>
                    </a:p>
                  </a:txBody>
                  <a:tcPr marT="34300" marB="34300" marR="68600" marL="68600">
                    <a:solidFill>
                      <a:srgbClr val="9CC2E5"/>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lang="en-GB" sz="900" u="none" cap="none" strike="noStrike">
                          <a:solidFill>
                            <a:schemeClr val="dk1"/>
                          </a:solidFill>
                          <a:latin typeface="Times New Roman"/>
                          <a:ea typeface="Times New Roman"/>
                          <a:cs typeface="Times New Roman"/>
                          <a:sym typeface="Times New Roman"/>
                        </a:rPr>
                        <a:t>202</a:t>
                      </a:r>
                      <a:r>
                        <a:rPr lang="en-GB" sz="900">
                          <a:solidFill>
                            <a:schemeClr val="dk1"/>
                          </a:solidFill>
                          <a:latin typeface="Times New Roman"/>
                          <a:ea typeface="Times New Roman"/>
                          <a:cs typeface="Times New Roman"/>
                          <a:sym typeface="Times New Roman"/>
                        </a:rPr>
                        <a:t>3</a:t>
                      </a:r>
                      <a:endParaRPr b="1" sz="800" u="none" cap="none" strike="noStrike">
                        <a:solidFill>
                          <a:schemeClr val="dk1"/>
                        </a:solidFill>
                        <a:latin typeface="Times New Roman"/>
                        <a:ea typeface="Times New Roman"/>
                        <a:cs typeface="Times New Roman"/>
                        <a:sym typeface="Times New Roman"/>
                      </a:endParaRPr>
                    </a:p>
                  </a:txBody>
                  <a:tcPr marT="38100" marB="38100" marR="66675" marL="66675">
                    <a:solidFill>
                      <a:srgbClr val="9CC2E5"/>
                    </a:solidFill>
                  </a:tcPr>
                </a:tc>
                <a:tc>
                  <a:txBody>
                    <a:bodyPr/>
                    <a:lstStyle/>
                    <a:p>
                      <a:pPr indent="0" lvl="0" marL="0" marR="0" rtl="0" algn="l">
                        <a:lnSpc>
                          <a:spcPct val="100000"/>
                        </a:lnSpc>
                        <a:spcBef>
                          <a:spcPts val="0"/>
                        </a:spcBef>
                        <a:spcAft>
                          <a:spcPts val="0"/>
                        </a:spcAft>
                        <a:buNone/>
                      </a:pPr>
                      <a:r>
                        <a:rPr b="0" lang="en-GB" sz="1100">
                          <a:solidFill>
                            <a:schemeClr val="dk1"/>
                          </a:solidFill>
                          <a:latin typeface="Times New Roman"/>
                          <a:ea typeface="Times New Roman"/>
                          <a:cs typeface="Times New Roman"/>
                          <a:sym typeface="Times New Roman"/>
                        </a:rPr>
                        <a:t>3</a:t>
                      </a:r>
                      <a:endParaRPr b="0" sz="1100" u="none" cap="none" strike="noStrike">
                        <a:solidFill>
                          <a:schemeClr val="dk1"/>
                        </a:solidFill>
                        <a:latin typeface="Times New Roman"/>
                        <a:ea typeface="Times New Roman"/>
                        <a:cs typeface="Times New Roman"/>
                        <a:sym typeface="Times New Roman"/>
                      </a:endParaRPr>
                    </a:p>
                  </a:txBody>
                  <a:tcPr marT="34300" marB="34300" marR="68600" marL="68600">
                    <a:solidFill>
                      <a:srgbClr val="9CC2E5"/>
                    </a:solidFill>
                  </a:tcPr>
                </a:tc>
                <a:tc>
                  <a:txBody>
                    <a:bodyPr/>
                    <a:lstStyle/>
                    <a:p>
                      <a:pPr indent="0" lvl="0" marL="0" rtl="0" algn="l">
                        <a:lnSpc>
                          <a:spcPct val="115000"/>
                        </a:lnSpc>
                        <a:spcBef>
                          <a:spcPts val="1200"/>
                        </a:spcBef>
                        <a:spcAft>
                          <a:spcPts val="1200"/>
                        </a:spcAft>
                        <a:buSzPts val="1100"/>
                        <a:buNone/>
                      </a:pPr>
                      <a:r>
                        <a:rPr b="0" lang="en-GB" sz="1000">
                          <a:solidFill>
                            <a:schemeClr val="dk1"/>
                          </a:solidFill>
                          <a:latin typeface="Times New Roman"/>
                          <a:ea typeface="Times New Roman"/>
                          <a:cs typeface="Times New Roman"/>
                          <a:sym typeface="Times New Roman"/>
                        </a:rPr>
                        <a:t>The work focuses on image enhancement rather than encryption; it lacks integration with secure data transmission frameworks and does not address hardware performance or cryptographic security.</a:t>
                      </a:r>
                      <a:endParaRPr b="0" sz="1000">
                        <a:solidFill>
                          <a:schemeClr val="dk1"/>
                        </a:solidFill>
                        <a:latin typeface="Times New Roman"/>
                        <a:ea typeface="Times New Roman"/>
                        <a:cs typeface="Times New Roman"/>
                        <a:sym typeface="Times New Roman"/>
                      </a:endParaRPr>
                    </a:p>
                  </a:txBody>
                  <a:tcPr marT="34300" marB="34300" marR="68600" marL="68600">
                    <a:solidFill>
                      <a:srgbClr val="9CC2E5"/>
                    </a:solidFill>
                  </a:tcPr>
                </a:tc>
              </a:tr>
              <a:tr h="700150">
                <a:tc>
                  <a:txBody>
                    <a:bodyPr/>
                    <a:lstStyle/>
                    <a:p>
                      <a:pPr indent="0" lvl="0" marL="0" marR="0" rtl="0" algn="l">
                        <a:lnSpc>
                          <a:spcPct val="100000"/>
                        </a:lnSpc>
                        <a:spcBef>
                          <a:spcPts val="0"/>
                        </a:spcBef>
                        <a:spcAft>
                          <a:spcPts val="0"/>
                        </a:spcAft>
                        <a:buNone/>
                      </a:pPr>
                      <a:r>
                        <a:rPr lang="en-GB" sz="1100" u="none" cap="none" strike="noStrike">
                          <a:latin typeface="Times New Roman"/>
                          <a:ea typeface="Times New Roman"/>
                          <a:cs typeface="Times New Roman"/>
                          <a:sym typeface="Times New Roman"/>
                        </a:rPr>
                        <a:t>5</a:t>
                      </a:r>
                      <a:endParaRPr sz="1100"/>
                    </a:p>
                  </a:txBody>
                  <a:tcPr marT="34300" marB="34300" marR="68600" marL="68600"/>
                </a:tc>
                <a:tc>
                  <a:txBody>
                    <a:bodyPr/>
                    <a:lstStyle/>
                    <a:p>
                      <a:pPr indent="0" lvl="0" marL="0" rtl="0" algn="l">
                        <a:lnSpc>
                          <a:spcPct val="115000"/>
                        </a:lnSpc>
                        <a:spcBef>
                          <a:spcPts val="1200"/>
                        </a:spcBef>
                        <a:spcAft>
                          <a:spcPts val="1200"/>
                        </a:spcAft>
                        <a:buSzPts val="1100"/>
                        <a:buNone/>
                      </a:pPr>
                      <a:r>
                        <a:rPr lang="en-GB" sz="1100">
                          <a:latin typeface="Times New Roman"/>
                          <a:ea typeface="Times New Roman"/>
                          <a:cs typeface="Times New Roman"/>
                          <a:sym typeface="Times New Roman"/>
                        </a:rPr>
                        <a:t>Digital Image Scrambling Using Chaotic Systems Based on FPGA</a:t>
                      </a:r>
                      <a:endParaRPr sz="1100">
                        <a:latin typeface="Times New Roman"/>
                        <a:ea typeface="Times New Roman"/>
                        <a:cs typeface="Times New Roman"/>
                        <a:sym typeface="Times New Roman"/>
                      </a:endParaRPr>
                    </a:p>
                  </a:txBody>
                  <a:tcPr marT="34300" marB="34300" marR="68600" marL="68600"/>
                </a:tc>
                <a:tc>
                  <a:txBody>
                    <a:bodyPr/>
                    <a:lstStyle/>
                    <a:p>
                      <a:pPr indent="0" lvl="0" marL="0" rtl="0" algn="l">
                        <a:lnSpc>
                          <a:spcPct val="115000"/>
                        </a:lnSpc>
                        <a:spcBef>
                          <a:spcPts val="1200"/>
                        </a:spcBef>
                        <a:spcAft>
                          <a:spcPts val="1200"/>
                        </a:spcAft>
                        <a:buSzPts val="1100"/>
                        <a:buNone/>
                      </a:pPr>
                      <a:r>
                        <a:rPr lang="en-GB" sz="1100">
                          <a:latin typeface="Times New Roman"/>
                          <a:ea typeface="Times New Roman"/>
                          <a:cs typeface="Times New Roman"/>
                          <a:sym typeface="Times New Roman"/>
                        </a:rPr>
                        <a:t>A. J. Mansor, H. N. Abdalla, H. T. Ziboon</a:t>
                      </a:r>
                      <a:endParaRPr sz="1100">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b="0" i="0" lang="en-GB" sz="1100" u="none" cap="none" strike="noStrike">
                          <a:solidFill>
                            <a:schemeClr val="dk1"/>
                          </a:solidFill>
                          <a:latin typeface="Times New Roman"/>
                          <a:ea typeface="Times New Roman"/>
                          <a:cs typeface="Times New Roman"/>
                          <a:sym typeface="Times New Roman"/>
                        </a:rPr>
                        <a:t>20</a:t>
                      </a:r>
                      <a:r>
                        <a:rPr lang="en-GB" sz="1100">
                          <a:latin typeface="Times New Roman"/>
                          <a:ea typeface="Times New Roman"/>
                          <a:cs typeface="Times New Roman"/>
                          <a:sym typeface="Times New Roman"/>
                        </a:rPr>
                        <a:t>18</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lang="en-GB" sz="1100">
                          <a:latin typeface="Times New Roman"/>
                          <a:ea typeface="Times New Roman"/>
                          <a:cs typeface="Times New Roman"/>
                          <a:sym typeface="Times New Roman"/>
                        </a:rPr>
                        <a:t>30</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rtl="0" algn="l">
                        <a:lnSpc>
                          <a:spcPct val="115000"/>
                        </a:lnSpc>
                        <a:spcBef>
                          <a:spcPts val="1200"/>
                        </a:spcBef>
                        <a:spcAft>
                          <a:spcPts val="1200"/>
                        </a:spcAft>
                        <a:buNone/>
                      </a:pPr>
                      <a:r>
                        <a:rPr lang="en-GB" sz="1000">
                          <a:latin typeface="Times New Roman"/>
                          <a:ea typeface="Times New Roman"/>
                          <a:cs typeface="Times New Roman"/>
                          <a:sym typeface="Times New Roman"/>
                        </a:rPr>
                        <a:t>The approach focuses mainly on pixel scrambling, which alone does not provide full cryptographic security and lacks comparison with standardized encryption algorithms such as AES.</a:t>
                      </a:r>
                      <a:endParaRPr sz="1000">
                        <a:latin typeface="Times New Roman"/>
                        <a:ea typeface="Times New Roman"/>
                        <a:cs typeface="Times New Roman"/>
                        <a:sym typeface="Times New Roman"/>
                      </a:endParaRPr>
                    </a:p>
                  </a:txBody>
                  <a:tcPr marT="91425" marB="91425" marR="91425" marL="91425"/>
                </a:tc>
              </a:tr>
              <a:tr h="735875">
                <a:tc>
                  <a:txBody>
                    <a:bodyPr/>
                    <a:lstStyle/>
                    <a:p>
                      <a:pPr indent="0" lvl="0" marL="0" marR="0" rtl="0" algn="l">
                        <a:lnSpc>
                          <a:spcPct val="100000"/>
                        </a:lnSpc>
                        <a:spcBef>
                          <a:spcPts val="0"/>
                        </a:spcBef>
                        <a:spcAft>
                          <a:spcPts val="0"/>
                        </a:spcAft>
                        <a:buNone/>
                      </a:pPr>
                      <a:r>
                        <a:rPr lang="en-GB" sz="1100" u="none" cap="none" strike="noStrike">
                          <a:latin typeface="Times New Roman"/>
                          <a:ea typeface="Times New Roman"/>
                          <a:cs typeface="Times New Roman"/>
                          <a:sym typeface="Times New Roman"/>
                        </a:rPr>
                        <a:t>6</a:t>
                      </a:r>
                      <a:endParaRPr sz="1100"/>
                    </a:p>
                  </a:txBody>
                  <a:tcPr marT="34300" marB="34300" marR="68600" marL="68600"/>
                </a:tc>
                <a:tc>
                  <a:txBody>
                    <a:bodyPr/>
                    <a:lstStyle/>
                    <a:p>
                      <a:pPr indent="0" lvl="0" marL="0" marR="0" rtl="0" algn="l">
                        <a:lnSpc>
                          <a:spcPct val="115000"/>
                        </a:lnSpc>
                        <a:spcBef>
                          <a:spcPts val="1200"/>
                        </a:spcBef>
                        <a:spcAft>
                          <a:spcPts val="1200"/>
                        </a:spcAft>
                        <a:buNone/>
                      </a:pPr>
                      <a:r>
                        <a:rPr lang="en-GB" sz="1100">
                          <a:latin typeface="Times New Roman"/>
                          <a:ea typeface="Times New Roman"/>
                          <a:cs typeface="Times New Roman"/>
                          <a:sym typeface="Times New Roman"/>
                        </a:rPr>
                        <a:t>Hardware Implementation of Two Level Authentication Algorithm Using Cryptography with Steganography for Text-Image Security</a:t>
                      </a:r>
                      <a:endParaRPr sz="1100" u="none" cap="none" strike="noStrike">
                        <a:latin typeface="Times New Roman"/>
                        <a:ea typeface="Times New Roman"/>
                        <a:cs typeface="Times New Roman"/>
                        <a:sym typeface="Times New Roman"/>
                      </a:endParaRPr>
                    </a:p>
                  </a:txBody>
                  <a:tcPr marT="91425" marB="91425" marR="91425" marL="91425"/>
                </a:tc>
                <a:tc>
                  <a:txBody>
                    <a:bodyPr/>
                    <a:lstStyle/>
                    <a:p>
                      <a:pPr indent="0" lvl="0" marL="0" rtl="0" algn="l">
                        <a:lnSpc>
                          <a:spcPct val="115000"/>
                        </a:lnSpc>
                        <a:spcBef>
                          <a:spcPts val="1200"/>
                        </a:spcBef>
                        <a:spcAft>
                          <a:spcPts val="1200"/>
                        </a:spcAft>
                        <a:buSzPts val="1100"/>
                        <a:buNone/>
                      </a:pPr>
                      <a:r>
                        <a:rPr lang="en-GB" sz="1100">
                          <a:latin typeface="Times New Roman"/>
                          <a:ea typeface="Times New Roman"/>
                          <a:cs typeface="Times New Roman"/>
                          <a:sym typeface="Times New Roman"/>
                        </a:rPr>
                        <a:t>P. Ghosh, S. Ghosh, H. Rahaman</a:t>
                      </a:r>
                      <a:endParaRPr sz="1100">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b="0" i="0" lang="en-GB" sz="1100" u="none" cap="none" strike="noStrike">
                          <a:solidFill>
                            <a:schemeClr val="dk1"/>
                          </a:solidFill>
                          <a:latin typeface="Times New Roman"/>
                          <a:ea typeface="Times New Roman"/>
                          <a:cs typeface="Times New Roman"/>
                          <a:sym typeface="Times New Roman"/>
                        </a:rPr>
                        <a:t>202</a:t>
                      </a:r>
                      <a:r>
                        <a:rPr lang="en-GB" sz="1100">
                          <a:latin typeface="Times New Roman"/>
                          <a:ea typeface="Times New Roman"/>
                          <a:cs typeface="Times New Roman"/>
                          <a:sym typeface="Times New Roman"/>
                        </a:rPr>
                        <a:t>4</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marR="0" rtl="0" algn="l">
                        <a:lnSpc>
                          <a:spcPct val="100000"/>
                        </a:lnSpc>
                        <a:spcBef>
                          <a:spcPts val="0"/>
                        </a:spcBef>
                        <a:spcAft>
                          <a:spcPts val="0"/>
                        </a:spcAft>
                        <a:buNone/>
                      </a:pPr>
                      <a:r>
                        <a:rPr lang="en-GB" sz="1100">
                          <a:latin typeface="Times New Roman"/>
                          <a:ea typeface="Times New Roman"/>
                          <a:cs typeface="Times New Roman"/>
                          <a:sym typeface="Times New Roman"/>
                        </a:rPr>
                        <a:t>8</a:t>
                      </a:r>
                      <a:endParaRPr sz="1100" u="none" cap="none" strike="noStrike">
                        <a:latin typeface="Times New Roman"/>
                        <a:ea typeface="Times New Roman"/>
                        <a:cs typeface="Times New Roman"/>
                        <a:sym typeface="Times New Roman"/>
                      </a:endParaRPr>
                    </a:p>
                  </a:txBody>
                  <a:tcPr marT="34300" marB="34300" marR="68600" marL="68600"/>
                </a:tc>
                <a:tc>
                  <a:txBody>
                    <a:bodyPr/>
                    <a:lstStyle/>
                    <a:p>
                      <a:pPr indent="0" lvl="0" marL="0" rtl="0" algn="l">
                        <a:lnSpc>
                          <a:spcPct val="115000"/>
                        </a:lnSpc>
                        <a:spcBef>
                          <a:spcPts val="1200"/>
                        </a:spcBef>
                        <a:spcAft>
                          <a:spcPts val="1200"/>
                        </a:spcAft>
                        <a:buSzPts val="1100"/>
                        <a:buNone/>
                      </a:pPr>
                      <a:r>
                        <a:rPr lang="en-GB" sz="1000">
                          <a:latin typeface="Times New Roman"/>
                          <a:ea typeface="Times New Roman"/>
                          <a:cs typeface="Times New Roman"/>
                          <a:sym typeface="Times New Roman"/>
                        </a:rPr>
                        <a:t>Combining cryptography with steganography increases security layers, but it adds implementation complexity and could lead to higher latency and resource usage on FPGA platforms.</a:t>
                      </a:r>
                      <a:endParaRPr sz="1100">
                        <a:latin typeface="Times New Roman"/>
                        <a:ea typeface="Times New Roman"/>
                        <a:cs typeface="Times New Roman"/>
                        <a:sym typeface="Times New Roman"/>
                      </a:endParaRPr>
                    </a:p>
                  </a:txBody>
                  <a:tcPr marT="34300" marB="34300" marR="68600" marL="6860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txBox="1"/>
          <p:nvPr>
            <p:ph type="ctrTitle"/>
          </p:nvPr>
        </p:nvSpPr>
        <p:spPr>
          <a:xfrm>
            <a:off x="1847953" y="524225"/>
            <a:ext cx="55728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3000"/>
              <a:buFont typeface="Calibri"/>
              <a:buNone/>
            </a:pPr>
            <a:r>
              <a:rPr b="1" lang="en-GB" sz="2700">
                <a:solidFill>
                  <a:srgbClr val="000A30"/>
                </a:solidFill>
                <a:latin typeface="Times New Roman"/>
                <a:ea typeface="Times New Roman"/>
                <a:cs typeface="Times New Roman"/>
                <a:sym typeface="Times New Roman"/>
              </a:rPr>
              <a:t>COMPONENTS REQUIRED</a:t>
            </a:r>
            <a:endParaRPr b="1" sz="2700">
              <a:solidFill>
                <a:srgbClr val="000A30"/>
              </a:solidFill>
              <a:latin typeface="Times New Roman"/>
              <a:ea typeface="Times New Roman"/>
              <a:cs typeface="Times New Roman"/>
              <a:sym typeface="Times New Roman"/>
            </a:endParaRPr>
          </a:p>
        </p:txBody>
      </p:sp>
      <p:sp>
        <p:nvSpPr>
          <p:cNvPr id="227" name="Google Shape;227;p32"/>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228" name="Google Shape;228;p32"/>
          <p:cNvSpPr txBox="1"/>
          <p:nvPr/>
        </p:nvSpPr>
        <p:spPr>
          <a:xfrm>
            <a:off x="6859282" y="4773205"/>
            <a:ext cx="1882382" cy="27699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229" name="Google Shape;229;p32"/>
          <p:cNvSpPr/>
          <p:nvPr/>
        </p:nvSpPr>
        <p:spPr>
          <a:xfrm>
            <a:off x="376517" y="0"/>
            <a:ext cx="1284643" cy="127747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230" name="Google Shape;230;p32"/>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231" name="Google Shape;231;p32"/>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232" name="Google Shape;232;p32"/>
          <p:cNvSpPr txBox="1"/>
          <p:nvPr/>
        </p:nvSpPr>
        <p:spPr>
          <a:xfrm>
            <a:off x="376517" y="1405491"/>
            <a:ext cx="8227840" cy="2997020"/>
          </a:xfrm>
          <a:prstGeom prst="rect">
            <a:avLst/>
          </a:prstGeom>
          <a:noFill/>
          <a:ln>
            <a:noFill/>
          </a:ln>
        </p:spPr>
        <p:txBody>
          <a:bodyPr anchorCtr="0" anchor="t" bIns="34275" lIns="68575" spcFirstLastPara="1" rIns="68575" wrap="square" tIns="34275">
            <a:norm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233" name="Google Shape;233;p32"/>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sp>
        <p:nvSpPr>
          <p:cNvPr id="234" name="Google Shape;234;p32"/>
          <p:cNvSpPr txBox="1"/>
          <p:nvPr/>
        </p:nvSpPr>
        <p:spPr>
          <a:xfrm>
            <a:off x="376525" y="1558800"/>
            <a:ext cx="4780200" cy="2896800"/>
          </a:xfrm>
          <a:prstGeom prst="rect">
            <a:avLst/>
          </a:prstGeom>
          <a:noFill/>
          <a:ln>
            <a:noFill/>
          </a:ln>
        </p:spPr>
        <p:txBody>
          <a:bodyPr anchorCtr="0" anchor="t" bIns="34275" lIns="68575" spcFirstLastPara="1" rIns="68575" wrap="square" tIns="34275">
            <a:normAutofit lnSpcReduction="10000"/>
          </a:bodyPr>
          <a:lstStyle/>
          <a:p>
            <a:pPr indent="-298450" lvl="0" marL="457200" rtl="0" algn="just">
              <a:lnSpc>
                <a:spcPct val="150000"/>
              </a:lnSpc>
              <a:spcBef>
                <a:spcPts val="1200"/>
              </a:spcBef>
              <a:spcAft>
                <a:spcPts val="0"/>
              </a:spcAft>
              <a:buClr>
                <a:schemeClr val="dk1"/>
              </a:buClr>
              <a:buSzPts val="1100"/>
              <a:buChar char="●"/>
            </a:pPr>
            <a:r>
              <a:rPr lang="en-GB" sz="1100">
                <a:solidFill>
                  <a:schemeClr val="dk1"/>
                </a:solidFill>
                <a:latin typeface="Times New Roman"/>
                <a:ea typeface="Times New Roman"/>
                <a:cs typeface="Times New Roman"/>
                <a:sym typeface="Times New Roman"/>
              </a:rPr>
              <a:t>The </a:t>
            </a:r>
            <a:r>
              <a:rPr b="1" lang="en-GB" sz="1100">
                <a:solidFill>
                  <a:schemeClr val="dk1"/>
                </a:solidFill>
                <a:latin typeface="Times New Roman"/>
                <a:ea typeface="Times New Roman"/>
                <a:cs typeface="Times New Roman"/>
                <a:sym typeface="Times New Roman"/>
              </a:rPr>
              <a:t>PYNQ-Z2</a:t>
            </a:r>
            <a:r>
              <a:rPr lang="en-GB" sz="1100">
                <a:solidFill>
                  <a:schemeClr val="dk1"/>
                </a:solidFill>
                <a:latin typeface="Times New Roman"/>
                <a:ea typeface="Times New Roman"/>
                <a:cs typeface="Times New Roman"/>
                <a:sym typeface="Times New Roman"/>
              </a:rPr>
              <a:t> is an FPGA development board based on the </a:t>
            </a:r>
            <a:r>
              <a:rPr b="1" lang="en-GB" sz="1100">
                <a:solidFill>
                  <a:schemeClr val="dk1"/>
                </a:solidFill>
                <a:latin typeface="Times New Roman"/>
                <a:ea typeface="Times New Roman"/>
                <a:cs typeface="Times New Roman"/>
                <a:sym typeface="Times New Roman"/>
              </a:rPr>
              <a:t>Xilinx Zynq-7000 SoC</a:t>
            </a:r>
            <a:r>
              <a:rPr lang="en-GB" sz="1100">
                <a:solidFill>
                  <a:schemeClr val="dk1"/>
                </a:solidFill>
                <a:latin typeface="Times New Roman"/>
                <a:ea typeface="Times New Roman"/>
                <a:cs typeface="Times New Roman"/>
                <a:sym typeface="Times New Roman"/>
              </a:rPr>
              <a:t>, integrating a </a:t>
            </a:r>
            <a:r>
              <a:rPr b="1" lang="en-GB" sz="1100">
                <a:solidFill>
                  <a:schemeClr val="dk1"/>
                </a:solidFill>
                <a:latin typeface="Times New Roman"/>
                <a:ea typeface="Times New Roman"/>
                <a:cs typeface="Times New Roman"/>
                <a:sym typeface="Times New Roman"/>
              </a:rPr>
              <a:t>dual-core ARM Cortex-A9 processor</a:t>
            </a:r>
            <a:r>
              <a:rPr lang="en-GB" sz="1100">
                <a:solidFill>
                  <a:schemeClr val="dk1"/>
                </a:solidFill>
                <a:latin typeface="Times New Roman"/>
                <a:ea typeface="Times New Roman"/>
                <a:cs typeface="Times New Roman"/>
                <a:sym typeface="Times New Roman"/>
              </a:rPr>
              <a:t> with on-chip programmable logic for heterogeneous computing.</a:t>
            </a:r>
            <a:endParaRPr sz="1100">
              <a:solidFill>
                <a:schemeClr val="dk1"/>
              </a:solidFill>
              <a:latin typeface="Times New Roman"/>
              <a:ea typeface="Times New Roman"/>
              <a:cs typeface="Times New Roman"/>
              <a:sym typeface="Times New Roman"/>
            </a:endParaRPr>
          </a:p>
          <a:p>
            <a:pPr indent="-298450" lvl="0" marL="457200" rtl="0" algn="just">
              <a:lnSpc>
                <a:spcPct val="150000"/>
              </a:lnSpc>
              <a:spcBef>
                <a:spcPts val="0"/>
              </a:spcBef>
              <a:spcAft>
                <a:spcPts val="0"/>
              </a:spcAft>
              <a:buClr>
                <a:schemeClr val="dk1"/>
              </a:buClr>
              <a:buSzPts val="1100"/>
              <a:buChar char="●"/>
            </a:pPr>
            <a:r>
              <a:rPr lang="en-GB" sz="1100">
                <a:solidFill>
                  <a:schemeClr val="dk1"/>
                </a:solidFill>
                <a:latin typeface="Times New Roman"/>
                <a:ea typeface="Times New Roman"/>
                <a:cs typeface="Times New Roman"/>
                <a:sym typeface="Times New Roman"/>
              </a:rPr>
              <a:t>It features the </a:t>
            </a:r>
            <a:r>
              <a:rPr b="1" lang="en-GB" sz="1100">
                <a:solidFill>
                  <a:schemeClr val="dk1"/>
                </a:solidFill>
                <a:latin typeface="Times New Roman"/>
                <a:ea typeface="Times New Roman"/>
                <a:cs typeface="Times New Roman"/>
                <a:sym typeface="Times New Roman"/>
              </a:rPr>
              <a:t>XC7Z020-1CLG400C device</a:t>
            </a:r>
            <a:r>
              <a:rPr lang="en-GB" sz="1100">
                <a:solidFill>
                  <a:schemeClr val="dk1"/>
                </a:solidFill>
                <a:latin typeface="Times New Roman"/>
                <a:ea typeface="Times New Roman"/>
                <a:cs typeface="Times New Roman"/>
                <a:sym typeface="Times New Roman"/>
              </a:rPr>
              <a:t>, offering an optimal balance of processing performance and reconfigurable hardware resources for embedded and edge-computing applications.</a:t>
            </a:r>
            <a:endParaRPr sz="1100">
              <a:solidFill>
                <a:schemeClr val="dk1"/>
              </a:solidFill>
              <a:latin typeface="Times New Roman"/>
              <a:ea typeface="Times New Roman"/>
              <a:cs typeface="Times New Roman"/>
              <a:sym typeface="Times New Roman"/>
            </a:endParaRPr>
          </a:p>
          <a:p>
            <a:pPr indent="-298450" lvl="0" marL="457200" rtl="0" algn="just">
              <a:lnSpc>
                <a:spcPct val="150000"/>
              </a:lnSpc>
              <a:spcBef>
                <a:spcPts val="0"/>
              </a:spcBef>
              <a:spcAft>
                <a:spcPts val="0"/>
              </a:spcAft>
              <a:buClr>
                <a:schemeClr val="dk1"/>
              </a:buClr>
              <a:buSzPts val="1100"/>
              <a:buChar char="●"/>
            </a:pPr>
            <a:r>
              <a:rPr lang="en-GB" sz="1100">
                <a:solidFill>
                  <a:schemeClr val="dk1"/>
                </a:solidFill>
                <a:latin typeface="Times New Roman"/>
                <a:ea typeface="Times New Roman"/>
                <a:cs typeface="Times New Roman"/>
                <a:sym typeface="Times New Roman"/>
              </a:rPr>
              <a:t>The programmable logic provides </a:t>
            </a:r>
            <a:r>
              <a:rPr b="1" lang="en-GB" sz="1100">
                <a:solidFill>
                  <a:schemeClr val="dk1"/>
                </a:solidFill>
                <a:latin typeface="Times New Roman"/>
                <a:ea typeface="Times New Roman"/>
                <a:cs typeface="Times New Roman"/>
                <a:sym typeface="Times New Roman"/>
              </a:rPr>
              <a:t>13,300 logic slices, 220 DSP slices, and 630 KB of Block RAM</a:t>
            </a:r>
            <a:r>
              <a:rPr lang="en-GB" sz="1100">
                <a:solidFill>
                  <a:schemeClr val="dk1"/>
                </a:solidFill>
                <a:latin typeface="Times New Roman"/>
                <a:ea typeface="Times New Roman"/>
                <a:cs typeface="Times New Roman"/>
                <a:sym typeface="Times New Roman"/>
              </a:rPr>
              <a:t>, enabling highly parallel acceleration of compute-intensive tasks such as </a:t>
            </a:r>
            <a:r>
              <a:rPr b="1" lang="en-GB" sz="1100">
                <a:solidFill>
                  <a:schemeClr val="dk1"/>
                </a:solidFill>
                <a:latin typeface="Times New Roman"/>
                <a:ea typeface="Times New Roman"/>
                <a:cs typeface="Times New Roman"/>
                <a:sym typeface="Times New Roman"/>
              </a:rPr>
              <a:t>image processing and cryptography</a:t>
            </a:r>
            <a:r>
              <a:rPr lang="en-GB" sz="1100">
                <a:solidFill>
                  <a:schemeClr val="dk1"/>
                </a:solidFill>
                <a:latin typeface="Times New Roman"/>
                <a:ea typeface="Times New Roman"/>
                <a:cs typeface="Times New Roman"/>
                <a:sym typeface="Times New Roman"/>
              </a:rPr>
              <a:t>.</a:t>
            </a:r>
            <a:endParaRPr sz="1100">
              <a:solidFill>
                <a:schemeClr val="dk1"/>
              </a:solidFill>
              <a:latin typeface="Times New Roman"/>
              <a:ea typeface="Times New Roman"/>
              <a:cs typeface="Times New Roman"/>
              <a:sym typeface="Times New Roman"/>
            </a:endParaRPr>
          </a:p>
          <a:p>
            <a:pPr indent="-298450" lvl="0" marL="457200" rtl="0" algn="just">
              <a:lnSpc>
                <a:spcPct val="150000"/>
              </a:lnSpc>
              <a:spcBef>
                <a:spcPts val="0"/>
              </a:spcBef>
              <a:spcAft>
                <a:spcPts val="0"/>
              </a:spcAft>
              <a:buClr>
                <a:schemeClr val="dk1"/>
              </a:buClr>
              <a:buSzPts val="1100"/>
              <a:buChar char="●"/>
            </a:pPr>
            <a:r>
              <a:rPr lang="en-GB" sz="1100">
                <a:solidFill>
                  <a:schemeClr val="dk1"/>
                </a:solidFill>
                <a:latin typeface="Times New Roman"/>
                <a:ea typeface="Times New Roman"/>
                <a:cs typeface="Times New Roman"/>
                <a:sym typeface="Times New Roman"/>
              </a:rPr>
              <a:t>The </a:t>
            </a:r>
            <a:r>
              <a:rPr b="1" lang="en-GB" sz="1100">
                <a:solidFill>
                  <a:schemeClr val="dk1"/>
                </a:solidFill>
                <a:latin typeface="Times New Roman"/>
                <a:ea typeface="Times New Roman"/>
                <a:cs typeface="Times New Roman"/>
                <a:sym typeface="Times New Roman"/>
              </a:rPr>
              <a:t>ARM Cortex-A9 cores operate up to 650 MHz</a:t>
            </a:r>
            <a:r>
              <a:rPr lang="en-GB" sz="1100">
                <a:solidFill>
                  <a:schemeClr val="dk1"/>
                </a:solidFill>
                <a:latin typeface="Times New Roman"/>
                <a:ea typeface="Times New Roman"/>
                <a:cs typeface="Times New Roman"/>
                <a:sym typeface="Times New Roman"/>
              </a:rPr>
              <a:t>, managing high-level software functions including operating system services, Python execution, and system control.</a:t>
            </a:r>
            <a:endParaRPr b="0" i="0" sz="1800" u="none" cap="none" strike="noStrike">
              <a:solidFill>
                <a:schemeClr val="dk1"/>
              </a:solidFill>
              <a:latin typeface="Times New Roman"/>
              <a:ea typeface="Times New Roman"/>
              <a:cs typeface="Times New Roman"/>
              <a:sym typeface="Times New Roman"/>
            </a:endParaRPr>
          </a:p>
        </p:txBody>
      </p:sp>
      <p:pic>
        <p:nvPicPr>
          <p:cNvPr descr="VTU_logo" id="235" name="Google Shape;235;p32"/>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pic>
        <p:nvPicPr>
          <p:cNvPr id="236" name="Google Shape;236;p32"/>
          <p:cNvPicPr preferRelativeResize="0"/>
          <p:nvPr/>
        </p:nvPicPr>
        <p:blipFill rotWithShape="1">
          <a:blip r:embed="rId5">
            <a:alphaModFix/>
          </a:blip>
          <a:srcRect b="0" l="0" r="0" t="0"/>
          <a:stretch/>
        </p:blipFill>
        <p:spPr>
          <a:xfrm>
            <a:off x="5108048" y="1717162"/>
            <a:ext cx="3618676" cy="2312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3"/>
          <p:cNvSpPr txBox="1"/>
          <p:nvPr>
            <p:ph type="ctrTitle"/>
          </p:nvPr>
        </p:nvSpPr>
        <p:spPr>
          <a:xfrm>
            <a:off x="1847953" y="524225"/>
            <a:ext cx="54936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3000"/>
              <a:buFont typeface="Calibri"/>
              <a:buNone/>
            </a:pPr>
            <a:r>
              <a:rPr b="1" lang="en-GB" sz="2700">
                <a:solidFill>
                  <a:srgbClr val="000A30"/>
                </a:solidFill>
                <a:latin typeface="Times New Roman"/>
                <a:ea typeface="Times New Roman"/>
                <a:cs typeface="Times New Roman"/>
                <a:sym typeface="Times New Roman"/>
              </a:rPr>
              <a:t>COMPONENTS REQUIRED</a:t>
            </a:r>
            <a:endParaRPr b="1" sz="2700">
              <a:solidFill>
                <a:srgbClr val="000A30"/>
              </a:solidFill>
              <a:latin typeface="Times New Roman"/>
              <a:ea typeface="Times New Roman"/>
              <a:cs typeface="Times New Roman"/>
              <a:sym typeface="Times New Roman"/>
            </a:endParaRPr>
          </a:p>
        </p:txBody>
      </p:sp>
      <p:sp>
        <p:nvSpPr>
          <p:cNvPr id="242" name="Google Shape;242;p33"/>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243" name="Google Shape;243;p33"/>
          <p:cNvSpPr txBox="1"/>
          <p:nvPr/>
        </p:nvSpPr>
        <p:spPr>
          <a:xfrm>
            <a:off x="6859282" y="4773205"/>
            <a:ext cx="18825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244" name="Google Shape;244;p33"/>
          <p:cNvSpPr/>
          <p:nvPr/>
        </p:nvSpPr>
        <p:spPr>
          <a:xfrm>
            <a:off x="376517" y="0"/>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245" name="Google Shape;245;p33"/>
          <p:cNvPicPr preferRelativeResize="0"/>
          <p:nvPr/>
        </p:nvPicPr>
        <p:blipFill rotWithShape="1">
          <a:blip r:embed="rId3">
            <a:alphaModFix/>
          </a:blip>
          <a:srcRect b="0" l="0" r="0" t="0"/>
          <a:stretch/>
        </p:blipFill>
        <p:spPr>
          <a:xfrm>
            <a:off x="511212" y="312326"/>
            <a:ext cx="1015254" cy="652781"/>
          </a:xfrm>
          <a:prstGeom prst="rect">
            <a:avLst/>
          </a:prstGeom>
          <a:noFill/>
          <a:ln>
            <a:noFill/>
          </a:ln>
        </p:spPr>
      </p:pic>
      <p:sp>
        <p:nvSpPr>
          <p:cNvPr id="246" name="Google Shape;246;p33"/>
          <p:cNvSpPr/>
          <p:nvPr/>
        </p:nvSpPr>
        <p:spPr>
          <a:xfrm>
            <a:off x="1915173" y="1052312"/>
            <a:ext cx="675900" cy="47400"/>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247" name="Google Shape;247;p33"/>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sp>
        <p:nvSpPr>
          <p:cNvPr id="248" name="Google Shape;248;p33"/>
          <p:cNvSpPr txBox="1"/>
          <p:nvPr/>
        </p:nvSpPr>
        <p:spPr>
          <a:xfrm>
            <a:off x="410550" y="1498987"/>
            <a:ext cx="8227800" cy="2682000"/>
          </a:xfrm>
          <a:prstGeom prst="rect">
            <a:avLst/>
          </a:prstGeom>
          <a:noFill/>
          <a:ln>
            <a:noFill/>
          </a:ln>
        </p:spPr>
        <p:txBody>
          <a:bodyPr anchorCtr="0" anchor="t" bIns="34275" lIns="68575" spcFirstLastPara="1" rIns="68575" wrap="square" tIns="34275">
            <a:noAutofit/>
          </a:bodyPr>
          <a:lstStyle/>
          <a:p>
            <a:pPr indent="-298450" lvl="0" marL="457200" rtl="0" algn="just">
              <a:lnSpc>
                <a:spcPct val="150000"/>
              </a:lnSpc>
              <a:spcBef>
                <a:spcPts val="1200"/>
              </a:spcBef>
              <a:spcAft>
                <a:spcPts val="0"/>
              </a:spcAft>
              <a:buClr>
                <a:schemeClr val="dk1"/>
              </a:buClr>
              <a:buSzPts val="1100"/>
              <a:buFont typeface="Times New Roman"/>
              <a:buChar char="●"/>
            </a:pPr>
            <a:r>
              <a:rPr lang="en-GB" sz="1100">
                <a:solidFill>
                  <a:schemeClr val="dk1"/>
                </a:solidFill>
                <a:latin typeface="Times New Roman"/>
                <a:ea typeface="Times New Roman"/>
                <a:cs typeface="Times New Roman"/>
                <a:sym typeface="Times New Roman"/>
              </a:rPr>
              <a:t>The board includes </a:t>
            </a:r>
            <a:r>
              <a:rPr b="1" lang="en-GB" sz="1100">
                <a:solidFill>
                  <a:schemeClr val="dk1"/>
                </a:solidFill>
                <a:latin typeface="Times New Roman"/>
                <a:ea typeface="Times New Roman"/>
                <a:cs typeface="Times New Roman"/>
                <a:sym typeface="Times New Roman"/>
              </a:rPr>
              <a:t>512 MB of DDR3 memory</a:t>
            </a:r>
            <a:r>
              <a:rPr lang="en-GB" sz="1100">
                <a:solidFill>
                  <a:schemeClr val="dk1"/>
                </a:solidFill>
                <a:latin typeface="Times New Roman"/>
                <a:ea typeface="Times New Roman"/>
                <a:cs typeface="Times New Roman"/>
                <a:sym typeface="Times New Roman"/>
              </a:rPr>
              <a:t>, directly interfaced with the Processing System to support high-bandwidth data access for both software and hardware accelerators.</a:t>
            </a:r>
            <a:endParaRPr b="1" sz="1100">
              <a:solidFill>
                <a:schemeClr val="dk1"/>
              </a:solidFill>
              <a:latin typeface="Times New Roman"/>
              <a:ea typeface="Times New Roman"/>
              <a:cs typeface="Times New Roman"/>
              <a:sym typeface="Times New Roman"/>
            </a:endParaRPr>
          </a:p>
          <a:p>
            <a:pPr indent="-298450" lvl="0" marL="457200" rtl="0" algn="just">
              <a:lnSpc>
                <a:spcPct val="150000"/>
              </a:lnSpc>
              <a:spcBef>
                <a:spcPts val="0"/>
              </a:spcBef>
              <a:spcAft>
                <a:spcPts val="0"/>
              </a:spcAft>
              <a:buClr>
                <a:schemeClr val="dk1"/>
              </a:buClr>
              <a:buSzPts val="1100"/>
              <a:buFont typeface="Times New Roman"/>
              <a:buChar char="●"/>
            </a:pPr>
            <a:r>
              <a:rPr b="1" lang="en-GB" sz="1100">
                <a:solidFill>
                  <a:schemeClr val="dk1"/>
                </a:solidFill>
                <a:latin typeface="Times New Roman"/>
                <a:ea typeface="Times New Roman"/>
                <a:cs typeface="Times New Roman"/>
                <a:sym typeface="Times New Roman"/>
              </a:rPr>
              <a:t>AXI High-Performance (HP) ports</a:t>
            </a:r>
            <a:r>
              <a:rPr lang="en-GB" sz="1100">
                <a:solidFill>
                  <a:schemeClr val="dk1"/>
                </a:solidFill>
                <a:latin typeface="Times New Roman"/>
                <a:ea typeface="Times New Roman"/>
                <a:cs typeface="Times New Roman"/>
                <a:sym typeface="Times New Roman"/>
              </a:rPr>
              <a:t> enable low-latency, high-throughput data transfers between DDR memory and FPGA-based hardware IPs.</a:t>
            </a:r>
            <a:endParaRPr sz="1100">
              <a:solidFill>
                <a:schemeClr val="dk1"/>
              </a:solidFill>
              <a:latin typeface="Times New Roman"/>
              <a:ea typeface="Times New Roman"/>
              <a:cs typeface="Times New Roman"/>
              <a:sym typeface="Times New Roman"/>
            </a:endParaRPr>
          </a:p>
          <a:p>
            <a:pPr indent="-298450" lvl="0" marL="457200" rtl="0" algn="just">
              <a:lnSpc>
                <a:spcPct val="150000"/>
              </a:lnSpc>
              <a:spcBef>
                <a:spcPts val="0"/>
              </a:spcBef>
              <a:spcAft>
                <a:spcPts val="0"/>
              </a:spcAft>
              <a:buClr>
                <a:schemeClr val="dk1"/>
              </a:buClr>
              <a:buSzPts val="1100"/>
              <a:buChar char="●"/>
            </a:pPr>
            <a:r>
              <a:rPr b="1" lang="en-GB" sz="1100">
                <a:solidFill>
                  <a:schemeClr val="dk1"/>
                </a:solidFill>
                <a:latin typeface="Times New Roman"/>
                <a:ea typeface="Times New Roman"/>
                <a:cs typeface="Times New Roman"/>
                <a:sym typeface="Times New Roman"/>
              </a:rPr>
              <a:t>AXI Direct Memory Access (DMA)</a:t>
            </a:r>
            <a:r>
              <a:rPr lang="en-GB" sz="1100">
                <a:solidFill>
                  <a:schemeClr val="dk1"/>
                </a:solidFill>
                <a:latin typeface="Times New Roman"/>
                <a:ea typeface="Times New Roman"/>
                <a:cs typeface="Times New Roman"/>
                <a:sym typeface="Times New Roman"/>
              </a:rPr>
              <a:t> support allows efficient bulk data movement without CPU involvement, significantly reducing processor overhead and improving system performance.</a:t>
            </a:r>
            <a:endParaRPr sz="1200">
              <a:solidFill>
                <a:schemeClr val="dk1"/>
              </a:solidFill>
              <a:latin typeface="Times New Roman"/>
              <a:ea typeface="Times New Roman"/>
              <a:cs typeface="Times New Roman"/>
              <a:sym typeface="Times New Roman"/>
            </a:endParaRPr>
          </a:p>
        </p:txBody>
      </p:sp>
      <p:pic>
        <p:nvPicPr>
          <p:cNvPr descr="VTU_logo" id="249" name="Google Shape;249;p33"/>
          <p:cNvPicPr preferRelativeResize="0"/>
          <p:nvPr/>
        </p:nvPicPr>
        <p:blipFill rotWithShape="1">
          <a:blip r:embed="rId4">
            <a:alphaModFix/>
          </a:blip>
          <a:srcRect b="0" l="0" r="0" t="0"/>
          <a:stretch/>
        </p:blipFill>
        <p:spPr>
          <a:xfrm>
            <a:off x="8014064" y="58332"/>
            <a:ext cx="917966" cy="112668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ph type="ctrTitle"/>
          </p:nvPr>
        </p:nvSpPr>
        <p:spPr>
          <a:xfrm>
            <a:off x="1847942" y="524215"/>
            <a:ext cx="5217227" cy="507492"/>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Calibri"/>
                <a:ea typeface="Calibri"/>
                <a:cs typeface="Calibri"/>
                <a:sym typeface="Calibri"/>
              </a:rPr>
              <a:t>BLOCK DIAGRAM OF THE PROJECT</a:t>
            </a:r>
            <a:endParaRPr b="1" sz="2700">
              <a:solidFill>
                <a:srgbClr val="000A30"/>
              </a:solidFill>
              <a:latin typeface="Calibri"/>
              <a:ea typeface="Calibri"/>
              <a:cs typeface="Calibri"/>
              <a:sym typeface="Calibri"/>
            </a:endParaRPr>
          </a:p>
        </p:txBody>
      </p:sp>
      <p:sp>
        <p:nvSpPr>
          <p:cNvPr id="255" name="Google Shape;255;p34"/>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56" name="Google Shape;256;p34"/>
          <p:cNvSpPr txBox="1"/>
          <p:nvPr/>
        </p:nvSpPr>
        <p:spPr>
          <a:xfrm>
            <a:off x="6859282" y="4773205"/>
            <a:ext cx="1864094" cy="27699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Calibri"/>
                <a:ea typeface="Calibri"/>
                <a:cs typeface="Calibri"/>
                <a:sym typeface="Calibri"/>
              </a:rPr>
              <a:t>www.cambridge.edu.in</a:t>
            </a:r>
            <a:endParaRPr b="0" i="0" sz="1100" u="none" cap="none" strike="noStrike">
              <a:solidFill>
                <a:srgbClr val="000000"/>
              </a:solidFill>
              <a:latin typeface="Arial"/>
              <a:ea typeface="Arial"/>
              <a:cs typeface="Arial"/>
              <a:sym typeface="Arial"/>
            </a:endParaRPr>
          </a:p>
        </p:txBody>
      </p:sp>
      <p:sp>
        <p:nvSpPr>
          <p:cNvPr id="257" name="Google Shape;257;p34"/>
          <p:cNvSpPr/>
          <p:nvPr/>
        </p:nvSpPr>
        <p:spPr>
          <a:xfrm>
            <a:off x="376517" y="0"/>
            <a:ext cx="1284643" cy="127747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258" name="Google Shape;258;p34"/>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259" name="Google Shape;259;p34"/>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60" name="Google Shape;260;p34"/>
          <p:cNvSpPr txBox="1"/>
          <p:nvPr/>
        </p:nvSpPr>
        <p:spPr>
          <a:xfrm>
            <a:off x="376517" y="1405491"/>
            <a:ext cx="8227840" cy="2997020"/>
          </a:xfrm>
          <a:prstGeom prst="rect">
            <a:avLst/>
          </a:prstGeom>
          <a:noFill/>
          <a:ln>
            <a:noFill/>
          </a:ln>
        </p:spPr>
        <p:txBody>
          <a:bodyPr anchorCtr="0" anchor="t" bIns="34275" lIns="68575" spcFirstLastPara="1" rIns="68575" wrap="square" tIns="34275">
            <a:norm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p34"/>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Calibri"/>
                <a:ea typeface="Calibri"/>
                <a:cs typeface="Calibri"/>
                <a:sym typeface="Calibri"/>
              </a:rPr>
              <a:t>Department of</a:t>
            </a:r>
            <a:r>
              <a:rPr b="1" i="0" lang="en-GB" sz="1400" u="none" cap="none" strike="noStrike">
                <a:solidFill>
                  <a:schemeClr val="lt1"/>
                </a:solidFill>
                <a:latin typeface="Calibri"/>
                <a:ea typeface="Calibri"/>
                <a:cs typeface="Calibri"/>
                <a:sym typeface="Calibri"/>
              </a:rPr>
              <a:t> Electronics &amp; Communication Engineering</a:t>
            </a:r>
            <a:endParaRPr b="1" i="0" sz="1400" u="none" cap="none" strike="noStrike">
              <a:solidFill>
                <a:schemeClr val="lt1"/>
              </a:solidFill>
              <a:latin typeface="Calibri"/>
              <a:ea typeface="Calibri"/>
              <a:cs typeface="Calibri"/>
              <a:sym typeface="Calibri"/>
            </a:endParaRPr>
          </a:p>
        </p:txBody>
      </p:sp>
      <p:sp>
        <p:nvSpPr>
          <p:cNvPr id="262" name="Google Shape;262;p34"/>
          <p:cNvSpPr txBox="1"/>
          <p:nvPr/>
        </p:nvSpPr>
        <p:spPr>
          <a:xfrm>
            <a:off x="376517" y="1942612"/>
            <a:ext cx="8227840" cy="1929301"/>
          </a:xfrm>
          <a:prstGeom prst="rect">
            <a:avLst/>
          </a:prstGeom>
          <a:noFill/>
          <a:ln>
            <a:noFill/>
          </a:ln>
        </p:spPr>
        <p:txBody>
          <a:bodyPr anchorCtr="0" anchor="t" bIns="34275" lIns="68575" spcFirstLastPara="1" rIns="68575" wrap="square" tIns="34275">
            <a:norm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a:p>
            <a:pPr indent="-139700" lvl="0" marL="254000" marR="0" rtl="0" algn="l">
              <a:lnSpc>
                <a:spcPct val="100000"/>
              </a:lnSpc>
              <a:spcBef>
                <a:spcPts val="800"/>
              </a:spcBef>
              <a:spcAft>
                <a:spcPts val="0"/>
              </a:spcAft>
              <a:buClr>
                <a:schemeClr val="dk1"/>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800"/>
              </a:spcBef>
              <a:spcAft>
                <a:spcPts val="0"/>
              </a:spcAft>
              <a:buClr>
                <a:schemeClr val="dk1"/>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ctr">
              <a:lnSpc>
                <a:spcPct val="100000"/>
              </a:lnSpc>
              <a:spcBef>
                <a:spcPts val="80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VTU_logo" id="263" name="Google Shape;263;p34"/>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pic>
        <p:nvPicPr>
          <p:cNvPr id="264" name="Google Shape;264;p34"/>
          <p:cNvPicPr preferRelativeResize="0"/>
          <p:nvPr/>
        </p:nvPicPr>
        <p:blipFill rotWithShape="1">
          <a:blip r:embed="rId5">
            <a:alphaModFix/>
          </a:blip>
          <a:srcRect b="0" l="0" r="0" t="0"/>
          <a:stretch/>
        </p:blipFill>
        <p:spPr>
          <a:xfrm>
            <a:off x="598925" y="1335800"/>
            <a:ext cx="7715251" cy="30667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5"/>
          <p:cNvSpPr txBox="1"/>
          <p:nvPr>
            <p:ph type="ctrTitle"/>
          </p:nvPr>
        </p:nvSpPr>
        <p:spPr>
          <a:xfrm>
            <a:off x="1847954" y="524225"/>
            <a:ext cx="5961900" cy="5076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rgbClr val="000A30"/>
              </a:buClr>
              <a:buSzPts val="2700"/>
              <a:buFont typeface="Calibri"/>
              <a:buNone/>
            </a:pPr>
            <a:r>
              <a:rPr b="1" lang="en-GB" sz="2700">
                <a:solidFill>
                  <a:srgbClr val="000A30"/>
                </a:solidFill>
              </a:rPr>
              <a:t>BLOCK DIAGRAM OF THE PROJECT</a:t>
            </a:r>
            <a:endParaRPr b="1" sz="2700">
              <a:solidFill>
                <a:srgbClr val="000A30"/>
              </a:solidFill>
            </a:endParaRPr>
          </a:p>
        </p:txBody>
      </p:sp>
      <p:sp>
        <p:nvSpPr>
          <p:cNvPr id="270" name="Google Shape;270;p35"/>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71" name="Google Shape;271;p35"/>
          <p:cNvSpPr txBox="1"/>
          <p:nvPr/>
        </p:nvSpPr>
        <p:spPr>
          <a:xfrm>
            <a:off x="6859282" y="4773205"/>
            <a:ext cx="1928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Calibri"/>
                <a:ea typeface="Calibri"/>
                <a:cs typeface="Calibri"/>
                <a:sym typeface="Calibri"/>
              </a:rPr>
              <a:t>www.cambridge.edu.in</a:t>
            </a:r>
            <a:endParaRPr b="0" i="0" sz="1100" u="none" cap="none" strike="noStrike">
              <a:solidFill>
                <a:srgbClr val="000000"/>
              </a:solidFill>
              <a:latin typeface="Arial"/>
              <a:ea typeface="Arial"/>
              <a:cs typeface="Arial"/>
              <a:sym typeface="Arial"/>
            </a:endParaRPr>
          </a:p>
        </p:txBody>
      </p:sp>
      <p:sp>
        <p:nvSpPr>
          <p:cNvPr id="272" name="Google Shape;272;p35"/>
          <p:cNvSpPr/>
          <p:nvPr/>
        </p:nvSpPr>
        <p:spPr>
          <a:xfrm>
            <a:off x="376517" y="0"/>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273" name="Google Shape;273;p35"/>
          <p:cNvPicPr preferRelativeResize="0"/>
          <p:nvPr/>
        </p:nvPicPr>
        <p:blipFill rotWithShape="1">
          <a:blip r:embed="rId3">
            <a:alphaModFix/>
          </a:blip>
          <a:srcRect b="0" l="0" r="0" t="0"/>
          <a:stretch/>
        </p:blipFill>
        <p:spPr>
          <a:xfrm>
            <a:off x="511212" y="312326"/>
            <a:ext cx="1015254" cy="652781"/>
          </a:xfrm>
          <a:prstGeom prst="rect">
            <a:avLst/>
          </a:prstGeom>
          <a:noFill/>
          <a:ln>
            <a:noFill/>
          </a:ln>
        </p:spPr>
      </p:pic>
      <p:sp>
        <p:nvSpPr>
          <p:cNvPr id="274" name="Google Shape;274;p35"/>
          <p:cNvSpPr/>
          <p:nvPr/>
        </p:nvSpPr>
        <p:spPr>
          <a:xfrm>
            <a:off x="1915173" y="1052312"/>
            <a:ext cx="675900" cy="47400"/>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75" name="Google Shape;275;p35"/>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Calibri"/>
                <a:ea typeface="Calibri"/>
                <a:cs typeface="Calibri"/>
                <a:sym typeface="Calibri"/>
              </a:rPr>
              <a:t>Department of</a:t>
            </a:r>
            <a:r>
              <a:rPr b="1" i="0" lang="en-GB" sz="1400" u="none" cap="none" strike="noStrike">
                <a:solidFill>
                  <a:schemeClr val="lt1"/>
                </a:solidFill>
                <a:latin typeface="Calibri"/>
                <a:ea typeface="Calibri"/>
                <a:cs typeface="Calibri"/>
                <a:sym typeface="Calibri"/>
              </a:rPr>
              <a:t> Electronics &amp; Communication Engineering</a:t>
            </a:r>
            <a:endParaRPr b="1" i="0" sz="1400" u="none" cap="none" strike="noStrike">
              <a:solidFill>
                <a:schemeClr val="lt1"/>
              </a:solidFill>
              <a:latin typeface="Calibri"/>
              <a:ea typeface="Calibri"/>
              <a:cs typeface="Calibri"/>
              <a:sym typeface="Calibri"/>
            </a:endParaRPr>
          </a:p>
        </p:txBody>
      </p:sp>
      <p:sp>
        <p:nvSpPr>
          <p:cNvPr id="276" name="Google Shape;276;p35"/>
          <p:cNvSpPr txBox="1"/>
          <p:nvPr/>
        </p:nvSpPr>
        <p:spPr>
          <a:xfrm>
            <a:off x="539650" y="1350889"/>
            <a:ext cx="8227800" cy="3096000"/>
          </a:xfrm>
          <a:prstGeom prst="rect">
            <a:avLst/>
          </a:prstGeom>
          <a:noFill/>
          <a:ln>
            <a:noFill/>
          </a:ln>
        </p:spPr>
        <p:txBody>
          <a:bodyPr anchorCtr="0" anchor="t" bIns="34275" lIns="68575" spcFirstLastPara="1" rIns="68575" wrap="square" tIns="34275">
            <a:noAutofit/>
          </a:bodyPr>
          <a:lstStyle/>
          <a:p>
            <a:pPr indent="-304800" lvl="0" marL="457200" rtl="0" algn="just">
              <a:lnSpc>
                <a:spcPct val="150000"/>
              </a:lnSpc>
              <a:spcBef>
                <a:spcPts val="120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The system begins with image acquisition, where the original image is captured from a sensor, file system, or camera and prepared for processing.  </a:t>
            </a:r>
            <a:endParaRPr sz="1200">
              <a:solidFill>
                <a:schemeClr val="dk1"/>
              </a:solidFill>
              <a:latin typeface="Times New Roman"/>
              <a:ea typeface="Times New Roman"/>
              <a:cs typeface="Times New Roman"/>
              <a:sym typeface="Times New Roman"/>
            </a:endParaRPr>
          </a:p>
          <a:p>
            <a:pPr indent="-304800" lvl="0" marL="457200"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During preprocessing, the image is converted into a suitable format (e.g., grayscale) and resized or padded to match encryption block size requirements.  </a:t>
            </a:r>
            <a:endParaRPr sz="1200">
              <a:solidFill>
                <a:schemeClr val="dk1"/>
              </a:solidFill>
              <a:latin typeface="Times New Roman"/>
              <a:ea typeface="Times New Roman"/>
              <a:cs typeface="Times New Roman"/>
              <a:sym typeface="Times New Roman"/>
            </a:endParaRPr>
          </a:p>
          <a:p>
            <a:pPr indent="-304800" lvl="0" marL="457200"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The preprocessed image is divided into fixed-size blocks (typically 128-bit or 16-byte blocks) to match the AES encryption standard.  </a:t>
            </a:r>
            <a:endParaRPr sz="1200">
              <a:solidFill>
                <a:schemeClr val="dk1"/>
              </a:solidFill>
              <a:latin typeface="Times New Roman"/>
              <a:ea typeface="Times New Roman"/>
              <a:cs typeface="Times New Roman"/>
              <a:sym typeface="Times New Roman"/>
            </a:endParaRPr>
          </a:p>
          <a:p>
            <a:pPr indent="-304800" lvl="0" marL="457200"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These image blocks are transferred to the FPGA for encryption, enabling parallel and high-speed processing.  </a:t>
            </a:r>
            <a:endParaRPr sz="1200">
              <a:solidFill>
                <a:schemeClr val="dk1"/>
              </a:solidFill>
              <a:latin typeface="Times New Roman"/>
              <a:ea typeface="Times New Roman"/>
              <a:cs typeface="Times New Roman"/>
              <a:sym typeface="Times New Roman"/>
            </a:endParaRPr>
          </a:p>
          <a:p>
            <a:pPr indent="-304800" lvl="0" marL="457200"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Inside the FPGA, a dedicated AES Encryption core performs cryptographic operations such as SubBytes, ShiftRows, MixColumns, and AddRoundKey.  </a:t>
            </a:r>
            <a:endParaRPr sz="1200">
              <a:solidFill>
                <a:schemeClr val="dk1"/>
              </a:solidFill>
              <a:latin typeface="Times New Roman"/>
              <a:ea typeface="Times New Roman"/>
              <a:cs typeface="Times New Roman"/>
              <a:sym typeface="Times New Roman"/>
            </a:endParaRPr>
          </a:p>
          <a:p>
            <a:pPr indent="-304800" lvl="0" marL="457200"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The AES core is implemented as a hardware IP, synthesized using HLS and optimized for throughput and low latency.  </a:t>
            </a:r>
            <a:endParaRPr sz="1200">
              <a:solidFill>
                <a:schemeClr val="dk1"/>
              </a:solidFill>
              <a:latin typeface="Times New Roman"/>
              <a:ea typeface="Times New Roman"/>
              <a:cs typeface="Times New Roman"/>
              <a:sym typeface="Times New Roman"/>
            </a:endParaRPr>
          </a:p>
          <a:p>
            <a:pPr indent="-304800" lvl="0" marL="457200"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Hardware-based encryption allows multiple data blocks to be processed concurrently, unlike sequential software encryption.  </a:t>
            </a:r>
            <a:endParaRPr sz="1200">
              <a:solidFill>
                <a:schemeClr val="dk1"/>
              </a:solidFill>
              <a:latin typeface="Times New Roman"/>
              <a:ea typeface="Times New Roman"/>
              <a:cs typeface="Times New Roman"/>
              <a:sym typeface="Times New Roman"/>
            </a:endParaRPr>
          </a:p>
          <a:p>
            <a:pPr indent="0" lvl="0" marL="0" rtl="0" algn="just">
              <a:lnSpc>
                <a:spcPct val="150000"/>
              </a:lnSpc>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pic>
        <p:nvPicPr>
          <p:cNvPr descr="VTU_logo" id="277" name="Google Shape;277;p35"/>
          <p:cNvPicPr preferRelativeResize="0"/>
          <p:nvPr/>
        </p:nvPicPr>
        <p:blipFill rotWithShape="1">
          <a:blip r:embed="rId4">
            <a:alphaModFix/>
          </a:blip>
          <a:srcRect b="0" l="0" r="0" t="0"/>
          <a:stretch/>
        </p:blipFill>
        <p:spPr>
          <a:xfrm>
            <a:off x="8014064" y="58332"/>
            <a:ext cx="917966" cy="112668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6"/>
          <p:cNvSpPr txBox="1"/>
          <p:nvPr>
            <p:ph type="ctrTitle"/>
          </p:nvPr>
        </p:nvSpPr>
        <p:spPr>
          <a:xfrm>
            <a:off x="1847954" y="524225"/>
            <a:ext cx="5961900" cy="507600"/>
          </a:xfrm>
          <a:prstGeom prst="rect">
            <a:avLst/>
          </a:prstGeom>
          <a:noFill/>
          <a:ln>
            <a:noFill/>
          </a:ln>
        </p:spPr>
        <p:txBody>
          <a:bodyPr anchorCtr="0" anchor="b" bIns="34275" lIns="68575" spcFirstLastPara="1" rIns="68575" wrap="square" tIns="34275">
            <a:normAutofit/>
          </a:bodyPr>
          <a:lstStyle/>
          <a:p>
            <a:pPr indent="0" lvl="0" marL="0" rtl="0" algn="l">
              <a:spcBef>
                <a:spcPts val="0"/>
              </a:spcBef>
              <a:spcAft>
                <a:spcPts val="0"/>
              </a:spcAft>
              <a:buClr>
                <a:srgbClr val="000A30"/>
              </a:buClr>
              <a:buSzPts val="2700"/>
              <a:buFont typeface="Calibri"/>
              <a:buNone/>
            </a:pPr>
            <a:r>
              <a:rPr b="1" lang="en-GB" sz="2700">
                <a:solidFill>
                  <a:srgbClr val="000A30"/>
                </a:solidFill>
              </a:rPr>
              <a:t>BLOCK DIAGRAM OF THE PROJECT</a:t>
            </a:r>
            <a:endParaRPr b="1" sz="2700">
              <a:solidFill>
                <a:srgbClr val="000A30"/>
              </a:solidFill>
            </a:endParaRPr>
          </a:p>
        </p:txBody>
      </p:sp>
      <p:sp>
        <p:nvSpPr>
          <p:cNvPr id="283" name="Google Shape;283;p36"/>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84" name="Google Shape;284;p36"/>
          <p:cNvSpPr txBox="1"/>
          <p:nvPr/>
        </p:nvSpPr>
        <p:spPr>
          <a:xfrm>
            <a:off x="6859282" y="4773205"/>
            <a:ext cx="1928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Calibri"/>
                <a:ea typeface="Calibri"/>
                <a:cs typeface="Calibri"/>
                <a:sym typeface="Calibri"/>
              </a:rPr>
              <a:t>www.cambridge.edu.in</a:t>
            </a:r>
            <a:endParaRPr b="0" i="0" sz="1100" u="none" cap="none" strike="noStrike">
              <a:solidFill>
                <a:srgbClr val="000000"/>
              </a:solidFill>
              <a:latin typeface="Arial"/>
              <a:ea typeface="Arial"/>
              <a:cs typeface="Arial"/>
              <a:sym typeface="Arial"/>
            </a:endParaRPr>
          </a:p>
        </p:txBody>
      </p:sp>
      <p:sp>
        <p:nvSpPr>
          <p:cNvPr id="285" name="Google Shape;285;p36"/>
          <p:cNvSpPr/>
          <p:nvPr/>
        </p:nvSpPr>
        <p:spPr>
          <a:xfrm>
            <a:off x="376517" y="0"/>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286" name="Google Shape;286;p36"/>
          <p:cNvPicPr preferRelativeResize="0"/>
          <p:nvPr/>
        </p:nvPicPr>
        <p:blipFill rotWithShape="1">
          <a:blip r:embed="rId3">
            <a:alphaModFix/>
          </a:blip>
          <a:srcRect b="0" l="0" r="0" t="0"/>
          <a:stretch/>
        </p:blipFill>
        <p:spPr>
          <a:xfrm>
            <a:off x="511212" y="312326"/>
            <a:ext cx="1015254" cy="652781"/>
          </a:xfrm>
          <a:prstGeom prst="rect">
            <a:avLst/>
          </a:prstGeom>
          <a:noFill/>
          <a:ln>
            <a:noFill/>
          </a:ln>
        </p:spPr>
      </p:pic>
      <p:sp>
        <p:nvSpPr>
          <p:cNvPr id="287" name="Google Shape;287;p36"/>
          <p:cNvSpPr/>
          <p:nvPr/>
        </p:nvSpPr>
        <p:spPr>
          <a:xfrm>
            <a:off x="1915173" y="1052312"/>
            <a:ext cx="675900" cy="47400"/>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88" name="Google Shape;288;p36"/>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Calibri"/>
                <a:ea typeface="Calibri"/>
                <a:cs typeface="Calibri"/>
                <a:sym typeface="Calibri"/>
              </a:rPr>
              <a:t>Department of</a:t>
            </a:r>
            <a:r>
              <a:rPr b="1" i="0" lang="en-GB" sz="1400" u="none" cap="none" strike="noStrike">
                <a:solidFill>
                  <a:schemeClr val="lt1"/>
                </a:solidFill>
                <a:latin typeface="Calibri"/>
                <a:ea typeface="Calibri"/>
                <a:cs typeface="Calibri"/>
                <a:sym typeface="Calibri"/>
              </a:rPr>
              <a:t> Electronics &amp; Communication Engineering</a:t>
            </a:r>
            <a:endParaRPr b="1" i="0" sz="1400" u="none" cap="none" strike="noStrike">
              <a:solidFill>
                <a:schemeClr val="lt1"/>
              </a:solidFill>
              <a:latin typeface="Calibri"/>
              <a:ea typeface="Calibri"/>
              <a:cs typeface="Calibri"/>
              <a:sym typeface="Calibri"/>
            </a:endParaRPr>
          </a:p>
        </p:txBody>
      </p:sp>
      <p:sp>
        <p:nvSpPr>
          <p:cNvPr id="289" name="Google Shape;289;p36"/>
          <p:cNvSpPr txBox="1"/>
          <p:nvPr/>
        </p:nvSpPr>
        <p:spPr>
          <a:xfrm>
            <a:off x="539650" y="1521950"/>
            <a:ext cx="8227800" cy="2146800"/>
          </a:xfrm>
          <a:prstGeom prst="rect">
            <a:avLst/>
          </a:prstGeom>
          <a:noFill/>
          <a:ln>
            <a:noFill/>
          </a:ln>
        </p:spPr>
        <p:txBody>
          <a:bodyPr anchorCtr="0" anchor="t" bIns="34275" lIns="68575" spcFirstLastPara="1" rIns="68575" wrap="square" tIns="34275">
            <a:normAutofit/>
          </a:bodyPr>
          <a:lstStyle/>
          <a:p>
            <a:pPr indent="-171450" lvl="0" marL="89999" rtl="0" algn="just">
              <a:lnSpc>
                <a:spcPct val="150000"/>
              </a:lnSpc>
              <a:spcBef>
                <a:spcPts val="120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The encrypted image blocks are sent to secure storage or transmitted over a network, ensuring confidentiality during data transfer. </a:t>
            </a:r>
            <a:endParaRPr sz="1200">
              <a:solidFill>
                <a:schemeClr val="dk1"/>
              </a:solidFill>
              <a:latin typeface="Times New Roman"/>
              <a:ea typeface="Times New Roman"/>
              <a:cs typeface="Times New Roman"/>
              <a:sym typeface="Times New Roman"/>
            </a:endParaRPr>
          </a:p>
          <a:p>
            <a:pPr indent="-171450" lvl="0" marL="89999"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Encryption at the hardware level protects image data before transmission, reducing vulnerability to network-based attacks.  </a:t>
            </a:r>
            <a:endParaRPr sz="1200">
              <a:solidFill>
                <a:schemeClr val="dk1"/>
              </a:solidFill>
              <a:latin typeface="Times New Roman"/>
              <a:ea typeface="Times New Roman"/>
              <a:cs typeface="Times New Roman"/>
              <a:sym typeface="Times New Roman"/>
            </a:endParaRPr>
          </a:p>
          <a:p>
            <a:pPr indent="-171450" lvl="0" marL="89999"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On the receiver side, the encrypted data undergoes decryption using the same AES core in reverse mode.  </a:t>
            </a:r>
            <a:endParaRPr sz="1200">
              <a:solidFill>
                <a:schemeClr val="dk1"/>
              </a:solidFill>
              <a:latin typeface="Times New Roman"/>
              <a:ea typeface="Times New Roman"/>
              <a:cs typeface="Times New Roman"/>
              <a:sym typeface="Times New Roman"/>
            </a:endParaRPr>
          </a:p>
          <a:p>
            <a:pPr indent="-171450" lvl="0" marL="89999"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The decrypted blocks are then reassembled to reconstruct the original image without any loss of information.  </a:t>
            </a:r>
            <a:endParaRPr sz="1200">
              <a:solidFill>
                <a:schemeClr val="dk1"/>
              </a:solidFill>
              <a:latin typeface="Times New Roman"/>
              <a:ea typeface="Times New Roman"/>
              <a:cs typeface="Times New Roman"/>
              <a:sym typeface="Times New Roman"/>
            </a:endParaRPr>
          </a:p>
          <a:p>
            <a:pPr indent="-171450" lvl="0" marL="89999"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The FPGA-based approach ensures low power consumption, making it suitable for IoT and edge devices.  </a:t>
            </a:r>
            <a:endParaRPr sz="1200">
              <a:solidFill>
                <a:schemeClr val="dk1"/>
              </a:solidFill>
              <a:latin typeface="Times New Roman"/>
              <a:ea typeface="Times New Roman"/>
              <a:cs typeface="Times New Roman"/>
              <a:sym typeface="Times New Roman"/>
            </a:endParaRPr>
          </a:p>
          <a:p>
            <a:pPr indent="-171450" lvl="0" marL="89999"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Overall, the architecture integrates image processing, encryption, secure transmission, and reconstruction into a single efficient FPGA-based framework for real-time secure image handling.</a:t>
            </a:r>
            <a:endParaRPr sz="1200">
              <a:solidFill>
                <a:schemeClr val="dk1"/>
              </a:solidFill>
              <a:latin typeface="Times New Roman"/>
              <a:ea typeface="Times New Roman"/>
              <a:cs typeface="Times New Roman"/>
              <a:sym typeface="Times New Roman"/>
            </a:endParaRPr>
          </a:p>
        </p:txBody>
      </p:sp>
      <p:pic>
        <p:nvPicPr>
          <p:cNvPr descr="VTU_logo" id="290" name="Google Shape;290;p36"/>
          <p:cNvPicPr preferRelativeResize="0"/>
          <p:nvPr/>
        </p:nvPicPr>
        <p:blipFill rotWithShape="1">
          <a:blip r:embed="rId4">
            <a:alphaModFix/>
          </a:blip>
          <a:srcRect b="0" l="0" r="0" t="0"/>
          <a:stretch/>
        </p:blipFill>
        <p:spPr>
          <a:xfrm>
            <a:off x="8014064" y="58332"/>
            <a:ext cx="917966" cy="112668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7"/>
          <p:cNvSpPr txBox="1"/>
          <p:nvPr>
            <p:ph type="ctrTitle"/>
          </p:nvPr>
        </p:nvSpPr>
        <p:spPr>
          <a:xfrm>
            <a:off x="1847942" y="524216"/>
            <a:ext cx="52173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Calibri"/>
                <a:ea typeface="Calibri"/>
                <a:cs typeface="Calibri"/>
                <a:sym typeface="Calibri"/>
              </a:rPr>
              <a:t>BLOCK DIAGRAM OF THE PROJECT</a:t>
            </a:r>
            <a:endParaRPr b="1" sz="2700">
              <a:solidFill>
                <a:srgbClr val="000A30"/>
              </a:solidFill>
              <a:latin typeface="Calibri"/>
              <a:ea typeface="Calibri"/>
              <a:cs typeface="Calibri"/>
              <a:sym typeface="Calibri"/>
            </a:endParaRPr>
          </a:p>
        </p:txBody>
      </p:sp>
      <p:sp>
        <p:nvSpPr>
          <p:cNvPr id="296" name="Google Shape;296;p37"/>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97" name="Google Shape;297;p37"/>
          <p:cNvSpPr txBox="1"/>
          <p:nvPr/>
        </p:nvSpPr>
        <p:spPr>
          <a:xfrm>
            <a:off x="6859282" y="4773205"/>
            <a:ext cx="18642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Calibri"/>
                <a:ea typeface="Calibri"/>
                <a:cs typeface="Calibri"/>
                <a:sym typeface="Calibri"/>
              </a:rPr>
              <a:t>www.cambridge.edu.in</a:t>
            </a:r>
            <a:endParaRPr b="0" i="0" sz="1100" u="none" cap="none" strike="noStrike">
              <a:solidFill>
                <a:srgbClr val="000000"/>
              </a:solidFill>
              <a:latin typeface="Arial"/>
              <a:ea typeface="Arial"/>
              <a:cs typeface="Arial"/>
              <a:sym typeface="Arial"/>
            </a:endParaRPr>
          </a:p>
        </p:txBody>
      </p:sp>
      <p:sp>
        <p:nvSpPr>
          <p:cNvPr id="298" name="Google Shape;298;p37"/>
          <p:cNvSpPr/>
          <p:nvPr/>
        </p:nvSpPr>
        <p:spPr>
          <a:xfrm>
            <a:off x="376517" y="0"/>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299" name="Google Shape;299;p37"/>
          <p:cNvPicPr preferRelativeResize="0"/>
          <p:nvPr/>
        </p:nvPicPr>
        <p:blipFill rotWithShape="1">
          <a:blip r:embed="rId3">
            <a:alphaModFix/>
          </a:blip>
          <a:srcRect b="0" l="0" r="0" t="0"/>
          <a:stretch/>
        </p:blipFill>
        <p:spPr>
          <a:xfrm>
            <a:off x="511212" y="312326"/>
            <a:ext cx="1015254" cy="652781"/>
          </a:xfrm>
          <a:prstGeom prst="rect">
            <a:avLst/>
          </a:prstGeom>
          <a:noFill/>
          <a:ln>
            <a:noFill/>
          </a:ln>
        </p:spPr>
      </p:pic>
      <p:sp>
        <p:nvSpPr>
          <p:cNvPr id="300" name="Google Shape;300;p37"/>
          <p:cNvSpPr/>
          <p:nvPr/>
        </p:nvSpPr>
        <p:spPr>
          <a:xfrm>
            <a:off x="1915173" y="1052312"/>
            <a:ext cx="675900" cy="47400"/>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01" name="Google Shape;301;p37"/>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Calibri"/>
                <a:ea typeface="Calibri"/>
                <a:cs typeface="Calibri"/>
                <a:sym typeface="Calibri"/>
              </a:rPr>
              <a:t>Department of</a:t>
            </a:r>
            <a:r>
              <a:rPr b="1" i="0" lang="en-GB" sz="1400" u="none" cap="none" strike="noStrike">
                <a:solidFill>
                  <a:schemeClr val="lt1"/>
                </a:solidFill>
                <a:latin typeface="Calibri"/>
                <a:ea typeface="Calibri"/>
                <a:cs typeface="Calibri"/>
                <a:sym typeface="Calibri"/>
              </a:rPr>
              <a:t> Electronics &amp; Communication Engineering</a:t>
            </a:r>
            <a:endParaRPr b="1" i="0" sz="1400" u="none" cap="none" strike="noStrike">
              <a:solidFill>
                <a:schemeClr val="lt1"/>
              </a:solidFill>
              <a:latin typeface="Calibri"/>
              <a:ea typeface="Calibri"/>
              <a:cs typeface="Calibri"/>
              <a:sym typeface="Calibri"/>
            </a:endParaRPr>
          </a:p>
        </p:txBody>
      </p:sp>
      <p:pic>
        <p:nvPicPr>
          <p:cNvPr descr="VTU_logo" id="302" name="Google Shape;302;p37"/>
          <p:cNvPicPr preferRelativeResize="0"/>
          <p:nvPr/>
        </p:nvPicPr>
        <p:blipFill rotWithShape="1">
          <a:blip r:embed="rId4">
            <a:alphaModFix/>
          </a:blip>
          <a:srcRect b="0" l="0" r="0" t="0"/>
          <a:stretch/>
        </p:blipFill>
        <p:spPr>
          <a:xfrm>
            <a:off x="8014064" y="58332"/>
            <a:ext cx="917966" cy="1126682"/>
          </a:xfrm>
          <a:prstGeom prst="rect">
            <a:avLst/>
          </a:prstGeom>
          <a:noFill/>
          <a:ln>
            <a:noFill/>
          </a:ln>
        </p:spPr>
      </p:pic>
      <p:pic>
        <p:nvPicPr>
          <p:cNvPr id="303" name="Google Shape;303;p37"/>
          <p:cNvPicPr preferRelativeResize="0"/>
          <p:nvPr/>
        </p:nvPicPr>
        <p:blipFill rotWithShape="1">
          <a:blip r:embed="rId5">
            <a:alphaModFix/>
          </a:blip>
          <a:srcRect b="15582" l="0" r="0" t="25879"/>
          <a:stretch/>
        </p:blipFill>
        <p:spPr>
          <a:xfrm>
            <a:off x="315416" y="1730775"/>
            <a:ext cx="8533949" cy="207783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8"/>
          <p:cNvSpPr txBox="1"/>
          <p:nvPr>
            <p:ph type="ctrTitle"/>
          </p:nvPr>
        </p:nvSpPr>
        <p:spPr>
          <a:xfrm>
            <a:off x="1847942" y="524215"/>
            <a:ext cx="3851366" cy="507492"/>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Times New Roman"/>
                <a:ea typeface="Times New Roman"/>
                <a:cs typeface="Times New Roman"/>
                <a:sym typeface="Times New Roman"/>
              </a:rPr>
              <a:t>METHODOLOGY</a:t>
            </a:r>
            <a:endParaRPr b="1" sz="2700">
              <a:solidFill>
                <a:srgbClr val="000A30"/>
              </a:solidFill>
              <a:latin typeface="Times New Roman"/>
              <a:ea typeface="Times New Roman"/>
              <a:cs typeface="Times New Roman"/>
              <a:sym typeface="Times New Roman"/>
            </a:endParaRPr>
          </a:p>
        </p:txBody>
      </p:sp>
      <p:sp>
        <p:nvSpPr>
          <p:cNvPr id="309" name="Google Shape;309;p38"/>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10" name="Google Shape;310;p38"/>
          <p:cNvSpPr txBox="1"/>
          <p:nvPr/>
        </p:nvSpPr>
        <p:spPr>
          <a:xfrm>
            <a:off x="6859282" y="4773205"/>
            <a:ext cx="1909814" cy="27699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311" name="Google Shape;311;p38"/>
          <p:cNvSpPr/>
          <p:nvPr/>
        </p:nvSpPr>
        <p:spPr>
          <a:xfrm>
            <a:off x="376517" y="0"/>
            <a:ext cx="1284643" cy="127747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312" name="Google Shape;312;p38"/>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313" name="Google Shape;313;p38"/>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14" name="Google Shape;314;p38"/>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sp>
        <p:nvSpPr>
          <p:cNvPr id="315" name="Google Shape;315;p38"/>
          <p:cNvSpPr txBox="1"/>
          <p:nvPr/>
        </p:nvSpPr>
        <p:spPr>
          <a:xfrm>
            <a:off x="245203" y="1405500"/>
            <a:ext cx="4704000" cy="2997000"/>
          </a:xfrm>
          <a:prstGeom prst="rect">
            <a:avLst/>
          </a:prstGeom>
          <a:noFill/>
          <a:ln>
            <a:noFill/>
          </a:ln>
        </p:spPr>
        <p:txBody>
          <a:bodyPr anchorCtr="0" anchor="t" bIns="34275" lIns="68575" spcFirstLastPara="1" rIns="68575" wrap="square" tIns="34275">
            <a:normAutofit/>
          </a:bodyPr>
          <a:lstStyle/>
          <a:p>
            <a:pPr indent="0" lvl="0" marL="0" rtl="0" algn="l">
              <a:lnSpc>
                <a:spcPct val="115000"/>
              </a:lnSpc>
              <a:spcBef>
                <a:spcPts val="1400"/>
              </a:spcBef>
              <a:spcAft>
                <a:spcPts val="0"/>
              </a:spcAft>
              <a:buNone/>
            </a:pPr>
            <a:r>
              <a:rPr b="1" lang="en-GB" sz="1200">
                <a:solidFill>
                  <a:schemeClr val="dk1"/>
                </a:solidFill>
                <a:latin typeface="Times New Roman"/>
                <a:ea typeface="Times New Roman"/>
                <a:cs typeface="Times New Roman"/>
                <a:sym typeface="Times New Roman"/>
              </a:rPr>
              <a:t>Stage 1: Vitis HLS (IP Development)</a:t>
            </a:r>
            <a:endParaRPr b="1" sz="1200">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chemeClr val="dk1"/>
              </a:buClr>
              <a:buSzPts val="1200"/>
              <a:buChar char="●"/>
            </a:pPr>
            <a:r>
              <a:rPr b="1" lang="en-GB" sz="1200">
                <a:solidFill>
                  <a:schemeClr val="dk1"/>
                </a:solidFill>
                <a:latin typeface="Times New Roman"/>
                <a:ea typeface="Times New Roman"/>
                <a:cs typeface="Times New Roman"/>
                <a:sym typeface="Times New Roman"/>
              </a:rPr>
              <a:t>Algorithm Definition:</a:t>
            </a:r>
            <a:r>
              <a:rPr lang="en-GB" sz="1200">
                <a:solidFill>
                  <a:schemeClr val="dk1"/>
                </a:solidFill>
                <a:latin typeface="Times New Roman"/>
                <a:ea typeface="Times New Roman"/>
                <a:cs typeface="Times New Roman"/>
                <a:sym typeface="Times New Roman"/>
              </a:rPr>
              <a:t> Develop the core encryption logic using standard </a:t>
            </a:r>
            <a:r>
              <a:rPr b="1" lang="en-GB" sz="1200">
                <a:solidFill>
                  <a:schemeClr val="dk1"/>
                </a:solidFill>
                <a:latin typeface="Times New Roman"/>
                <a:ea typeface="Times New Roman"/>
                <a:cs typeface="Times New Roman"/>
                <a:sym typeface="Times New Roman"/>
              </a:rPr>
              <a:t>C/C++ code</a:t>
            </a:r>
            <a:r>
              <a:rPr lang="en-GB" sz="1200">
                <a:solidFill>
                  <a:schemeClr val="dk1"/>
                </a:solidFill>
                <a:latin typeface="Times New Roman"/>
                <a:ea typeface="Times New Roman"/>
                <a:cs typeface="Times New Roman"/>
                <a:sym typeface="Times New Roman"/>
              </a:rPr>
              <a:t>, ensuring the algorithm behaves correctly before hardware translation.</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Char char="●"/>
            </a:pPr>
            <a:r>
              <a:rPr b="1" lang="en-GB" sz="1200">
                <a:solidFill>
                  <a:schemeClr val="dk1"/>
                </a:solidFill>
                <a:latin typeface="Times New Roman"/>
                <a:ea typeface="Times New Roman"/>
                <a:cs typeface="Times New Roman"/>
                <a:sym typeface="Times New Roman"/>
              </a:rPr>
              <a:t>Hardware Interface:</a:t>
            </a:r>
            <a:r>
              <a:rPr lang="en-GB" sz="1200">
                <a:solidFill>
                  <a:schemeClr val="dk1"/>
                </a:solidFill>
                <a:latin typeface="Times New Roman"/>
                <a:ea typeface="Times New Roman"/>
                <a:cs typeface="Times New Roman"/>
                <a:sym typeface="Times New Roman"/>
              </a:rPr>
              <a:t> Insert </a:t>
            </a:r>
            <a:r>
              <a:rPr b="1" lang="en-GB" sz="1200">
                <a:solidFill>
                  <a:schemeClr val="dk1"/>
                </a:solidFill>
                <a:latin typeface="Times New Roman"/>
                <a:ea typeface="Times New Roman"/>
                <a:cs typeface="Times New Roman"/>
                <a:sym typeface="Times New Roman"/>
              </a:rPr>
              <a:t>Interface Pragmas</a:t>
            </a:r>
            <a:r>
              <a:rPr lang="en-GB" sz="1200">
                <a:solidFill>
                  <a:schemeClr val="dk1"/>
                </a:solidFill>
                <a:latin typeface="Times New Roman"/>
                <a:ea typeface="Times New Roman"/>
                <a:cs typeface="Times New Roman"/>
                <a:sym typeface="Times New Roman"/>
              </a:rPr>
              <a:t> to optimize the code and define how data ports (like AXI streams) connect to the hardware.</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Char char="●"/>
            </a:pPr>
            <a:r>
              <a:rPr b="1" lang="en-GB" sz="1200">
                <a:solidFill>
                  <a:schemeClr val="dk1"/>
                </a:solidFill>
                <a:latin typeface="Times New Roman"/>
                <a:ea typeface="Times New Roman"/>
                <a:cs typeface="Times New Roman"/>
                <a:sym typeface="Times New Roman"/>
              </a:rPr>
              <a:t>Synthesis &amp; Export:</a:t>
            </a:r>
            <a:r>
              <a:rPr lang="en-GB" sz="1200">
                <a:solidFill>
                  <a:schemeClr val="dk1"/>
                </a:solidFill>
                <a:latin typeface="Times New Roman"/>
                <a:ea typeface="Times New Roman"/>
                <a:cs typeface="Times New Roman"/>
                <a:sym typeface="Times New Roman"/>
              </a:rPr>
              <a:t> Run C Synthesis to convert the C++ logic into Hardware Description Language (RTL) and </a:t>
            </a:r>
            <a:r>
              <a:rPr b="1" lang="en-GB" sz="1200">
                <a:solidFill>
                  <a:schemeClr val="dk1"/>
                </a:solidFill>
                <a:latin typeface="Times New Roman"/>
                <a:ea typeface="Times New Roman"/>
                <a:cs typeface="Times New Roman"/>
                <a:sym typeface="Times New Roman"/>
              </a:rPr>
              <a:t>export the IP Package</a:t>
            </a:r>
            <a:r>
              <a:rPr lang="en-GB" sz="1200">
                <a:solidFill>
                  <a:schemeClr val="dk1"/>
                </a:solidFill>
                <a:latin typeface="Times New Roman"/>
                <a:ea typeface="Times New Roman"/>
                <a:cs typeface="Times New Roman"/>
                <a:sym typeface="Times New Roman"/>
              </a:rPr>
              <a:t> for use in Vivado.</a:t>
            </a:r>
            <a:endParaRPr i="0" sz="1200" u="none" cap="none" strike="noStrike">
              <a:solidFill>
                <a:schemeClr val="dk1"/>
              </a:solidFill>
              <a:latin typeface="Times New Roman"/>
              <a:ea typeface="Times New Roman"/>
              <a:cs typeface="Times New Roman"/>
              <a:sym typeface="Times New Roman"/>
            </a:endParaRPr>
          </a:p>
        </p:txBody>
      </p:sp>
      <p:pic>
        <p:nvPicPr>
          <p:cNvPr descr="VTU_logo" id="316" name="Google Shape;316;p38"/>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pic>
        <p:nvPicPr>
          <p:cNvPr id="317" name="Google Shape;317;p38"/>
          <p:cNvPicPr preferRelativeResize="0"/>
          <p:nvPr/>
        </p:nvPicPr>
        <p:blipFill rotWithShape="1">
          <a:blip r:embed="rId5">
            <a:alphaModFix/>
          </a:blip>
          <a:srcRect b="61243" l="17677" r="25591" t="0"/>
          <a:stretch/>
        </p:blipFill>
        <p:spPr>
          <a:xfrm>
            <a:off x="5108041" y="1277463"/>
            <a:ext cx="3159359" cy="29158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9"/>
          <p:cNvSpPr txBox="1"/>
          <p:nvPr>
            <p:ph type="ctrTitle"/>
          </p:nvPr>
        </p:nvSpPr>
        <p:spPr>
          <a:xfrm>
            <a:off x="1847942" y="524216"/>
            <a:ext cx="38514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Times New Roman"/>
                <a:ea typeface="Times New Roman"/>
                <a:cs typeface="Times New Roman"/>
                <a:sym typeface="Times New Roman"/>
              </a:rPr>
              <a:t>METHODOLOGY</a:t>
            </a:r>
            <a:endParaRPr b="1" sz="2700">
              <a:solidFill>
                <a:srgbClr val="000A30"/>
              </a:solidFill>
              <a:latin typeface="Times New Roman"/>
              <a:ea typeface="Times New Roman"/>
              <a:cs typeface="Times New Roman"/>
              <a:sym typeface="Times New Roman"/>
            </a:endParaRPr>
          </a:p>
        </p:txBody>
      </p:sp>
      <p:sp>
        <p:nvSpPr>
          <p:cNvPr id="323" name="Google Shape;323;p39"/>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24" name="Google Shape;324;p39"/>
          <p:cNvSpPr txBox="1"/>
          <p:nvPr/>
        </p:nvSpPr>
        <p:spPr>
          <a:xfrm>
            <a:off x="6859282" y="4773205"/>
            <a:ext cx="19098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325" name="Google Shape;325;p39"/>
          <p:cNvSpPr/>
          <p:nvPr/>
        </p:nvSpPr>
        <p:spPr>
          <a:xfrm>
            <a:off x="376517" y="0"/>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326" name="Google Shape;326;p39"/>
          <p:cNvPicPr preferRelativeResize="0"/>
          <p:nvPr/>
        </p:nvPicPr>
        <p:blipFill rotWithShape="1">
          <a:blip r:embed="rId3">
            <a:alphaModFix/>
          </a:blip>
          <a:srcRect b="0" l="0" r="0" t="0"/>
          <a:stretch/>
        </p:blipFill>
        <p:spPr>
          <a:xfrm>
            <a:off x="511212" y="312326"/>
            <a:ext cx="1015254" cy="652781"/>
          </a:xfrm>
          <a:prstGeom prst="rect">
            <a:avLst/>
          </a:prstGeom>
          <a:noFill/>
          <a:ln>
            <a:noFill/>
          </a:ln>
        </p:spPr>
      </p:pic>
      <p:sp>
        <p:nvSpPr>
          <p:cNvPr id="327" name="Google Shape;327;p39"/>
          <p:cNvSpPr/>
          <p:nvPr/>
        </p:nvSpPr>
        <p:spPr>
          <a:xfrm>
            <a:off x="1915173" y="1052312"/>
            <a:ext cx="675900" cy="47400"/>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28" name="Google Shape;328;p39"/>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sp>
        <p:nvSpPr>
          <p:cNvPr id="329" name="Google Shape;329;p39"/>
          <p:cNvSpPr txBox="1"/>
          <p:nvPr/>
        </p:nvSpPr>
        <p:spPr>
          <a:xfrm>
            <a:off x="245200" y="1259925"/>
            <a:ext cx="5010300" cy="29970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400"/>
              </a:spcBef>
              <a:spcAft>
                <a:spcPts val="0"/>
              </a:spcAft>
              <a:buClr>
                <a:schemeClr val="dk1"/>
              </a:buClr>
              <a:buSzPts val="1100"/>
              <a:buFont typeface="Arial"/>
              <a:buNone/>
            </a:pPr>
            <a:r>
              <a:rPr b="1" lang="en-GB" sz="1100">
                <a:solidFill>
                  <a:schemeClr val="dk1"/>
                </a:solidFill>
                <a:latin typeface="Times New Roman"/>
                <a:ea typeface="Times New Roman"/>
                <a:cs typeface="Times New Roman"/>
                <a:sym typeface="Times New Roman"/>
              </a:rPr>
              <a:t>Stage 2: Vivado (System Integration)</a:t>
            </a:r>
            <a:endParaRPr b="1" sz="1100">
              <a:solidFill>
                <a:schemeClr val="dk1"/>
              </a:solidFill>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chemeClr val="dk1"/>
              </a:buClr>
              <a:buSzPts val="1100"/>
              <a:buChar char="●"/>
            </a:pPr>
            <a:r>
              <a:rPr b="1" lang="en-GB" sz="1100">
                <a:solidFill>
                  <a:schemeClr val="dk1"/>
                </a:solidFill>
                <a:latin typeface="Times New Roman"/>
                <a:ea typeface="Times New Roman"/>
                <a:cs typeface="Times New Roman"/>
                <a:sym typeface="Times New Roman"/>
              </a:rPr>
              <a:t>Block Design Creation:</a:t>
            </a:r>
            <a:r>
              <a:rPr lang="en-GB" sz="1100">
                <a:solidFill>
                  <a:schemeClr val="dk1"/>
                </a:solidFill>
                <a:latin typeface="Times New Roman"/>
                <a:ea typeface="Times New Roman"/>
                <a:cs typeface="Times New Roman"/>
                <a:sym typeface="Times New Roman"/>
              </a:rPr>
              <a:t> Build the system architecture by integrating the custom </a:t>
            </a:r>
            <a:r>
              <a:rPr b="1" lang="en-GB" sz="1100">
                <a:solidFill>
                  <a:schemeClr val="dk1"/>
                </a:solidFill>
                <a:latin typeface="Times New Roman"/>
                <a:ea typeface="Times New Roman"/>
                <a:cs typeface="Times New Roman"/>
                <a:sym typeface="Times New Roman"/>
              </a:rPr>
              <a:t>AES IP</a:t>
            </a:r>
            <a:r>
              <a:rPr lang="en-GB" sz="1100">
                <a:solidFill>
                  <a:schemeClr val="dk1"/>
                </a:solidFill>
                <a:latin typeface="Times New Roman"/>
                <a:ea typeface="Times New Roman"/>
                <a:cs typeface="Times New Roman"/>
                <a:sym typeface="Times New Roman"/>
              </a:rPr>
              <a:t> with the </a:t>
            </a:r>
            <a:r>
              <a:rPr b="1" lang="en-GB" sz="1100">
                <a:solidFill>
                  <a:schemeClr val="dk1"/>
                </a:solidFill>
                <a:latin typeface="Times New Roman"/>
                <a:ea typeface="Times New Roman"/>
                <a:cs typeface="Times New Roman"/>
                <a:sym typeface="Times New Roman"/>
              </a:rPr>
              <a:t>Zynq Processing System (PS)</a:t>
            </a:r>
            <a:r>
              <a:rPr lang="en-GB" sz="1100">
                <a:solidFill>
                  <a:schemeClr val="dk1"/>
                </a:solidFill>
                <a:latin typeface="Times New Roman"/>
                <a:ea typeface="Times New Roman"/>
                <a:cs typeface="Times New Roman"/>
                <a:sym typeface="Times New Roman"/>
              </a:rPr>
              <a:t> and </a:t>
            </a:r>
            <a:r>
              <a:rPr b="1" lang="en-GB" sz="1100">
                <a:solidFill>
                  <a:schemeClr val="dk1"/>
                </a:solidFill>
                <a:latin typeface="Times New Roman"/>
                <a:ea typeface="Times New Roman"/>
                <a:cs typeface="Times New Roman"/>
                <a:sym typeface="Times New Roman"/>
              </a:rPr>
              <a:t>DMA</a:t>
            </a:r>
            <a:r>
              <a:rPr lang="en-GB" sz="1100">
                <a:solidFill>
                  <a:schemeClr val="dk1"/>
                </a:solidFill>
                <a:latin typeface="Times New Roman"/>
                <a:ea typeface="Times New Roman"/>
                <a:cs typeface="Times New Roman"/>
                <a:sym typeface="Times New Roman"/>
              </a:rPr>
              <a:t> controllers.</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latin typeface="Times New Roman"/>
                <a:ea typeface="Times New Roman"/>
                <a:cs typeface="Times New Roman"/>
                <a:sym typeface="Times New Roman"/>
              </a:rPr>
              <a:t>Bus Connectivity:</a:t>
            </a:r>
            <a:r>
              <a:rPr lang="en-GB" sz="1100">
                <a:solidFill>
                  <a:schemeClr val="dk1"/>
                </a:solidFill>
                <a:latin typeface="Times New Roman"/>
                <a:ea typeface="Times New Roman"/>
                <a:cs typeface="Times New Roman"/>
                <a:sym typeface="Times New Roman"/>
              </a:rPr>
              <a:t> Manually </a:t>
            </a:r>
            <a:r>
              <a:rPr b="1" lang="en-GB" sz="1100">
                <a:solidFill>
                  <a:schemeClr val="dk1"/>
                </a:solidFill>
                <a:latin typeface="Times New Roman"/>
                <a:ea typeface="Times New Roman"/>
                <a:cs typeface="Times New Roman"/>
                <a:sym typeface="Times New Roman"/>
              </a:rPr>
              <a:t>connect AXI Interfaces</a:t>
            </a:r>
            <a:r>
              <a:rPr lang="en-GB" sz="1100">
                <a:solidFill>
                  <a:schemeClr val="dk1"/>
                </a:solidFill>
                <a:latin typeface="Times New Roman"/>
                <a:ea typeface="Times New Roman"/>
                <a:cs typeface="Times New Roman"/>
                <a:sym typeface="Times New Roman"/>
              </a:rPr>
              <a:t> and Interconnects to establish high-speed communication paths between the processor and the encryption engine.</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latin typeface="Times New Roman"/>
                <a:ea typeface="Times New Roman"/>
                <a:cs typeface="Times New Roman"/>
                <a:sym typeface="Times New Roman"/>
              </a:rPr>
              <a:t>Bitstream Generation:</a:t>
            </a:r>
            <a:r>
              <a:rPr lang="en-GB" sz="1100">
                <a:solidFill>
                  <a:schemeClr val="dk1"/>
                </a:solidFill>
                <a:latin typeface="Times New Roman"/>
                <a:ea typeface="Times New Roman"/>
                <a:cs typeface="Times New Roman"/>
                <a:sym typeface="Times New Roman"/>
              </a:rPr>
              <a:t> Validate the block diagram for errors and synthesize the design to generate the final </a:t>
            </a:r>
            <a:r>
              <a:rPr b="1" lang="en-GB" sz="1100">
                <a:solidFill>
                  <a:schemeClr val="dk1"/>
                </a:solidFill>
                <a:latin typeface="Times New Roman"/>
                <a:ea typeface="Times New Roman"/>
                <a:cs typeface="Times New Roman"/>
                <a:sym typeface="Times New Roman"/>
              </a:rPr>
              <a:t>Bitstream</a:t>
            </a:r>
            <a:r>
              <a:rPr lang="en-GB" sz="1100">
                <a:solidFill>
                  <a:schemeClr val="dk1"/>
                </a:solidFill>
                <a:latin typeface="Times New Roman"/>
                <a:ea typeface="Times New Roman"/>
                <a:cs typeface="Times New Roman"/>
                <a:sym typeface="Times New Roman"/>
              </a:rPr>
              <a:t> (.bit file).</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GB" sz="1100">
                <a:solidFill>
                  <a:schemeClr val="dk1"/>
                </a:solidFill>
                <a:latin typeface="Times New Roman"/>
                <a:ea typeface="Times New Roman"/>
                <a:cs typeface="Times New Roman"/>
                <a:sym typeface="Times New Roman"/>
              </a:rPr>
              <a:t>Stage 3: PYNQ (Deployment &amp; Testing)</a:t>
            </a:r>
            <a:endParaRPr b="1" sz="1100">
              <a:solidFill>
                <a:schemeClr val="dk1"/>
              </a:solidFill>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chemeClr val="dk1"/>
              </a:buClr>
              <a:buSzPts val="1100"/>
              <a:buChar char="●"/>
            </a:pPr>
            <a:r>
              <a:rPr b="1" lang="en-GB" sz="1100">
                <a:solidFill>
                  <a:schemeClr val="dk1"/>
                </a:solidFill>
                <a:latin typeface="Times New Roman"/>
                <a:ea typeface="Times New Roman"/>
                <a:cs typeface="Times New Roman"/>
                <a:sym typeface="Times New Roman"/>
              </a:rPr>
              <a:t>Overlay Configuration:</a:t>
            </a:r>
            <a:r>
              <a:rPr lang="en-GB" sz="1100">
                <a:solidFill>
                  <a:schemeClr val="dk1"/>
                </a:solidFill>
                <a:latin typeface="Times New Roman"/>
                <a:ea typeface="Times New Roman"/>
                <a:cs typeface="Times New Roman"/>
                <a:sym typeface="Times New Roman"/>
              </a:rPr>
              <a:t> Initialize the FPGA environment by </a:t>
            </a:r>
            <a:r>
              <a:rPr b="1" lang="en-GB" sz="1100">
                <a:solidFill>
                  <a:schemeClr val="dk1"/>
                </a:solidFill>
                <a:latin typeface="Times New Roman"/>
                <a:ea typeface="Times New Roman"/>
                <a:cs typeface="Times New Roman"/>
                <a:sym typeface="Times New Roman"/>
              </a:rPr>
              <a:t>loading the Overlay</a:t>
            </a:r>
            <a:r>
              <a:rPr lang="en-GB" sz="1100">
                <a:solidFill>
                  <a:schemeClr val="dk1"/>
                </a:solidFill>
                <a:latin typeface="Times New Roman"/>
                <a:ea typeface="Times New Roman"/>
                <a:cs typeface="Times New Roman"/>
                <a:sym typeface="Times New Roman"/>
              </a:rPr>
              <a:t> (the bitstream generated in Stage 2) onto the programmable logic.</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latin typeface="Times New Roman"/>
                <a:ea typeface="Times New Roman"/>
                <a:cs typeface="Times New Roman"/>
                <a:sym typeface="Times New Roman"/>
              </a:rPr>
              <a:t>Software Execution:</a:t>
            </a:r>
            <a:r>
              <a:rPr lang="en-GB" sz="1100">
                <a:solidFill>
                  <a:schemeClr val="dk1"/>
                </a:solidFill>
                <a:latin typeface="Times New Roman"/>
                <a:ea typeface="Times New Roman"/>
                <a:cs typeface="Times New Roman"/>
                <a:sym typeface="Times New Roman"/>
              </a:rPr>
              <a:t> Run the </a:t>
            </a:r>
            <a:r>
              <a:rPr b="1" lang="en-GB" sz="1100">
                <a:solidFill>
                  <a:schemeClr val="dk1"/>
                </a:solidFill>
                <a:latin typeface="Times New Roman"/>
                <a:ea typeface="Times New Roman"/>
                <a:cs typeface="Times New Roman"/>
                <a:sym typeface="Times New Roman"/>
              </a:rPr>
              <a:t>Python Application</a:t>
            </a:r>
            <a:r>
              <a:rPr lang="en-GB" sz="1100">
                <a:solidFill>
                  <a:schemeClr val="dk1"/>
                </a:solidFill>
                <a:latin typeface="Times New Roman"/>
                <a:ea typeface="Times New Roman"/>
                <a:cs typeface="Times New Roman"/>
                <a:sym typeface="Times New Roman"/>
              </a:rPr>
              <a:t> (typically in Jupyter) to manage data transfer and trigger the hardware-accelerated encryption.</a:t>
            </a:r>
            <a:endParaRPr i="0" sz="1100" u="none" cap="none" strike="noStrike">
              <a:solidFill>
                <a:schemeClr val="dk1"/>
              </a:solidFill>
              <a:latin typeface="Times New Roman"/>
              <a:ea typeface="Times New Roman"/>
              <a:cs typeface="Times New Roman"/>
              <a:sym typeface="Times New Roman"/>
            </a:endParaRPr>
          </a:p>
        </p:txBody>
      </p:sp>
      <p:pic>
        <p:nvPicPr>
          <p:cNvPr descr="VTU_logo" id="330" name="Google Shape;330;p39"/>
          <p:cNvPicPr preferRelativeResize="0"/>
          <p:nvPr/>
        </p:nvPicPr>
        <p:blipFill rotWithShape="1">
          <a:blip r:embed="rId4">
            <a:alphaModFix/>
          </a:blip>
          <a:srcRect b="0" l="0" r="0" t="0"/>
          <a:stretch/>
        </p:blipFill>
        <p:spPr>
          <a:xfrm>
            <a:off x="8014064" y="58332"/>
            <a:ext cx="917966" cy="1126682"/>
          </a:xfrm>
          <a:prstGeom prst="rect">
            <a:avLst/>
          </a:prstGeom>
          <a:noFill/>
          <a:ln>
            <a:noFill/>
          </a:ln>
        </p:spPr>
      </p:pic>
      <p:pic>
        <p:nvPicPr>
          <p:cNvPr id="331" name="Google Shape;331;p39"/>
          <p:cNvPicPr preferRelativeResize="0"/>
          <p:nvPr/>
        </p:nvPicPr>
        <p:blipFill rotWithShape="1">
          <a:blip r:embed="rId5">
            <a:alphaModFix/>
          </a:blip>
          <a:srcRect b="0" l="18591" r="26613" t="43582"/>
          <a:stretch/>
        </p:blipFill>
        <p:spPr>
          <a:xfrm>
            <a:off x="5332437" y="965100"/>
            <a:ext cx="2681649" cy="3730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0"/>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37" name="Google Shape;337;p40"/>
          <p:cNvSpPr txBox="1"/>
          <p:nvPr/>
        </p:nvSpPr>
        <p:spPr>
          <a:xfrm>
            <a:off x="6859282" y="4773205"/>
            <a:ext cx="1745075" cy="484718"/>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338" name="Google Shape;338;p40"/>
          <p:cNvSpPr/>
          <p:nvPr/>
        </p:nvSpPr>
        <p:spPr>
          <a:xfrm>
            <a:off x="376517" y="0"/>
            <a:ext cx="1284643" cy="127747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339" name="Google Shape;339;p40"/>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340" name="Google Shape;340;p40"/>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41" name="Google Shape;341;p40"/>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pic>
        <p:nvPicPr>
          <p:cNvPr descr="VTU_logo" id="342" name="Google Shape;342;p40"/>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sp>
        <p:nvSpPr>
          <p:cNvPr id="343" name="Google Shape;343;p40"/>
          <p:cNvSpPr txBox="1"/>
          <p:nvPr/>
        </p:nvSpPr>
        <p:spPr>
          <a:xfrm>
            <a:off x="376525" y="1472050"/>
            <a:ext cx="4905900" cy="28329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1200"/>
              </a:spcBef>
              <a:spcAft>
                <a:spcPts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The </a:t>
            </a:r>
            <a:r>
              <a:rPr b="1" lang="en-GB" sz="1200">
                <a:solidFill>
                  <a:schemeClr val="dk1"/>
                </a:solidFill>
                <a:latin typeface="Times New Roman"/>
                <a:ea typeface="Times New Roman"/>
                <a:cs typeface="Times New Roman"/>
                <a:sym typeface="Times New Roman"/>
              </a:rPr>
              <a:t>AES encryption process</a:t>
            </a:r>
            <a:r>
              <a:rPr lang="en-GB" sz="1200">
                <a:solidFill>
                  <a:schemeClr val="dk1"/>
                </a:solidFill>
                <a:latin typeface="Times New Roman"/>
                <a:ea typeface="Times New Roman"/>
                <a:cs typeface="Times New Roman"/>
                <a:sym typeface="Times New Roman"/>
              </a:rPr>
              <a:t> operates on a 128-bit plaintext block arranged as a 4×4 state matrix and starts with an initial </a:t>
            </a:r>
            <a:r>
              <a:rPr b="1" lang="en-GB" sz="1200">
                <a:solidFill>
                  <a:schemeClr val="dk1"/>
                </a:solidFill>
                <a:latin typeface="Times New Roman"/>
                <a:ea typeface="Times New Roman"/>
                <a:cs typeface="Times New Roman"/>
                <a:sym typeface="Times New Roman"/>
              </a:rPr>
              <a:t>AddRoundKey</a:t>
            </a:r>
            <a:r>
              <a:rPr lang="en-GB" sz="1200">
                <a:solidFill>
                  <a:schemeClr val="dk1"/>
                </a:solidFill>
                <a:latin typeface="Times New Roman"/>
                <a:ea typeface="Times New Roman"/>
                <a:cs typeface="Times New Roman"/>
                <a:sym typeface="Times New Roman"/>
              </a:rPr>
              <a:t> operation to mix the cipher key with the data. It then proceeds through multiple rounds (10 for AES-128), where each round applies </a:t>
            </a:r>
            <a:r>
              <a:rPr b="1" lang="en-GB" sz="1200">
                <a:solidFill>
                  <a:schemeClr val="dk1"/>
                </a:solidFill>
                <a:latin typeface="Times New Roman"/>
                <a:ea typeface="Times New Roman"/>
                <a:cs typeface="Times New Roman"/>
                <a:sym typeface="Times New Roman"/>
              </a:rPr>
              <a:t>SubBytes</a:t>
            </a:r>
            <a:r>
              <a:rPr lang="en-GB" sz="1200">
                <a:solidFill>
                  <a:schemeClr val="dk1"/>
                </a:solidFill>
                <a:latin typeface="Times New Roman"/>
                <a:ea typeface="Times New Roman"/>
                <a:cs typeface="Times New Roman"/>
                <a:sym typeface="Times New Roman"/>
              </a:rPr>
              <a:t> for non-linear substitution, </a:t>
            </a:r>
            <a:r>
              <a:rPr b="1" lang="en-GB" sz="1200">
                <a:solidFill>
                  <a:schemeClr val="dk1"/>
                </a:solidFill>
                <a:latin typeface="Times New Roman"/>
                <a:ea typeface="Times New Roman"/>
                <a:cs typeface="Times New Roman"/>
                <a:sym typeface="Times New Roman"/>
              </a:rPr>
              <a:t>ShiftRows</a:t>
            </a:r>
            <a:r>
              <a:rPr lang="en-GB" sz="1200">
                <a:solidFill>
                  <a:schemeClr val="dk1"/>
                </a:solidFill>
                <a:latin typeface="Times New Roman"/>
                <a:ea typeface="Times New Roman"/>
                <a:cs typeface="Times New Roman"/>
                <a:sym typeface="Times New Roman"/>
              </a:rPr>
              <a:t> for byte permutation, </a:t>
            </a:r>
            <a:r>
              <a:rPr b="1" lang="en-GB" sz="1200">
                <a:solidFill>
                  <a:schemeClr val="dk1"/>
                </a:solidFill>
                <a:latin typeface="Times New Roman"/>
                <a:ea typeface="Times New Roman"/>
                <a:cs typeface="Times New Roman"/>
                <a:sym typeface="Times New Roman"/>
              </a:rPr>
              <a:t>MixColumns</a:t>
            </a:r>
            <a:r>
              <a:rPr lang="en-GB" sz="1200">
                <a:solidFill>
                  <a:schemeClr val="dk1"/>
                </a:solidFill>
                <a:latin typeface="Times New Roman"/>
                <a:ea typeface="Times New Roman"/>
                <a:cs typeface="Times New Roman"/>
                <a:sym typeface="Times New Roman"/>
              </a:rPr>
              <a:t> for diffusion, and </a:t>
            </a:r>
            <a:r>
              <a:rPr b="1" lang="en-GB" sz="1200">
                <a:solidFill>
                  <a:schemeClr val="dk1"/>
                </a:solidFill>
                <a:latin typeface="Times New Roman"/>
                <a:ea typeface="Times New Roman"/>
                <a:cs typeface="Times New Roman"/>
                <a:sym typeface="Times New Roman"/>
              </a:rPr>
              <a:t>AddRoundKey</a:t>
            </a:r>
            <a:r>
              <a:rPr lang="en-GB" sz="1200">
                <a:solidFill>
                  <a:schemeClr val="dk1"/>
                </a:solidFill>
                <a:latin typeface="Times New Roman"/>
                <a:ea typeface="Times New Roman"/>
                <a:cs typeface="Times New Roman"/>
                <a:sym typeface="Times New Roman"/>
              </a:rPr>
              <a:t> for key mixing, while the </a:t>
            </a:r>
            <a:r>
              <a:rPr b="1" lang="en-GB" sz="1200">
                <a:solidFill>
                  <a:schemeClr val="dk1"/>
                </a:solidFill>
                <a:latin typeface="Times New Roman"/>
                <a:ea typeface="Times New Roman"/>
                <a:cs typeface="Times New Roman"/>
                <a:sym typeface="Times New Roman"/>
              </a:rPr>
              <a:t>final round excludes MixColumns</a:t>
            </a:r>
            <a:r>
              <a:rPr lang="en-GB" sz="1200">
                <a:solidFill>
                  <a:schemeClr val="dk1"/>
                </a:solidFill>
                <a:latin typeface="Times New Roman"/>
                <a:ea typeface="Times New Roman"/>
                <a:cs typeface="Times New Roman"/>
                <a:sym typeface="Times New Roman"/>
              </a:rPr>
              <a:t> to simplify decryption. A parallel </a:t>
            </a:r>
            <a:r>
              <a:rPr b="1" lang="en-GB" sz="1200">
                <a:solidFill>
                  <a:schemeClr val="dk1"/>
                </a:solidFill>
                <a:latin typeface="Times New Roman"/>
                <a:ea typeface="Times New Roman"/>
                <a:cs typeface="Times New Roman"/>
                <a:sym typeface="Times New Roman"/>
              </a:rPr>
              <a:t>key expansion</a:t>
            </a:r>
            <a:r>
              <a:rPr lang="en-GB" sz="1200">
                <a:solidFill>
                  <a:schemeClr val="dk1"/>
                </a:solidFill>
                <a:latin typeface="Times New Roman"/>
                <a:ea typeface="Times New Roman"/>
                <a:cs typeface="Times New Roman"/>
                <a:sym typeface="Times New Roman"/>
              </a:rPr>
              <a:t> generates round-specific keys, and the repetitive, structured flow enables efficient </a:t>
            </a:r>
            <a:r>
              <a:rPr b="1" lang="en-GB" sz="1200">
                <a:solidFill>
                  <a:schemeClr val="dk1"/>
                </a:solidFill>
                <a:latin typeface="Times New Roman"/>
                <a:ea typeface="Times New Roman"/>
                <a:cs typeface="Times New Roman"/>
                <a:sym typeface="Times New Roman"/>
              </a:rPr>
              <a:t>hardware implementation with pipelining and parallelism</a:t>
            </a:r>
            <a:r>
              <a:rPr lang="en-GB" sz="1200">
                <a:solidFill>
                  <a:schemeClr val="dk1"/>
                </a:solidFill>
                <a:latin typeface="Times New Roman"/>
                <a:ea typeface="Times New Roman"/>
                <a:cs typeface="Times New Roman"/>
                <a:sym typeface="Times New Roman"/>
              </a:rPr>
              <a:t>, making AES suitable for high-speed, real-time encryption.</a:t>
            </a:r>
            <a:endParaRPr sz="1200">
              <a:solidFill>
                <a:schemeClr val="dk1"/>
              </a:solidFill>
              <a:latin typeface="Times New Roman"/>
              <a:ea typeface="Times New Roman"/>
              <a:cs typeface="Times New Roman"/>
              <a:sym typeface="Times New Roman"/>
            </a:endParaRPr>
          </a:p>
          <a:p>
            <a:pPr indent="0" lvl="0" marL="0" rtl="0" algn="just">
              <a:lnSpc>
                <a:spcPct val="150000"/>
              </a:lnSpc>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pic>
        <p:nvPicPr>
          <p:cNvPr id="344" name="Google Shape;344;p40"/>
          <p:cNvPicPr preferRelativeResize="0"/>
          <p:nvPr/>
        </p:nvPicPr>
        <p:blipFill rotWithShape="1">
          <a:blip r:embed="rId5">
            <a:alphaModFix/>
          </a:blip>
          <a:srcRect b="0" l="12567" r="24089" t="0"/>
          <a:stretch/>
        </p:blipFill>
        <p:spPr>
          <a:xfrm>
            <a:off x="5454775" y="1087875"/>
            <a:ext cx="2769575" cy="3391000"/>
          </a:xfrm>
          <a:prstGeom prst="rect">
            <a:avLst/>
          </a:prstGeom>
          <a:noFill/>
          <a:ln>
            <a:noFill/>
          </a:ln>
        </p:spPr>
      </p:pic>
      <p:sp>
        <p:nvSpPr>
          <p:cNvPr id="345" name="Google Shape;345;p40"/>
          <p:cNvSpPr txBox="1"/>
          <p:nvPr>
            <p:ph type="ctrTitle"/>
          </p:nvPr>
        </p:nvSpPr>
        <p:spPr>
          <a:xfrm>
            <a:off x="1847954" y="524225"/>
            <a:ext cx="58308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3000"/>
              <a:buFont typeface="Calibri"/>
              <a:buNone/>
            </a:pPr>
            <a:r>
              <a:rPr b="1" lang="en-GB" sz="2700">
                <a:solidFill>
                  <a:srgbClr val="000A30"/>
                </a:solidFill>
                <a:latin typeface="Times New Roman"/>
                <a:ea typeface="Times New Roman"/>
                <a:cs typeface="Times New Roman"/>
                <a:sym typeface="Times New Roman"/>
              </a:rPr>
              <a:t>AES ALGORITHM </a:t>
            </a:r>
            <a:r>
              <a:rPr b="1" lang="en-GB" sz="2700">
                <a:solidFill>
                  <a:srgbClr val="000A30"/>
                </a:solidFill>
                <a:latin typeface="Times New Roman"/>
                <a:ea typeface="Times New Roman"/>
                <a:cs typeface="Times New Roman"/>
                <a:sym typeface="Times New Roman"/>
              </a:rPr>
              <a:t>FLOW CHART</a:t>
            </a:r>
            <a:endParaRPr b="1" sz="2700">
              <a:solidFill>
                <a:srgbClr val="000A3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1"/>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51" name="Google Shape;351;p41"/>
          <p:cNvSpPr txBox="1"/>
          <p:nvPr/>
        </p:nvSpPr>
        <p:spPr>
          <a:xfrm>
            <a:off x="6706324" y="4773200"/>
            <a:ext cx="1898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352" name="Google Shape;352;p41"/>
          <p:cNvSpPr/>
          <p:nvPr/>
        </p:nvSpPr>
        <p:spPr>
          <a:xfrm>
            <a:off x="376517" y="0"/>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353" name="Google Shape;353;p41"/>
          <p:cNvPicPr preferRelativeResize="0"/>
          <p:nvPr/>
        </p:nvPicPr>
        <p:blipFill rotWithShape="1">
          <a:blip r:embed="rId3">
            <a:alphaModFix/>
          </a:blip>
          <a:srcRect b="0" l="0" r="0" t="0"/>
          <a:stretch/>
        </p:blipFill>
        <p:spPr>
          <a:xfrm>
            <a:off x="511212" y="312326"/>
            <a:ext cx="1015254" cy="652781"/>
          </a:xfrm>
          <a:prstGeom prst="rect">
            <a:avLst/>
          </a:prstGeom>
          <a:noFill/>
          <a:ln>
            <a:noFill/>
          </a:ln>
        </p:spPr>
      </p:pic>
      <p:sp>
        <p:nvSpPr>
          <p:cNvPr id="354" name="Google Shape;354;p41"/>
          <p:cNvSpPr/>
          <p:nvPr/>
        </p:nvSpPr>
        <p:spPr>
          <a:xfrm>
            <a:off x="1915173" y="1052312"/>
            <a:ext cx="675900" cy="47400"/>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55" name="Google Shape;355;p41"/>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pic>
        <p:nvPicPr>
          <p:cNvPr descr="VTU_logo" id="356" name="Google Shape;356;p41"/>
          <p:cNvPicPr preferRelativeResize="0"/>
          <p:nvPr/>
        </p:nvPicPr>
        <p:blipFill rotWithShape="1">
          <a:blip r:embed="rId4">
            <a:alphaModFix/>
          </a:blip>
          <a:srcRect b="0" l="0" r="0" t="0"/>
          <a:stretch/>
        </p:blipFill>
        <p:spPr>
          <a:xfrm>
            <a:off x="8014064" y="58332"/>
            <a:ext cx="917966" cy="1126682"/>
          </a:xfrm>
          <a:prstGeom prst="rect">
            <a:avLst/>
          </a:prstGeom>
          <a:noFill/>
          <a:ln>
            <a:noFill/>
          </a:ln>
        </p:spPr>
      </p:pic>
      <p:sp>
        <p:nvSpPr>
          <p:cNvPr id="357" name="Google Shape;357;p41"/>
          <p:cNvSpPr txBox="1"/>
          <p:nvPr>
            <p:ph type="ctrTitle"/>
          </p:nvPr>
        </p:nvSpPr>
        <p:spPr>
          <a:xfrm>
            <a:off x="1847954" y="524225"/>
            <a:ext cx="58308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3000"/>
              <a:buFont typeface="Calibri"/>
              <a:buNone/>
            </a:pPr>
            <a:r>
              <a:rPr b="1" lang="en-GB" sz="2700">
                <a:solidFill>
                  <a:srgbClr val="000A30"/>
                </a:solidFill>
                <a:latin typeface="Times New Roman"/>
                <a:ea typeface="Times New Roman"/>
                <a:cs typeface="Times New Roman"/>
                <a:sym typeface="Times New Roman"/>
              </a:rPr>
              <a:t>SUB  BYTES</a:t>
            </a:r>
            <a:endParaRPr b="1" sz="2700">
              <a:solidFill>
                <a:srgbClr val="000A30"/>
              </a:solidFill>
              <a:latin typeface="Times New Roman"/>
              <a:ea typeface="Times New Roman"/>
              <a:cs typeface="Times New Roman"/>
              <a:sym typeface="Times New Roman"/>
            </a:endParaRPr>
          </a:p>
        </p:txBody>
      </p:sp>
      <p:sp>
        <p:nvSpPr>
          <p:cNvPr id="358" name="Google Shape;358;p41"/>
          <p:cNvSpPr txBox="1"/>
          <p:nvPr/>
        </p:nvSpPr>
        <p:spPr>
          <a:xfrm>
            <a:off x="410550" y="1558011"/>
            <a:ext cx="4697700" cy="2682000"/>
          </a:xfrm>
          <a:prstGeom prst="rect">
            <a:avLst/>
          </a:prstGeom>
          <a:noFill/>
          <a:ln>
            <a:noFill/>
          </a:ln>
        </p:spPr>
        <p:txBody>
          <a:bodyPr anchorCtr="0" anchor="t" bIns="34275" lIns="68575" spcFirstLastPara="1" rIns="68575" wrap="square" tIns="34275">
            <a:noAutofit/>
          </a:bodyPr>
          <a:lstStyle/>
          <a:p>
            <a:pPr indent="-304800" lvl="0" marL="457200" rtl="0" algn="just">
              <a:lnSpc>
                <a:spcPct val="150000"/>
              </a:lnSpc>
              <a:spcBef>
                <a:spcPts val="120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SubBytes is a </a:t>
            </a:r>
            <a:r>
              <a:rPr b="1" lang="en-GB" sz="1200">
                <a:solidFill>
                  <a:schemeClr val="dk1"/>
                </a:solidFill>
                <a:latin typeface="Times New Roman"/>
                <a:ea typeface="Times New Roman"/>
                <a:cs typeface="Times New Roman"/>
                <a:sym typeface="Times New Roman"/>
              </a:rPr>
              <a:t>non-linear byte substitution step</a:t>
            </a:r>
            <a:r>
              <a:rPr lang="en-GB" sz="1200">
                <a:solidFill>
                  <a:schemeClr val="dk1"/>
                </a:solidFill>
                <a:latin typeface="Times New Roman"/>
                <a:ea typeface="Times New Roman"/>
                <a:cs typeface="Times New Roman"/>
                <a:sym typeface="Times New Roman"/>
              </a:rPr>
              <a:t> where each byte of the 4×4 state matrix is replaced using a fixed </a:t>
            </a:r>
            <a:r>
              <a:rPr b="1" lang="en-GB" sz="1200">
                <a:solidFill>
                  <a:schemeClr val="dk1"/>
                </a:solidFill>
                <a:latin typeface="Times New Roman"/>
                <a:ea typeface="Times New Roman"/>
                <a:cs typeface="Times New Roman"/>
                <a:sym typeface="Times New Roman"/>
              </a:rPr>
              <a:t>AES S-Box</a:t>
            </a:r>
            <a:r>
              <a:rPr lang="en-GB" sz="1200">
                <a:solidFill>
                  <a:schemeClr val="dk1"/>
                </a:solidFill>
                <a:latin typeface="Times New Roman"/>
                <a:ea typeface="Times New Roman"/>
                <a:cs typeface="Times New Roman"/>
                <a:sym typeface="Times New Roman"/>
              </a:rPr>
              <a:t>, introducing cryptographic confusion.</a:t>
            </a:r>
            <a:endParaRPr sz="1200">
              <a:solidFill>
                <a:schemeClr val="dk1"/>
              </a:solidFill>
              <a:latin typeface="Times New Roman"/>
              <a:ea typeface="Times New Roman"/>
              <a:cs typeface="Times New Roman"/>
              <a:sym typeface="Times New Roman"/>
            </a:endParaRPr>
          </a:p>
          <a:p>
            <a:pPr indent="-304800" lvl="0" marL="457200"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This operation is designed to </a:t>
            </a:r>
            <a:r>
              <a:rPr b="1" lang="en-GB" sz="1200">
                <a:solidFill>
                  <a:schemeClr val="dk1"/>
                </a:solidFill>
                <a:latin typeface="Times New Roman"/>
                <a:ea typeface="Times New Roman"/>
                <a:cs typeface="Times New Roman"/>
                <a:sym typeface="Times New Roman"/>
              </a:rPr>
              <a:t>resist linear and differential cryptanalysis</a:t>
            </a:r>
            <a:r>
              <a:rPr lang="en-GB" sz="1200">
                <a:solidFill>
                  <a:schemeClr val="dk1"/>
                </a:solidFill>
                <a:latin typeface="Times New Roman"/>
                <a:ea typeface="Times New Roman"/>
                <a:cs typeface="Times New Roman"/>
                <a:sym typeface="Times New Roman"/>
              </a:rPr>
              <a:t> by breaking simple mathematical relationships between plaintext and ciphertext.</a:t>
            </a:r>
            <a:endParaRPr sz="1200">
              <a:solidFill>
                <a:schemeClr val="dk1"/>
              </a:solidFill>
              <a:latin typeface="Times New Roman"/>
              <a:ea typeface="Times New Roman"/>
              <a:cs typeface="Times New Roman"/>
              <a:sym typeface="Times New Roman"/>
            </a:endParaRPr>
          </a:p>
          <a:p>
            <a:pPr indent="0" lvl="0" marL="0" rtl="0" algn="just">
              <a:lnSpc>
                <a:spcPct val="150000"/>
              </a:lnSpc>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pic>
        <p:nvPicPr>
          <p:cNvPr id="359" name="Google Shape;359;p41" title="SubBytes.png"/>
          <p:cNvPicPr preferRelativeResize="0"/>
          <p:nvPr/>
        </p:nvPicPr>
        <p:blipFill>
          <a:blip r:embed="rId5">
            <a:alphaModFix/>
          </a:blip>
          <a:stretch>
            <a:fillRect/>
          </a:stretch>
        </p:blipFill>
        <p:spPr>
          <a:xfrm>
            <a:off x="5516700" y="1277400"/>
            <a:ext cx="2914700" cy="2914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2"/>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65" name="Google Shape;365;p42"/>
          <p:cNvSpPr txBox="1"/>
          <p:nvPr/>
        </p:nvSpPr>
        <p:spPr>
          <a:xfrm>
            <a:off x="6859282" y="4773205"/>
            <a:ext cx="17451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366" name="Google Shape;366;p42"/>
          <p:cNvSpPr/>
          <p:nvPr/>
        </p:nvSpPr>
        <p:spPr>
          <a:xfrm>
            <a:off x="376517" y="0"/>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367" name="Google Shape;367;p42"/>
          <p:cNvPicPr preferRelativeResize="0"/>
          <p:nvPr/>
        </p:nvPicPr>
        <p:blipFill rotWithShape="1">
          <a:blip r:embed="rId3">
            <a:alphaModFix/>
          </a:blip>
          <a:srcRect b="0" l="0" r="0" t="0"/>
          <a:stretch/>
        </p:blipFill>
        <p:spPr>
          <a:xfrm>
            <a:off x="511212" y="312326"/>
            <a:ext cx="1015254" cy="652781"/>
          </a:xfrm>
          <a:prstGeom prst="rect">
            <a:avLst/>
          </a:prstGeom>
          <a:noFill/>
          <a:ln>
            <a:noFill/>
          </a:ln>
        </p:spPr>
      </p:pic>
      <p:sp>
        <p:nvSpPr>
          <p:cNvPr id="368" name="Google Shape;368;p42"/>
          <p:cNvSpPr/>
          <p:nvPr/>
        </p:nvSpPr>
        <p:spPr>
          <a:xfrm>
            <a:off x="1915173" y="1052312"/>
            <a:ext cx="675900" cy="47400"/>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69" name="Google Shape;369;p42"/>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pic>
        <p:nvPicPr>
          <p:cNvPr descr="VTU_logo" id="370" name="Google Shape;370;p42"/>
          <p:cNvPicPr preferRelativeResize="0"/>
          <p:nvPr/>
        </p:nvPicPr>
        <p:blipFill rotWithShape="1">
          <a:blip r:embed="rId4">
            <a:alphaModFix/>
          </a:blip>
          <a:srcRect b="0" l="0" r="0" t="0"/>
          <a:stretch/>
        </p:blipFill>
        <p:spPr>
          <a:xfrm>
            <a:off x="8014064" y="58332"/>
            <a:ext cx="917966" cy="1126682"/>
          </a:xfrm>
          <a:prstGeom prst="rect">
            <a:avLst/>
          </a:prstGeom>
          <a:noFill/>
          <a:ln>
            <a:noFill/>
          </a:ln>
        </p:spPr>
      </p:pic>
      <p:pic>
        <p:nvPicPr>
          <p:cNvPr id="371" name="Google Shape;371;p42" title="ShiftRows.png"/>
          <p:cNvPicPr preferRelativeResize="0"/>
          <p:nvPr/>
        </p:nvPicPr>
        <p:blipFill rotWithShape="1">
          <a:blip r:embed="rId5">
            <a:alphaModFix/>
          </a:blip>
          <a:srcRect b="-300" l="0" r="0" t="300"/>
          <a:stretch/>
        </p:blipFill>
        <p:spPr>
          <a:xfrm>
            <a:off x="4130087" y="1272637"/>
            <a:ext cx="4860965" cy="2734325"/>
          </a:xfrm>
          <a:prstGeom prst="rect">
            <a:avLst/>
          </a:prstGeom>
          <a:noFill/>
          <a:ln>
            <a:noFill/>
          </a:ln>
        </p:spPr>
      </p:pic>
      <p:sp>
        <p:nvSpPr>
          <p:cNvPr id="372" name="Google Shape;372;p42"/>
          <p:cNvSpPr txBox="1"/>
          <p:nvPr>
            <p:ph type="ctrTitle"/>
          </p:nvPr>
        </p:nvSpPr>
        <p:spPr>
          <a:xfrm>
            <a:off x="1847954" y="524225"/>
            <a:ext cx="58308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3000"/>
              <a:buFont typeface="Calibri"/>
              <a:buNone/>
            </a:pPr>
            <a:r>
              <a:rPr b="1" lang="en-GB" sz="2700">
                <a:solidFill>
                  <a:srgbClr val="000A30"/>
                </a:solidFill>
                <a:latin typeface="Times New Roman"/>
                <a:ea typeface="Times New Roman"/>
                <a:cs typeface="Times New Roman"/>
                <a:sym typeface="Times New Roman"/>
              </a:rPr>
              <a:t>SHIFT ROWS</a:t>
            </a:r>
            <a:endParaRPr b="1" sz="2700">
              <a:solidFill>
                <a:srgbClr val="000A30"/>
              </a:solidFill>
              <a:latin typeface="Times New Roman"/>
              <a:ea typeface="Times New Roman"/>
              <a:cs typeface="Times New Roman"/>
              <a:sym typeface="Times New Roman"/>
            </a:endParaRPr>
          </a:p>
        </p:txBody>
      </p:sp>
      <p:sp>
        <p:nvSpPr>
          <p:cNvPr id="373" name="Google Shape;373;p42"/>
          <p:cNvSpPr txBox="1"/>
          <p:nvPr/>
        </p:nvSpPr>
        <p:spPr>
          <a:xfrm>
            <a:off x="71100" y="1654562"/>
            <a:ext cx="4059000" cy="2682000"/>
          </a:xfrm>
          <a:prstGeom prst="rect">
            <a:avLst/>
          </a:prstGeom>
          <a:noFill/>
          <a:ln>
            <a:noFill/>
          </a:ln>
        </p:spPr>
        <p:txBody>
          <a:bodyPr anchorCtr="0" anchor="t" bIns="34275" lIns="68575" spcFirstLastPara="1" rIns="68575" wrap="square" tIns="34275">
            <a:noAutofit/>
          </a:bodyPr>
          <a:lstStyle/>
          <a:p>
            <a:pPr indent="-304800" lvl="0" marL="457200" rtl="0" algn="just">
              <a:lnSpc>
                <a:spcPct val="150000"/>
              </a:lnSpc>
              <a:spcBef>
                <a:spcPts val="120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ShiftRows performs a </a:t>
            </a:r>
            <a:r>
              <a:rPr b="1" lang="en-GB" sz="1200">
                <a:solidFill>
                  <a:schemeClr val="dk1"/>
                </a:solidFill>
                <a:latin typeface="Times New Roman"/>
                <a:ea typeface="Times New Roman"/>
                <a:cs typeface="Times New Roman"/>
                <a:sym typeface="Times New Roman"/>
              </a:rPr>
              <a:t>cyclic left shift on each row</a:t>
            </a:r>
            <a:r>
              <a:rPr lang="en-GB" sz="1200">
                <a:solidFill>
                  <a:schemeClr val="dk1"/>
                </a:solidFill>
                <a:latin typeface="Times New Roman"/>
                <a:ea typeface="Times New Roman"/>
                <a:cs typeface="Times New Roman"/>
                <a:sym typeface="Times New Roman"/>
              </a:rPr>
              <a:t> of the state matrix, where the number of shifts depends on the row index (0, 1, 2, and 3 bytes respectively).</a:t>
            </a:r>
            <a:endParaRPr sz="1200">
              <a:solidFill>
                <a:schemeClr val="dk1"/>
              </a:solidFill>
              <a:latin typeface="Times New Roman"/>
              <a:ea typeface="Times New Roman"/>
              <a:cs typeface="Times New Roman"/>
              <a:sym typeface="Times New Roman"/>
            </a:endParaRPr>
          </a:p>
          <a:p>
            <a:pPr indent="-304800" lvl="0" marL="457200"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This step </a:t>
            </a:r>
            <a:r>
              <a:rPr b="1" lang="en-GB" sz="1200">
                <a:solidFill>
                  <a:schemeClr val="dk1"/>
                </a:solidFill>
                <a:latin typeface="Times New Roman"/>
                <a:ea typeface="Times New Roman"/>
                <a:cs typeface="Times New Roman"/>
                <a:sym typeface="Times New Roman"/>
              </a:rPr>
              <a:t>spreads byte dependencies across columns</a:t>
            </a:r>
            <a:r>
              <a:rPr lang="en-GB" sz="1200">
                <a:solidFill>
                  <a:schemeClr val="dk1"/>
                </a:solidFill>
                <a:latin typeface="Times New Roman"/>
                <a:ea typeface="Times New Roman"/>
                <a:cs typeface="Times New Roman"/>
                <a:sym typeface="Times New Roman"/>
              </a:rPr>
              <a:t>, preventing column-wise independence and enhancing diffusion in the encryption process.</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3"/>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79" name="Google Shape;379;p43"/>
          <p:cNvSpPr txBox="1"/>
          <p:nvPr/>
        </p:nvSpPr>
        <p:spPr>
          <a:xfrm>
            <a:off x="6859282" y="4773205"/>
            <a:ext cx="17451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380" name="Google Shape;380;p43"/>
          <p:cNvSpPr/>
          <p:nvPr/>
        </p:nvSpPr>
        <p:spPr>
          <a:xfrm>
            <a:off x="376517" y="0"/>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381" name="Google Shape;381;p43"/>
          <p:cNvPicPr preferRelativeResize="0"/>
          <p:nvPr/>
        </p:nvPicPr>
        <p:blipFill rotWithShape="1">
          <a:blip r:embed="rId3">
            <a:alphaModFix/>
          </a:blip>
          <a:srcRect b="0" l="0" r="0" t="0"/>
          <a:stretch/>
        </p:blipFill>
        <p:spPr>
          <a:xfrm>
            <a:off x="511212" y="312326"/>
            <a:ext cx="1015254" cy="652781"/>
          </a:xfrm>
          <a:prstGeom prst="rect">
            <a:avLst/>
          </a:prstGeom>
          <a:noFill/>
          <a:ln>
            <a:noFill/>
          </a:ln>
        </p:spPr>
      </p:pic>
      <p:sp>
        <p:nvSpPr>
          <p:cNvPr id="382" name="Google Shape;382;p43"/>
          <p:cNvSpPr/>
          <p:nvPr/>
        </p:nvSpPr>
        <p:spPr>
          <a:xfrm>
            <a:off x="1915173" y="1052312"/>
            <a:ext cx="675900" cy="47400"/>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83" name="Google Shape;383;p43"/>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pic>
        <p:nvPicPr>
          <p:cNvPr descr="VTU_logo" id="384" name="Google Shape;384;p43"/>
          <p:cNvPicPr preferRelativeResize="0"/>
          <p:nvPr/>
        </p:nvPicPr>
        <p:blipFill rotWithShape="1">
          <a:blip r:embed="rId4">
            <a:alphaModFix/>
          </a:blip>
          <a:srcRect b="0" l="0" r="0" t="0"/>
          <a:stretch/>
        </p:blipFill>
        <p:spPr>
          <a:xfrm>
            <a:off x="8014064" y="58332"/>
            <a:ext cx="917966" cy="1126682"/>
          </a:xfrm>
          <a:prstGeom prst="rect">
            <a:avLst/>
          </a:prstGeom>
          <a:noFill/>
          <a:ln>
            <a:noFill/>
          </a:ln>
        </p:spPr>
      </p:pic>
      <p:pic>
        <p:nvPicPr>
          <p:cNvPr id="385" name="Google Shape;385;p43" title="MixColumn.png"/>
          <p:cNvPicPr preferRelativeResize="0"/>
          <p:nvPr/>
        </p:nvPicPr>
        <p:blipFill>
          <a:blip r:embed="rId5">
            <a:alphaModFix/>
          </a:blip>
          <a:stretch>
            <a:fillRect/>
          </a:stretch>
        </p:blipFill>
        <p:spPr>
          <a:xfrm>
            <a:off x="4347600" y="1185025"/>
            <a:ext cx="4796400" cy="2558075"/>
          </a:xfrm>
          <a:prstGeom prst="rect">
            <a:avLst/>
          </a:prstGeom>
          <a:noFill/>
          <a:ln>
            <a:noFill/>
          </a:ln>
        </p:spPr>
      </p:pic>
      <p:sp>
        <p:nvSpPr>
          <p:cNvPr id="386" name="Google Shape;386;p43"/>
          <p:cNvSpPr txBox="1"/>
          <p:nvPr>
            <p:ph type="ctrTitle"/>
          </p:nvPr>
        </p:nvSpPr>
        <p:spPr>
          <a:xfrm>
            <a:off x="1847954" y="524225"/>
            <a:ext cx="58308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3000"/>
              <a:buFont typeface="Calibri"/>
              <a:buNone/>
            </a:pPr>
            <a:r>
              <a:rPr b="1" lang="en-GB" sz="2700">
                <a:solidFill>
                  <a:srgbClr val="000A30"/>
                </a:solidFill>
                <a:latin typeface="Times New Roman"/>
                <a:ea typeface="Times New Roman"/>
                <a:cs typeface="Times New Roman"/>
                <a:sym typeface="Times New Roman"/>
              </a:rPr>
              <a:t>MIX COLUMNS</a:t>
            </a:r>
            <a:endParaRPr b="1" sz="2700">
              <a:solidFill>
                <a:srgbClr val="000A30"/>
              </a:solidFill>
              <a:latin typeface="Times New Roman"/>
              <a:ea typeface="Times New Roman"/>
              <a:cs typeface="Times New Roman"/>
              <a:sym typeface="Times New Roman"/>
            </a:endParaRPr>
          </a:p>
        </p:txBody>
      </p:sp>
      <p:sp>
        <p:nvSpPr>
          <p:cNvPr id="387" name="Google Shape;387;p43"/>
          <p:cNvSpPr txBox="1"/>
          <p:nvPr/>
        </p:nvSpPr>
        <p:spPr>
          <a:xfrm>
            <a:off x="71100" y="1630300"/>
            <a:ext cx="4231200" cy="2682000"/>
          </a:xfrm>
          <a:prstGeom prst="rect">
            <a:avLst/>
          </a:prstGeom>
          <a:noFill/>
          <a:ln>
            <a:noFill/>
          </a:ln>
        </p:spPr>
        <p:txBody>
          <a:bodyPr anchorCtr="0" anchor="t" bIns="34275" lIns="68575" spcFirstLastPara="1" rIns="68575" wrap="square" tIns="34275">
            <a:noAutofit/>
          </a:bodyPr>
          <a:lstStyle/>
          <a:p>
            <a:pPr indent="-304800" lvl="0" marL="457200" rtl="0" algn="just">
              <a:lnSpc>
                <a:spcPct val="150000"/>
              </a:lnSpc>
              <a:spcBef>
                <a:spcPts val="120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MixColumns treats each column of the state matrix as a polynomial and multiplies it with a </a:t>
            </a:r>
            <a:r>
              <a:rPr b="1" lang="en-GB" sz="1200">
                <a:solidFill>
                  <a:schemeClr val="dk1"/>
                </a:solidFill>
                <a:latin typeface="Times New Roman"/>
                <a:ea typeface="Times New Roman"/>
                <a:cs typeface="Times New Roman"/>
                <a:sym typeface="Times New Roman"/>
              </a:rPr>
              <a:t>fixed constant Matrix.</a:t>
            </a:r>
            <a:endParaRPr sz="1200">
              <a:solidFill>
                <a:schemeClr val="dk1"/>
              </a:solidFill>
              <a:latin typeface="Times New Roman"/>
              <a:ea typeface="Times New Roman"/>
              <a:cs typeface="Times New Roman"/>
              <a:sym typeface="Times New Roman"/>
            </a:endParaRPr>
          </a:p>
          <a:p>
            <a:pPr indent="-304800" lvl="0" marL="457200" rtl="0" algn="just">
              <a:lnSpc>
                <a:spcPct val="150000"/>
              </a:lnSpc>
              <a:spcBef>
                <a:spcPts val="0"/>
              </a:spcBef>
              <a:spcAft>
                <a:spcPts val="0"/>
              </a:spcAft>
              <a:buClr>
                <a:schemeClr val="dk1"/>
              </a:buClr>
              <a:buSzPts val="1200"/>
              <a:buChar char="●"/>
            </a:pPr>
            <a:r>
              <a:rPr lang="en-GB" sz="1200">
                <a:solidFill>
                  <a:schemeClr val="dk1"/>
                </a:solidFill>
                <a:latin typeface="Times New Roman"/>
                <a:ea typeface="Times New Roman"/>
                <a:cs typeface="Times New Roman"/>
                <a:sym typeface="Times New Roman"/>
              </a:rPr>
              <a:t>This operation ensures </a:t>
            </a:r>
            <a:r>
              <a:rPr b="1" lang="en-GB" sz="1200">
                <a:solidFill>
                  <a:schemeClr val="dk1"/>
                </a:solidFill>
                <a:latin typeface="Times New Roman"/>
                <a:ea typeface="Times New Roman"/>
                <a:cs typeface="Times New Roman"/>
                <a:sym typeface="Times New Roman"/>
              </a:rPr>
              <a:t>strong diffusion</a:t>
            </a:r>
            <a:r>
              <a:rPr lang="en-GB" sz="1200">
                <a:solidFill>
                  <a:schemeClr val="dk1"/>
                </a:solidFill>
                <a:latin typeface="Times New Roman"/>
                <a:ea typeface="Times New Roman"/>
                <a:cs typeface="Times New Roman"/>
                <a:sym typeface="Times New Roman"/>
              </a:rPr>
              <a:t>, meaning a single input byte affects multiple output bytes across the column.</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4"/>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93" name="Google Shape;393;p44"/>
          <p:cNvSpPr txBox="1"/>
          <p:nvPr/>
        </p:nvSpPr>
        <p:spPr>
          <a:xfrm>
            <a:off x="6859282" y="4773205"/>
            <a:ext cx="17451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394" name="Google Shape;394;p44"/>
          <p:cNvSpPr/>
          <p:nvPr/>
        </p:nvSpPr>
        <p:spPr>
          <a:xfrm>
            <a:off x="376517" y="0"/>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395" name="Google Shape;395;p44"/>
          <p:cNvPicPr preferRelativeResize="0"/>
          <p:nvPr/>
        </p:nvPicPr>
        <p:blipFill rotWithShape="1">
          <a:blip r:embed="rId3">
            <a:alphaModFix/>
          </a:blip>
          <a:srcRect b="0" l="0" r="0" t="0"/>
          <a:stretch/>
        </p:blipFill>
        <p:spPr>
          <a:xfrm>
            <a:off x="511212" y="312326"/>
            <a:ext cx="1015254" cy="652781"/>
          </a:xfrm>
          <a:prstGeom prst="rect">
            <a:avLst/>
          </a:prstGeom>
          <a:noFill/>
          <a:ln>
            <a:noFill/>
          </a:ln>
        </p:spPr>
      </p:pic>
      <p:sp>
        <p:nvSpPr>
          <p:cNvPr id="396" name="Google Shape;396;p44"/>
          <p:cNvSpPr/>
          <p:nvPr/>
        </p:nvSpPr>
        <p:spPr>
          <a:xfrm>
            <a:off x="1915173" y="1052312"/>
            <a:ext cx="675900" cy="47400"/>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397" name="Google Shape;397;p44"/>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pic>
        <p:nvPicPr>
          <p:cNvPr descr="VTU_logo" id="398" name="Google Shape;398;p44"/>
          <p:cNvPicPr preferRelativeResize="0"/>
          <p:nvPr/>
        </p:nvPicPr>
        <p:blipFill rotWithShape="1">
          <a:blip r:embed="rId4">
            <a:alphaModFix/>
          </a:blip>
          <a:srcRect b="0" l="0" r="0" t="0"/>
          <a:stretch/>
        </p:blipFill>
        <p:spPr>
          <a:xfrm>
            <a:off x="8014064" y="58332"/>
            <a:ext cx="917966" cy="1126682"/>
          </a:xfrm>
          <a:prstGeom prst="rect">
            <a:avLst/>
          </a:prstGeom>
          <a:noFill/>
          <a:ln>
            <a:noFill/>
          </a:ln>
        </p:spPr>
      </p:pic>
      <p:pic>
        <p:nvPicPr>
          <p:cNvPr id="399" name="Google Shape;399;p44" title="Add Round Key.png"/>
          <p:cNvPicPr preferRelativeResize="0"/>
          <p:nvPr/>
        </p:nvPicPr>
        <p:blipFill>
          <a:blip r:embed="rId5">
            <a:alphaModFix/>
          </a:blip>
          <a:stretch>
            <a:fillRect/>
          </a:stretch>
        </p:blipFill>
        <p:spPr>
          <a:xfrm>
            <a:off x="4426424" y="1052300"/>
            <a:ext cx="4717574" cy="2653649"/>
          </a:xfrm>
          <a:prstGeom prst="rect">
            <a:avLst/>
          </a:prstGeom>
          <a:noFill/>
          <a:ln>
            <a:noFill/>
          </a:ln>
        </p:spPr>
      </p:pic>
      <p:sp>
        <p:nvSpPr>
          <p:cNvPr id="400" name="Google Shape;400;p44"/>
          <p:cNvSpPr txBox="1"/>
          <p:nvPr>
            <p:ph type="ctrTitle"/>
          </p:nvPr>
        </p:nvSpPr>
        <p:spPr>
          <a:xfrm>
            <a:off x="1847954" y="524225"/>
            <a:ext cx="58308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3000"/>
              <a:buFont typeface="Calibri"/>
              <a:buNone/>
            </a:pPr>
            <a:r>
              <a:rPr b="1" lang="en-GB" sz="2700">
                <a:solidFill>
                  <a:srgbClr val="000A30"/>
                </a:solidFill>
                <a:latin typeface="Times New Roman"/>
                <a:ea typeface="Times New Roman"/>
                <a:cs typeface="Times New Roman"/>
                <a:sym typeface="Times New Roman"/>
              </a:rPr>
              <a:t>ADD ROUND KEY</a:t>
            </a:r>
            <a:endParaRPr b="1" sz="2700">
              <a:solidFill>
                <a:srgbClr val="000A30"/>
              </a:solidFill>
              <a:latin typeface="Times New Roman"/>
              <a:ea typeface="Times New Roman"/>
              <a:cs typeface="Times New Roman"/>
              <a:sym typeface="Times New Roman"/>
            </a:endParaRPr>
          </a:p>
        </p:txBody>
      </p:sp>
      <p:sp>
        <p:nvSpPr>
          <p:cNvPr id="401" name="Google Shape;401;p44"/>
          <p:cNvSpPr txBox="1"/>
          <p:nvPr/>
        </p:nvSpPr>
        <p:spPr>
          <a:xfrm>
            <a:off x="511200" y="1646525"/>
            <a:ext cx="3510000" cy="2226600"/>
          </a:xfrm>
          <a:prstGeom prst="rect">
            <a:avLst/>
          </a:prstGeom>
          <a:noFill/>
          <a:ln>
            <a:noFill/>
          </a:ln>
        </p:spPr>
        <p:txBody>
          <a:bodyPr anchorCtr="0" anchor="t" bIns="91425" lIns="91425" spcFirstLastPara="1" rIns="121050" wrap="square" tIns="91425">
            <a:spAutoFit/>
          </a:bodyPr>
          <a:lstStyle/>
          <a:p>
            <a:pPr indent="-159849" lvl="0" marL="269999" rtl="0" algn="just">
              <a:lnSpc>
                <a:spcPct val="150000"/>
              </a:lnSpc>
              <a:spcBef>
                <a:spcPts val="1200"/>
              </a:spcBef>
              <a:spcAft>
                <a:spcPts val="0"/>
              </a:spcAft>
              <a:buClr>
                <a:schemeClr val="dk1"/>
              </a:buClr>
              <a:buSzPts val="1100"/>
              <a:buChar char="●"/>
            </a:pPr>
            <a:r>
              <a:rPr lang="en-GB" sz="1100">
                <a:solidFill>
                  <a:schemeClr val="dk1"/>
                </a:solidFill>
                <a:latin typeface="Times New Roman"/>
                <a:ea typeface="Times New Roman"/>
                <a:cs typeface="Times New Roman"/>
                <a:sym typeface="Times New Roman"/>
              </a:rPr>
              <a:t>AddRoundKey combines the current state matrix with the </a:t>
            </a:r>
            <a:r>
              <a:rPr b="1" lang="en-GB" sz="1100">
                <a:solidFill>
                  <a:schemeClr val="dk1"/>
                </a:solidFill>
                <a:latin typeface="Times New Roman"/>
                <a:ea typeface="Times New Roman"/>
                <a:cs typeface="Times New Roman"/>
                <a:sym typeface="Times New Roman"/>
              </a:rPr>
              <a:t>round key</a:t>
            </a:r>
            <a:r>
              <a:rPr lang="en-GB" sz="1100">
                <a:solidFill>
                  <a:schemeClr val="dk1"/>
                </a:solidFill>
                <a:latin typeface="Times New Roman"/>
                <a:ea typeface="Times New Roman"/>
                <a:cs typeface="Times New Roman"/>
                <a:sym typeface="Times New Roman"/>
              </a:rPr>
              <a:t> using a </a:t>
            </a:r>
            <a:r>
              <a:rPr b="1" lang="en-GB" sz="1100">
                <a:solidFill>
                  <a:schemeClr val="dk1"/>
                </a:solidFill>
                <a:latin typeface="Times New Roman"/>
                <a:ea typeface="Times New Roman"/>
                <a:cs typeface="Times New Roman"/>
                <a:sym typeface="Times New Roman"/>
              </a:rPr>
              <a:t>bitwise XOR operation</a:t>
            </a:r>
            <a:r>
              <a:rPr lang="en-GB" sz="1100">
                <a:solidFill>
                  <a:schemeClr val="dk1"/>
                </a:solidFill>
                <a:latin typeface="Times New Roman"/>
                <a:ea typeface="Times New Roman"/>
                <a:cs typeface="Times New Roman"/>
                <a:sym typeface="Times New Roman"/>
              </a:rPr>
              <a:t>, directly injecting key material into the data.</a:t>
            </a:r>
            <a:endParaRPr sz="1100">
              <a:solidFill>
                <a:schemeClr val="dk1"/>
              </a:solidFill>
              <a:latin typeface="Times New Roman"/>
              <a:ea typeface="Times New Roman"/>
              <a:cs typeface="Times New Roman"/>
              <a:sym typeface="Times New Roman"/>
            </a:endParaRPr>
          </a:p>
          <a:p>
            <a:pPr indent="-159849" lvl="0" marL="269999" rtl="0" algn="just">
              <a:lnSpc>
                <a:spcPct val="150000"/>
              </a:lnSpc>
              <a:spcBef>
                <a:spcPts val="0"/>
              </a:spcBef>
              <a:spcAft>
                <a:spcPts val="0"/>
              </a:spcAft>
              <a:buClr>
                <a:schemeClr val="dk1"/>
              </a:buClr>
              <a:buSzPts val="1100"/>
              <a:buChar char="●"/>
            </a:pPr>
            <a:r>
              <a:rPr lang="en-GB" sz="1100">
                <a:solidFill>
                  <a:schemeClr val="dk1"/>
                </a:solidFill>
                <a:latin typeface="Times New Roman"/>
                <a:ea typeface="Times New Roman"/>
                <a:cs typeface="Times New Roman"/>
                <a:sym typeface="Times New Roman"/>
              </a:rPr>
              <a:t>Since XOR is reversible, this step ensures </a:t>
            </a:r>
            <a:r>
              <a:rPr b="1" lang="en-GB" sz="1100">
                <a:solidFill>
                  <a:schemeClr val="dk1"/>
                </a:solidFill>
                <a:latin typeface="Times New Roman"/>
                <a:ea typeface="Times New Roman"/>
                <a:cs typeface="Times New Roman"/>
                <a:sym typeface="Times New Roman"/>
              </a:rPr>
              <a:t>secure key mixing</a:t>
            </a:r>
            <a:r>
              <a:rPr lang="en-GB" sz="1100">
                <a:solidFill>
                  <a:schemeClr val="dk1"/>
                </a:solidFill>
                <a:latin typeface="Times New Roman"/>
                <a:ea typeface="Times New Roman"/>
                <a:cs typeface="Times New Roman"/>
                <a:sym typeface="Times New Roman"/>
              </a:rPr>
              <a:t> while allowing correct decryption using the same round key.</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5"/>
          <p:cNvSpPr txBox="1"/>
          <p:nvPr>
            <p:ph type="ctrTitle"/>
          </p:nvPr>
        </p:nvSpPr>
        <p:spPr>
          <a:xfrm>
            <a:off x="1847954" y="524225"/>
            <a:ext cx="58308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3000"/>
              <a:buFont typeface="Calibri"/>
              <a:buNone/>
            </a:pPr>
            <a:r>
              <a:rPr b="1" lang="en-GB" sz="2700">
                <a:solidFill>
                  <a:srgbClr val="000A30"/>
                </a:solidFill>
                <a:latin typeface="Times New Roman"/>
                <a:ea typeface="Times New Roman"/>
                <a:cs typeface="Times New Roman"/>
                <a:sym typeface="Times New Roman"/>
              </a:rPr>
              <a:t>PYTHON IMPLEMENTATION</a:t>
            </a:r>
            <a:endParaRPr b="1" sz="2700">
              <a:solidFill>
                <a:srgbClr val="000A30"/>
              </a:solidFill>
              <a:latin typeface="Times New Roman"/>
              <a:ea typeface="Times New Roman"/>
              <a:cs typeface="Times New Roman"/>
              <a:sym typeface="Times New Roman"/>
            </a:endParaRPr>
          </a:p>
        </p:txBody>
      </p:sp>
      <p:sp>
        <p:nvSpPr>
          <p:cNvPr id="407" name="Google Shape;407;p45"/>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08" name="Google Shape;408;p45"/>
          <p:cNvSpPr txBox="1"/>
          <p:nvPr/>
        </p:nvSpPr>
        <p:spPr>
          <a:xfrm>
            <a:off x="6859282" y="4773205"/>
            <a:ext cx="18825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409" name="Google Shape;409;p45"/>
          <p:cNvSpPr/>
          <p:nvPr/>
        </p:nvSpPr>
        <p:spPr>
          <a:xfrm>
            <a:off x="376517" y="0"/>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410" name="Google Shape;410;p45"/>
          <p:cNvPicPr preferRelativeResize="0"/>
          <p:nvPr/>
        </p:nvPicPr>
        <p:blipFill rotWithShape="1">
          <a:blip r:embed="rId3">
            <a:alphaModFix/>
          </a:blip>
          <a:srcRect b="0" l="0" r="0" t="0"/>
          <a:stretch/>
        </p:blipFill>
        <p:spPr>
          <a:xfrm>
            <a:off x="511212" y="312326"/>
            <a:ext cx="1015254" cy="652781"/>
          </a:xfrm>
          <a:prstGeom prst="rect">
            <a:avLst/>
          </a:prstGeom>
          <a:noFill/>
          <a:ln>
            <a:noFill/>
          </a:ln>
        </p:spPr>
      </p:pic>
      <p:sp>
        <p:nvSpPr>
          <p:cNvPr id="411" name="Google Shape;411;p45"/>
          <p:cNvSpPr/>
          <p:nvPr/>
        </p:nvSpPr>
        <p:spPr>
          <a:xfrm>
            <a:off x="1915173" y="1052312"/>
            <a:ext cx="675900" cy="47400"/>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12" name="Google Shape;412;p45"/>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sp>
        <p:nvSpPr>
          <p:cNvPr id="413" name="Google Shape;413;p45"/>
          <p:cNvSpPr txBox="1"/>
          <p:nvPr/>
        </p:nvSpPr>
        <p:spPr>
          <a:xfrm>
            <a:off x="277675" y="1277400"/>
            <a:ext cx="8555400" cy="33384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normAutofit lnSpcReduction="10000"/>
          </a:bodyPr>
          <a:lstStyle/>
          <a:p>
            <a:pPr indent="0" lvl="0" marL="0" rtl="0" algn="l">
              <a:lnSpc>
                <a:spcPct val="115000"/>
              </a:lnSpc>
              <a:spcBef>
                <a:spcPts val="1800"/>
              </a:spcBef>
              <a:spcAft>
                <a:spcPts val="0"/>
              </a:spcAft>
              <a:buClr>
                <a:schemeClr val="dk1"/>
              </a:buClr>
              <a:buSzPts val="1100"/>
              <a:buFont typeface="Arial"/>
              <a:buNone/>
            </a:pPr>
            <a:r>
              <a:rPr b="1" lang="en-GB" sz="1700">
                <a:solidFill>
                  <a:schemeClr val="dk1"/>
                </a:solidFill>
                <a:latin typeface="Times New Roman"/>
                <a:ea typeface="Times New Roman"/>
                <a:cs typeface="Times New Roman"/>
                <a:sym typeface="Times New Roman"/>
              </a:rPr>
              <a:t>Hardware setup</a:t>
            </a:r>
            <a:endParaRPr b="1" sz="1700">
              <a:solidFill>
                <a:schemeClr val="dk1"/>
              </a:solidFill>
              <a:latin typeface="Times New Roman"/>
              <a:ea typeface="Times New Roman"/>
              <a:cs typeface="Times New Roman"/>
              <a:sym typeface="Times New Roman"/>
            </a:endParaRPr>
          </a:p>
          <a:p>
            <a:pPr indent="-298450" lvl="0" marL="457200" rtl="0" algn="l">
              <a:lnSpc>
                <a:spcPct val="115000"/>
              </a:lnSpc>
              <a:spcBef>
                <a:spcPts val="400"/>
              </a:spcBef>
              <a:spcAft>
                <a:spcPts val="0"/>
              </a:spcAft>
              <a:buClr>
                <a:schemeClr val="dk1"/>
              </a:buClr>
              <a:buSzPts val="1100"/>
              <a:buChar char="●"/>
            </a:pPr>
            <a:r>
              <a:rPr lang="en-GB" sz="1100">
                <a:solidFill>
                  <a:schemeClr val="dk1"/>
                </a:solidFill>
                <a:latin typeface="Times New Roman"/>
                <a:ea typeface="Times New Roman"/>
                <a:cs typeface="Times New Roman"/>
                <a:sym typeface="Times New Roman"/>
              </a:rPr>
              <a:t>Loads the FPGA design </a:t>
            </a:r>
            <a:r>
              <a:rPr lang="en-GB" sz="950">
                <a:solidFill>
                  <a:schemeClr val="dk1"/>
                </a:solidFill>
                <a:latin typeface="Times New Roman"/>
                <a:ea typeface="Times New Roman"/>
                <a:cs typeface="Times New Roman"/>
                <a:sym typeface="Times New Roman"/>
              </a:rPr>
              <a:t>AES_1.bit</a:t>
            </a:r>
            <a:r>
              <a:rPr lang="en-GB" sz="1100">
                <a:solidFill>
                  <a:schemeClr val="dk1"/>
                </a:solidFill>
                <a:latin typeface="Times New Roman"/>
                <a:ea typeface="Times New Roman"/>
                <a:cs typeface="Times New Roman"/>
                <a:sym typeface="Times New Roman"/>
              </a:rPr>
              <a:t> using </a:t>
            </a:r>
            <a:r>
              <a:rPr lang="en-GB" sz="950">
                <a:solidFill>
                  <a:schemeClr val="dk1"/>
                </a:solidFill>
                <a:latin typeface="Times New Roman"/>
                <a:ea typeface="Times New Roman"/>
                <a:cs typeface="Times New Roman"/>
                <a:sym typeface="Times New Roman"/>
              </a:rPr>
              <a:t>Overlay</a:t>
            </a:r>
            <a:r>
              <a:rPr lang="en-GB" sz="1100">
                <a:solidFill>
                  <a:schemeClr val="dk1"/>
                </a:solidFill>
                <a:latin typeface="Times New Roman"/>
                <a:ea typeface="Times New Roman"/>
                <a:cs typeface="Times New Roman"/>
                <a:sym typeface="Times New Roman"/>
              </a:rPr>
              <a:t>, grabs handles to the AES IP (</a:t>
            </a:r>
            <a:r>
              <a:rPr lang="en-GB" sz="950">
                <a:solidFill>
                  <a:schemeClr val="dk1"/>
                </a:solidFill>
                <a:latin typeface="Times New Roman"/>
                <a:ea typeface="Times New Roman"/>
                <a:cs typeface="Times New Roman"/>
                <a:sym typeface="Times New Roman"/>
              </a:rPr>
              <a:t>AES_En_De_0</a:t>
            </a:r>
            <a:r>
              <a:rPr lang="en-GB" sz="1100">
                <a:solidFill>
                  <a:schemeClr val="dk1"/>
                </a:solidFill>
                <a:latin typeface="Times New Roman"/>
                <a:ea typeface="Times New Roman"/>
                <a:cs typeface="Times New Roman"/>
                <a:sym typeface="Times New Roman"/>
              </a:rPr>
              <a:t>) and the AXI DMA (</a:t>
            </a:r>
            <a:r>
              <a:rPr lang="en-GB" sz="950">
                <a:solidFill>
                  <a:schemeClr val="dk1"/>
                </a:solidFill>
                <a:latin typeface="Times New Roman"/>
                <a:ea typeface="Times New Roman"/>
                <a:cs typeface="Times New Roman"/>
                <a:sym typeface="Times New Roman"/>
              </a:rPr>
              <a:t>axi_dma_0</a:t>
            </a:r>
            <a:r>
              <a:rPr lang="en-GB" sz="1100">
                <a:solidFill>
                  <a:schemeClr val="dk1"/>
                </a:solidFill>
                <a:latin typeface="Times New Roman"/>
                <a:ea typeface="Times New Roman"/>
                <a:cs typeface="Times New Roman"/>
                <a:sym typeface="Times New Roman"/>
              </a:rPr>
              <a:t>), and creates an </a:t>
            </a:r>
            <a:r>
              <a:rPr lang="en-GB" sz="950">
                <a:solidFill>
                  <a:schemeClr val="dk1"/>
                </a:solidFill>
                <a:latin typeface="Times New Roman"/>
                <a:ea typeface="Times New Roman"/>
                <a:cs typeface="Times New Roman"/>
                <a:sym typeface="Times New Roman"/>
              </a:rPr>
              <a:t>MMIO</a:t>
            </a:r>
            <a:r>
              <a:rPr lang="en-GB" sz="1100">
                <a:solidFill>
                  <a:schemeClr val="dk1"/>
                </a:solidFill>
                <a:latin typeface="Times New Roman"/>
                <a:ea typeface="Times New Roman"/>
                <a:cs typeface="Times New Roman"/>
                <a:sym typeface="Times New Roman"/>
              </a:rPr>
              <a:t> object to write control/config registers of the AES IP.​</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GB" sz="1100">
                <a:solidFill>
                  <a:schemeClr val="dk1"/>
                </a:solidFill>
                <a:latin typeface="Times New Roman"/>
                <a:ea typeface="Times New Roman"/>
                <a:cs typeface="Times New Roman"/>
                <a:sym typeface="Times New Roman"/>
              </a:rPr>
              <a:t>Keeps the overlay/IP initialization at global scope so it happens once, not per encryption call (reduces overhead).​</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b="1" lang="en-GB" sz="1700">
                <a:solidFill>
                  <a:schemeClr val="dk1"/>
                </a:solidFill>
                <a:latin typeface="Times New Roman"/>
                <a:ea typeface="Times New Roman"/>
                <a:cs typeface="Times New Roman"/>
                <a:sym typeface="Times New Roman"/>
              </a:rPr>
              <a:t>Buffer reuse (performance)</a:t>
            </a:r>
            <a:endParaRPr b="1" sz="1700">
              <a:solidFill>
                <a:schemeClr val="dk1"/>
              </a:solidFill>
              <a:latin typeface="Times New Roman"/>
              <a:ea typeface="Times New Roman"/>
              <a:cs typeface="Times New Roman"/>
              <a:sym typeface="Times New Roman"/>
            </a:endParaRPr>
          </a:p>
          <a:p>
            <a:pPr indent="-298450" lvl="0" marL="457200" rtl="0" algn="l">
              <a:lnSpc>
                <a:spcPct val="115000"/>
              </a:lnSpc>
              <a:spcBef>
                <a:spcPts val="400"/>
              </a:spcBef>
              <a:spcAft>
                <a:spcPts val="0"/>
              </a:spcAft>
              <a:buClr>
                <a:schemeClr val="dk1"/>
              </a:buClr>
              <a:buSzPts val="1100"/>
              <a:buChar char="●"/>
            </a:pPr>
            <a:r>
              <a:rPr lang="en-GB" sz="1100">
                <a:solidFill>
                  <a:schemeClr val="dk1"/>
                </a:solidFill>
                <a:latin typeface="Times New Roman"/>
                <a:ea typeface="Times New Roman"/>
                <a:cs typeface="Times New Roman"/>
                <a:sym typeface="Times New Roman"/>
              </a:rPr>
              <a:t>Uses </a:t>
            </a:r>
            <a:r>
              <a:rPr lang="en-GB" sz="950">
                <a:solidFill>
                  <a:schemeClr val="dk1"/>
                </a:solidFill>
                <a:latin typeface="Times New Roman"/>
                <a:ea typeface="Times New Roman"/>
                <a:cs typeface="Times New Roman"/>
                <a:sym typeface="Times New Roman"/>
              </a:rPr>
              <a:t>get_buffers(size)</a:t>
            </a:r>
            <a:r>
              <a:rPr lang="en-GB" sz="1100">
                <a:solidFill>
                  <a:schemeClr val="dk1"/>
                </a:solidFill>
                <a:latin typeface="Times New Roman"/>
                <a:ea typeface="Times New Roman"/>
                <a:cs typeface="Times New Roman"/>
                <a:sym typeface="Times New Roman"/>
              </a:rPr>
              <a:t> to allocate contiguous DMA buffers (PYNQ </a:t>
            </a:r>
            <a:r>
              <a:rPr lang="en-GB" sz="950">
                <a:solidFill>
                  <a:schemeClr val="dk1"/>
                </a:solidFill>
                <a:latin typeface="Times New Roman"/>
                <a:ea typeface="Times New Roman"/>
                <a:cs typeface="Times New Roman"/>
                <a:sym typeface="Times New Roman"/>
              </a:rPr>
              <a:t>allocate</a:t>
            </a:r>
            <a:r>
              <a:rPr lang="en-GB" sz="1100">
                <a:solidFill>
                  <a:schemeClr val="dk1"/>
                </a:solidFill>
                <a:latin typeface="Times New Roman"/>
                <a:ea typeface="Times New Roman"/>
                <a:cs typeface="Times New Roman"/>
                <a:sym typeface="Times New Roman"/>
              </a:rPr>
              <a:t>) for a given chunk size and caches them in dictionaries, so repeated calls reuse the same buffers instead of reallocating.​</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GB" sz="950">
                <a:solidFill>
                  <a:schemeClr val="dk1"/>
                </a:solidFill>
                <a:latin typeface="Times New Roman"/>
                <a:ea typeface="Times New Roman"/>
                <a:cs typeface="Times New Roman"/>
                <a:sym typeface="Times New Roman"/>
              </a:rPr>
              <a:t>MAX_BUFFER_SIZE</a:t>
            </a:r>
            <a:r>
              <a:rPr lang="en-GB" sz="1200">
                <a:solidFill>
                  <a:schemeClr val="dk1"/>
                </a:solidFill>
                <a:latin typeface="Times New Roman"/>
                <a:ea typeface="Times New Roman"/>
                <a:cs typeface="Times New Roman"/>
                <a:sym typeface="Times New Roman"/>
              </a:rPr>
              <a:t> is set to 8 MB, so big images are processed in 8 MB chunks to fit buffer/transfer limits and improve stability.</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None/>
            </a:pPr>
            <a:r>
              <a:rPr b="1" lang="en-GB" sz="1700">
                <a:solidFill>
                  <a:schemeClr val="dk1"/>
                </a:solidFill>
                <a:latin typeface="Times New Roman"/>
                <a:ea typeface="Times New Roman"/>
                <a:cs typeface="Times New Roman"/>
                <a:sym typeface="Times New Roman"/>
              </a:rPr>
              <a:t>AES call path (DMA)</a:t>
            </a:r>
            <a:endParaRPr b="1" sz="1700">
              <a:solidFill>
                <a:schemeClr val="dk1"/>
              </a:solidFill>
              <a:latin typeface="Times New Roman"/>
              <a:ea typeface="Times New Roman"/>
              <a:cs typeface="Times New Roman"/>
              <a:sym typeface="Times New Roman"/>
            </a:endParaRPr>
          </a:p>
          <a:p>
            <a:pPr indent="-304800" lvl="0" marL="457200" rtl="0" algn="l">
              <a:lnSpc>
                <a:spcPct val="115000"/>
              </a:lnSpc>
              <a:spcBef>
                <a:spcPts val="400"/>
              </a:spcBef>
              <a:spcAft>
                <a:spcPts val="0"/>
              </a:spcAft>
              <a:buClr>
                <a:schemeClr val="dk1"/>
              </a:buClr>
              <a:buSzPts val="1200"/>
              <a:buFont typeface="Roboto"/>
              <a:buChar char="●"/>
            </a:pPr>
            <a:r>
              <a:rPr lang="en-GB" sz="1050">
                <a:solidFill>
                  <a:schemeClr val="dk1"/>
                </a:solidFill>
                <a:latin typeface="Times New Roman"/>
                <a:ea typeface="Times New Roman"/>
                <a:cs typeface="Times New Roman"/>
                <a:sym typeface="Times New Roman"/>
              </a:rPr>
              <a:t>call_AES_optimized(...)</a:t>
            </a:r>
            <a:r>
              <a:rPr lang="en-GB" sz="1200">
                <a:solidFill>
                  <a:schemeClr val="dk1"/>
                </a:solidFill>
                <a:latin typeface="Times New Roman"/>
                <a:ea typeface="Times New Roman"/>
                <a:cs typeface="Times New Roman"/>
                <a:sym typeface="Times New Roman"/>
              </a:rPr>
              <a:t> copies input bytes into the pre-allocated input DMA buffer, writes the key, data length, and encrypt/decrypt mode into AES IP registers via MMIO, then uses DMA to receive into </a:t>
            </a:r>
            <a:r>
              <a:rPr lang="en-GB" sz="1050">
                <a:solidFill>
                  <a:schemeClr val="dk1"/>
                </a:solidFill>
                <a:latin typeface="Times New Roman"/>
                <a:ea typeface="Times New Roman"/>
                <a:cs typeface="Times New Roman"/>
                <a:sym typeface="Times New Roman"/>
              </a:rPr>
              <a:t>out_buffer</a:t>
            </a:r>
            <a:r>
              <a:rPr lang="en-GB" sz="1200">
                <a:solidFill>
                  <a:schemeClr val="dk1"/>
                </a:solidFill>
                <a:latin typeface="Times New Roman"/>
                <a:ea typeface="Times New Roman"/>
                <a:cs typeface="Times New Roman"/>
                <a:sym typeface="Times New Roman"/>
              </a:rPr>
              <a:t> and send </a:t>
            </a:r>
            <a:r>
              <a:rPr lang="en-GB" sz="1050">
                <a:solidFill>
                  <a:schemeClr val="dk1"/>
                </a:solidFill>
                <a:latin typeface="Times New Roman"/>
                <a:ea typeface="Times New Roman"/>
                <a:cs typeface="Times New Roman"/>
                <a:sym typeface="Times New Roman"/>
              </a:rPr>
              <a:t>in_buffer</a:t>
            </a:r>
            <a:r>
              <a:rPr lang="en-GB" sz="1200">
                <a:solidFill>
                  <a:schemeClr val="dk1"/>
                </a:solidFill>
                <a:latin typeface="Times New Roman"/>
                <a:ea typeface="Times New Roman"/>
                <a:cs typeface="Times New Roman"/>
                <a:sym typeface="Times New Roman"/>
              </a:rPr>
              <a:t> (receive channel started first).​</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GB" sz="1200">
                <a:solidFill>
                  <a:schemeClr val="dk1"/>
                </a:solidFill>
                <a:latin typeface="Times New Roman"/>
                <a:ea typeface="Times New Roman"/>
                <a:cs typeface="Times New Roman"/>
                <a:sym typeface="Times New Roman"/>
              </a:rPr>
              <a:t>It starts the hardware by writing to the control register, waits for both DMA channels to finish, and returns the resulting ciphertext/plaintext bytes.​</a:t>
            </a:r>
            <a:endParaRPr b="1" sz="1700">
              <a:solidFill>
                <a:schemeClr val="dk1"/>
              </a:solidFill>
              <a:latin typeface="Times New Roman"/>
              <a:ea typeface="Times New Roman"/>
              <a:cs typeface="Times New Roman"/>
              <a:sym typeface="Times New Roman"/>
            </a:endParaRPr>
          </a:p>
        </p:txBody>
      </p:sp>
      <p:pic>
        <p:nvPicPr>
          <p:cNvPr descr="VTU_logo" id="414" name="Google Shape;414;p45"/>
          <p:cNvPicPr preferRelativeResize="0"/>
          <p:nvPr/>
        </p:nvPicPr>
        <p:blipFill rotWithShape="1">
          <a:blip r:embed="rId4">
            <a:alphaModFix/>
          </a:blip>
          <a:srcRect b="0" l="0" r="0" t="0"/>
          <a:stretch/>
        </p:blipFill>
        <p:spPr>
          <a:xfrm>
            <a:off x="8014064" y="58332"/>
            <a:ext cx="917966" cy="112668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6"/>
          <p:cNvSpPr txBox="1"/>
          <p:nvPr>
            <p:ph type="ctrTitle"/>
          </p:nvPr>
        </p:nvSpPr>
        <p:spPr>
          <a:xfrm>
            <a:off x="1847954" y="524225"/>
            <a:ext cx="58308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3000"/>
              <a:buFont typeface="Calibri"/>
              <a:buNone/>
            </a:pPr>
            <a:r>
              <a:rPr b="1" lang="en-GB" sz="2700">
                <a:solidFill>
                  <a:srgbClr val="000A30"/>
                </a:solidFill>
                <a:latin typeface="Times New Roman"/>
                <a:ea typeface="Times New Roman"/>
                <a:cs typeface="Times New Roman"/>
                <a:sym typeface="Times New Roman"/>
              </a:rPr>
              <a:t>PYTHON IMPLEMENTATION</a:t>
            </a:r>
            <a:endParaRPr b="1" sz="2700">
              <a:solidFill>
                <a:srgbClr val="000A30"/>
              </a:solidFill>
              <a:latin typeface="Times New Roman"/>
              <a:ea typeface="Times New Roman"/>
              <a:cs typeface="Times New Roman"/>
              <a:sym typeface="Times New Roman"/>
            </a:endParaRPr>
          </a:p>
        </p:txBody>
      </p:sp>
      <p:sp>
        <p:nvSpPr>
          <p:cNvPr id="420" name="Google Shape;420;p46"/>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21" name="Google Shape;421;p46"/>
          <p:cNvSpPr txBox="1"/>
          <p:nvPr/>
        </p:nvSpPr>
        <p:spPr>
          <a:xfrm>
            <a:off x="6859282" y="4773205"/>
            <a:ext cx="18825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422" name="Google Shape;422;p46"/>
          <p:cNvSpPr/>
          <p:nvPr/>
        </p:nvSpPr>
        <p:spPr>
          <a:xfrm>
            <a:off x="376517" y="0"/>
            <a:ext cx="1284600" cy="12774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423" name="Google Shape;423;p46"/>
          <p:cNvPicPr preferRelativeResize="0"/>
          <p:nvPr/>
        </p:nvPicPr>
        <p:blipFill rotWithShape="1">
          <a:blip r:embed="rId3">
            <a:alphaModFix/>
          </a:blip>
          <a:srcRect b="0" l="0" r="0" t="0"/>
          <a:stretch/>
        </p:blipFill>
        <p:spPr>
          <a:xfrm>
            <a:off x="511212" y="312326"/>
            <a:ext cx="1015254" cy="652781"/>
          </a:xfrm>
          <a:prstGeom prst="rect">
            <a:avLst/>
          </a:prstGeom>
          <a:noFill/>
          <a:ln>
            <a:noFill/>
          </a:ln>
        </p:spPr>
      </p:pic>
      <p:sp>
        <p:nvSpPr>
          <p:cNvPr id="424" name="Google Shape;424;p46"/>
          <p:cNvSpPr/>
          <p:nvPr/>
        </p:nvSpPr>
        <p:spPr>
          <a:xfrm>
            <a:off x="1915173" y="1052312"/>
            <a:ext cx="675900" cy="47400"/>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25" name="Google Shape;425;p46"/>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sp>
        <p:nvSpPr>
          <p:cNvPr id="426" name="Google Shape;426;p46"/>
          <p:cNvSpPr txBox="1"/>
          <p:nvPr/>
        </p:nvSpPr>
        <p:spPr>
          <a:xfrm>
            <a:off x="277675" y="1450300"/>
            <a:ext cx="8555400" cy="3264600"/>
          </a:xfrm>
          <a:prstGeom prst="rect">
            <a:avLst/>
          </a:prstGeom>
          <a:noFill/>
          <a:ln>
            <a:noFill/>
          </a:ln>
        </p:spPr>
        <p:txBody>
          <a:bodyPr anchorCtr="0" anchor="t" bIns="34275" lIns="68575" spcFirstLastPara="1" rIns="68575" wrap="square" tIns="34275">
            <a:normAutofit/>
          </a:bodyPr>
          <a:lstStyle/>
          <a:p>
            <a:pPr indent="0" lvl="0" marL="0" rtl="0" algn="l">
              <a:lnSpc>
                <a:spcPct val="115000"/>
              </a:lnSpc>
              <a:spcBef>
                <a:spcPts val="1800"/>
              </a:spcBef>
              <a:spcAft>
                <a:spcPts val="0"/>
              </a:spcAft>
              <a:buNone/>
            </a:pPr>
            <a:r>
              <a:rPr b="1" lang="en-GB" sz="1700">
                <a:solidFill>
                  <a:schemeClr val="dk1"/>
                </a:solidFill>
                <a:latin typeface="Roboto"/>
                <a:ea typeface="Roboto"/>
                <a:cs typeface="Roboto"/>
                <a:sym typeface="Roboto"/>
              </a:rPr>
              <a:t>Padding + image wrapper</a:t>
            </a:r>
            <a:endParaRPr b="1" sz="1700">
              <a:solidFill>
                <a:schemeClr val="dk1"/>
              </a:solidFill>
              <a:latin typeface="Roboto"/>
              <a:ea typeface="Roboto"/>
              <a:cs typeface="Roboto"/>
              <a:sym typeface="Roboto"/>
            </a:endParaRPr>
          </a:p>
          <a:p>
            <a:pPr indent="-304800" lvl="0" marL="457200" rtl="0" algn="l">
              <a:lnSpc>
                <a:spcPct val="115000"/>
              </a:lnSpc>
              <a:spcBef>
                <a:spcPts val="400"/>
              </a:spcBef>
              <a:spcAft>
                <a:spcPts val="0"/>
              </a:spcAft>
              <a:buClr>
                <a:schemeClr val="dk1"/>
              </a:buClr>
              <a:buSzPts val="1200"/>
              <a:buFont typeface="Roboto"/>
              <a:buChar char="●"/>
            </a:pPr>
            <a:r>
              <a:rPr b="1" lang="en-GB" sz="1050">
                <a:solidFill>
                  <a:schemeClr val="dk1"/>
                </a:solidFill>
                <a:latin typeface="Courier New"/>
                <a:ea typeface="Courier New"/>
                <a:cs typeface="Courier New"/>
                <a:sym typeface="Courier New"/>
              </a:rPr>
              <a:t>expand_to_128b_fast(...)</a:t>
            </a:r>
            <a:r>
              <a:rPr lang="en-GB" sz="1200">
                <a:solidFill>
                  <a:schemeClr val="dk1"/>
                </a:solidFill>
                <a:latin typeface="Roboto"/>
                <a:ea typeface="Roboto"/>
                <a:cs typeface="Roboto"/>
                <a:sym typeface="Roboto"/>
              </a:rPr>
              <a:t> pads any data to a multiple of 16 bytes (AES block size) by appending zeros.​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b="1" lang="en-GB" sz="1050">
                <a:solidFill>
                  <a:schemeClr val="dk1"/>
                </a:solidFill>
                <a:latin typeface="Courier New"/>
                <a:ea typeface="Courier New"/>
                <a:cs typeface="Courier New"/>
                <a:sym typeface="Courier New"/>
              </a:rPr>
              <a:t>image_AES_optimized(...)</a:t>
            </a:r>
            <a:r>
              <a:rPr lang="en-GB" sz="1200">
                <a:solidFill>
                  <a:schemeClr val="dk1"/>
                </a:solidFill>
                <a:latin typeface="Roboto"/>
                <a:ea typeface="Roboto"/>
                <a:cs typeface="Roboto"/>
                <a:sym typeface="Roboto"/>
              </a:rPr>
              <a:t> converts the PIL image to raw bytes, pads them, processes them chunk-by-chunk through </a:t>
            </a:r>
            <a:r>
              <a:rPr b="1" lang="en-GB" sz="1050">
                <a:solidFill>
                  <a:schemeClr val="dk1"/>
                </a:solidFill>
                <a:latin typeface="Courier New"/>
                <a:ea typeface="Courier New"/>
                <a:cs typeface="Courier New"/>
                <a:sym typeface="Courier New"/>
              </a:rPr>
              <a:t>call_AES_optimized</a:t>
            </a:r>
            <a:r>
              <a:rPr b="1" lang="en-GB" sz="1200">
                <a:solidFill>
                  <a:schemeClr val="dk1"/>
                </a:solidFill>
                <a:latin typeface="Roboto"/>
                <a:ea typeface="Roboto"/>
                <a:cs typeface="Roboto"/>
                <a:sym typeface="Roboto"/>
              </a:rPr>
              <a:t>,</a:t>
            </a:r>
            <a:r>
              <a:rPr lang="en-GB" sz="1200">
                <a:solidFill>
                  <a:schemeClr val="dk1"/>
                </a:solidFill>
                <a:latin typeface="Roboto"/>
                <a:ea typeface="Roboto"/>
                <a:cs typeface="Roboto"/>
                <a:sym typeface="Roboto"/>
              </a:rPr>
              <a:t> measures total time + MB/s throughput, then reconstructs a new PIL RGB image from the processed bytes.​</a:t>
            </a:r>
            <a:endParaRPr sz="1200">
              <a:solidFill>
                <a:schemeClr val="dk1"/>
              </a:solidFill>
              <a:latin typeface="Roboto"/>
              <a:ea typeface="Roboto"/>
              <a:cs typeface="Roboto"/>
              <a:sym typeface="Roboto"/>
            </a:endParaRPr>
          </a:p>
          <a:p>
            <a:pPr indent="0" lvl="0" marL="0" rtl="0" algn="l">
              <a:lnSpc>
                <a:spcPct val="115000"/>
              </a:lnSpc>
              <a:spcBef>
                <a:spcPts val="1800"/>
              </a:spcBef>
              <a:spcAft>
                <a:spcPts val="0"/>
              </a:spcAft>
              <a:buNone/>
            </a:pPr>
            <a:r>
              <a:rPr b="1" lang="en-GB" sz="1700">
                <a:solidFill>
                  <a:schemeClr val="dk1"/>
                </a:solidFill>
                <a:latin typeface="Roboto"/>
                <a:ea typeface="Roboto"/>
                <a:cs typeface="Roboto"/>
                <a:sym typeface="Roboto"/>
              </a:rPr>
              <a:t>Benchmark runner</a:t>
            </a:r>
            <a:endParaRPr b="1" sz="1700">
              <a:solidFill>
                <a:schemeClr val="dk1"/>
              </a:solidFill>
              <a:latin typeface="Roboto"/>
              <a:ea typeface="Roboto"/>
              <a:cs typeface="Roboto"/>
              <a:sym typeface="Roboto"/>
            </a:endParaRPr>
          </a:p>
          <a:p>
            <a:pPr indent="-304800" lvl="0" marL="457200" rtl="0" algn="l">
              <a:lnSpc>
                <a:spcPct val="115000"/>
              </a:lnSpc>
              <a:spcBef>
                <a:spcPts val="400"/>
              </a:spcBef>
              <a:spcAft>
                <a:spcPts val="0"/>
              </a:spcAft>
              <a:buClr>
                <a:schemeClr val="dk1"/>
              </a:buClr>
              <a:buSzPts val="1200"/>
              <a:buFont typeface="Roboto"/>
              <a:buChar char="●"/>
            </a:pPr>
            <a:r>
              <a:rPr b="1" lang="en-GB" sz="1050">
                <a:solidFill>
                  <a:schemeClr val="dk1"/>
                </a:solidFill>
                <a:latin typeface="Courier New"/>
                <a:ea typeface="Courier New"/>
                <a:cs typeface="Courier New"/>
                <a:sym typeface="Courier New"/>
              </a:rPr>
              <a:t>benchmark_aes()</a:t>
            </a:r>
            <a:r>
              <a:rPr lang="en-GB" sz="1200">
                <a:solidFill>
                  <a:schemeClr val="dk1"/>
                </a:solidFill>
                <a:latin typeface="Roboto"/>
                <a:ea typeface="Roboto"/>
                <a:cs typeface="Roboto"/>
                <a:sym typeface="Roboto"/>
              </a:rPr>
              <a:t> loads </a:t>
            </a:r>
            <a:r>
              <a:rPr b="1" lang="en-GB" sz="1050">
                <a:solidFill>
                  <a:schemeClr val="dk1"/>
                </a:solidFill>
                <a:latin typeface="Courier New"/>
                <a:ea typeface="Courier New"/>
                <a:cs typeface="Courier New"/>
                <a:sym typeface="Courier New"/>
              </a:rPr>
              <a:t>./images/parrot.jpg</a:t>
            </a:r>
            <a:r>
              <a:rPr b="1" lang="en-GB" sz="1200">
                <a:solidFill>
                  <a:schemeClr val="dk1"/>
                </a:solidFill>
                <a:latin typeface="Roboto"/>
                <a:ea typeface="Roboto"/>
                <a:cs typeface="Roboto"/>
                <a:sym typeface="Roboto"/>
              </a:rPr>
              <a:t>,</a:t>
            </a:r>
            <a:r>
              <a:rPr lang="en-GB" sz="1200">
                <a:solidFill>
                  <a:schemeClr val="dk1"/>
                </a:solidFill>
                <a:latin typeface="Roboto"/>
                <a:ea typeface="Roboto"/>
                <a:cs typeface="Roboto"/>
                <a:sym typeface="Roboto"/>
              </a:rPr>
              <a:t> does a small “warm up” encryption on a resized image, then encrypts the full image and decrypts it back, printing individual and total timings.​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GB" sz="1200">
                <a:solidFill>
                  <a:schemeClr val="dk1"/>
                </a:solidFill>
                <a:latin typeface="Roboto"/>
                <a:ea typeface="Roboto"/>
                <a:cs typeface="Roboto"/>
                <a:sym typeface="Roboto"/>
              </a:rPr>
              <a:t>If run as </a:t>
            </a:r>
            <a:r>
              <a:rPr b="1" lang="en-GB" sz="1050">
                <a:solidFill>
                  <a:schemeClr val="dk1"/>
                </a:solidFill>
                <a:latin typeface="Courier New"/>
                <a:ea typeface="Courier New"/>
                <a:cs typeface="Courier New"/>
                <a:sym typeface="Courier New"/>
              </a:rPr>
              <a:t>__main__</a:t>
            </a:r>
            <a:r>
              <a:rPr lang="en-GB" sz="1200">
                <a:solidFill>
                  <a:schemeClr val="dk1"/>
                </a:solidFill>
                <a:latin typeface="Roboto"/>
                <a:ea typeface="Roboto"/>
                <a:cs typeface="Roboto"/>
                <a:sym typeface="Roboto"/>
              </a:rPr>
              <a:t>, it executes the benchmark and displays original/encrypted/decrypted images in a notebook via </a:t>
            </a:r>
            <a:r>
              <a:rPr b="1" lang="en-GB" sz="1050">
                <a:solidFill>
                  <a:schemeClr val="dk1"/>
                </a:solidFill>
                <a:latin typeface="Courier New"/>
                <a:ea typeface="Courier New"/>
                <a:cs typeface="Courier New"/>
                <a:sym typeface="Courier New"/>
              </a:rPr>
              <a:t>IPython.display</a:t>
            </a:r>
            <a:r>
              <a:rPr lang="en-GB" sz="1200">
                <a:solidFill>
                  <a:schemeClr val="dk1"/>
                </a:solidFill>
                <a:latin typeface="Roboto"/>
                <a:ea typeface="Roboto"/>
                <a:cs typeface="Roboto"/>
                <a:sym typeface="Roboto"/>
              </a:rPr>
              <a:t>.</a:t>
            </a:r>
            <a:endParaRPr b="1" sz="1700">
              <a:solidFill>
                <a:schemeClr val="dk1"/>
              </a:solidFill>
              <a:latin typeface="Roboto"/>
              <a:ea typeface="Roboto"/>
              <a:cs typeface="Roboto"/>
              <a:sym typeface="Roboto"/>
            </a:endParaRPr>
          </a:p>
        </p:txBody>
      </p:sp>
      <p:pic>
        <p:nvPicPr>
          <p:cNvPr descr="VTU_logo" id="427" name="Google Shape;427;p46"/>
          <p:cNvPicPr preferRelativeResize="0"/>
          <p:nvPr/>
        </p:nvPicPr>
        <p:blipFill rotWithShape="1">
          <a:blip r:embed="rId4">
            <a:alphaModFix/>
          </a:blip>
          <a:srcRect b="0" l="0" r="0" t="0"/>
          <a:stretch/>
        </p:blipFill>
        <p:spPr>
          <a:xfrm>
            <a:off x="8014064" y="58332"/>
            <a:ext cx="917966" cy="112668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7"/>
          <p:cNvSpPr txBox="1"/>
          <p:nvPr>
            <p:ph type="ctrTitle"/>
          </p:nvPr>
        </p:nvSpPr>
        <p:spPr>
          <a:xfrm>
            <a:off x="1847942" y="524215"/>
            <a:ext cx="3851366" cy="507492"/>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Times New Roman"/>
                <a:ea typeface="Times New Roman"/>
                <a:cs typeface="Times New Roman"/>
                <a:sym typeface="Times New Roman"/>
              </a:rPr>
              <a:t>OUTCOME</a:t>
            </a:r>
            <a:endParaRPr b="1" sz="2700">
              <a:solidFill>
                <a:srgbClr val="000A30"/>
              </a:solidFill>
              <a:latin typeface="Times New Roman"/>
              <a:ea typeface="Times New Roman"/>
              <a:cs typeface="Times New Roman"/>
              <a:sym typeface="Times New Roman"/>
            </a:endParaRPr>
          </a:p>
        </p:txBody>
      </p:sp>
      <p:sp>
        <p:nvSpPr>
          <p:cNvPr id="433" name="Google Shape;433;p47"/>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34" name="Google Shape;434;p47"/>
          <p:cNvSpPr txBox="1"/>
          <p:nvPr/>
        </p:nvSpPr>
        <p:spPr>
          <a:xfrm>
            <a:off x="6859282" y="4773205"/>
            <a:ext cx="1864094" cy="27699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435" name="Google Shape;435;p47"/>
          <p:cNvSpPr/>
          <p:nvPr/>
        </p:nvSpPr>
        <p:spPr>
          <a:xfrm>
            <a:off x="376517" y="0"/>
            <a:ext cx="1284643" cy="127747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436" name="Google Shape;436;p47"/>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437" name="Google Shape;437;p47"/>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38" name="Google Shape;438;p47"/>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pic>
        <p:nvPicPr>
          <p:cNvPr descr="VTU_logo" id="439" name="Google Shape;439;p47"/>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pic>
        <p:nvPicPr>
          <p:cNvPr id="440" name="Google Shape;440;p47"/>
          <p:cNvPicPr preferRelativeResize="0"/>
          <p:nvPr/>
        </p:nvPicPr>
        <p:blipFill rotWithShape="1">
          <a:blip r:embed="rId5">
            <a:alphaModFix/>
          </a:blip>
          <a:srcRect b="-3209" l="0" r="0" t="0"/>
          <a:stretch/>
        </p:blipFill>
        <p:spPr>
          <a:xfrm>
            <a:off x="567650" y="2110525"/>
            <a:ext cx="2525300" cy="2316825"/>
          </a:xfrm>
          <a:prstGeom prst="rect">
            <a:avLst/>
          </a:prstGeom>
          <a:noFill/>
          <a:ln>
            <a:noFill/>
          </a:ln>
        </p:spPr>
      </p:pic>
      <p:sp>
        <p:nvSpPr>
          <p:cNvPr id="441" name="Google Shape;441;p47"/>
          <p:cNvSpPr txBox="1"/>
          <p:nvPr/>
        </p:nvSpPr>
        <p:spPr>
          <a:xfrm>
            <a:off x="741986" y="1568180"/>
            <a:ext cx="2346373" cy="459959"/>
          </a:xfrm>
          <a:prstGeom prst="rect">
            <a:avLst/>
          </a:prstGeom>
          <a:noFill/>
          <a:ln>
            <a:noFill/>
          </a:ln>
        </p:spPr>
        <p:txBody>
          <a:bodyPr anchorCtr="0" anchor="b" bIns="34275" lIns="68575" spcFirstLastPara="1" rIns="68575" wrap="square" tIns="34275">
            <a:normAutofit fontScale="92500"/>
          </a:bodyPr>
          <a:lstStyle/>
          <a:p>
            <a:pPr indent="0" lvl="0" marL="0" marR="0" rtl="0" algn="l">
              <a:lnSpc>
                <a:spcPct val="90000"/>
              </a:lnSpc>
              <a:spcBef>
                <a:spcPts val="0"/>
              </a:spcBef>
              <a:spcAft>
                <a:spcPts val="0"/>
              </a:spcAft>
              <a:buClr>
                <a:srgbClr val="000A30"/>
              </a:buClr>
              <a:buSzPct val="107407"/>
              <a:buFont typeface="Calibri"/>
              <a:buNone/>
            </a:pPr>
            <a:r>
              <a:rPr b="1" i="0" lang="en-GB" sz="2700" u="none" cap="none" strike="noStrike">
                <a:solidFill>
                  <a:srgbClr val="000A30"/>
                </a:solidFill>
                <a:latin typeface="Times New Roman"/>
                <a:ea typeface="Times New Roman"/>
                <a:cs typeface="Times New Roman"/>
                <a:sym typeface="Times New Roman"/>
              </a:rPr>
              <a:t>Original Image</a:t>
            </a:r>
            <a:endParaRPr sz="1100"/>
          </a:p>
        </p:txBody>
      </p:sp>
      <p:pic>
        <p:nvPicPr>
          <p:cNvPr id="442" name="Google Shape;442;p47"/>
          <p:cNvPicPr preferRelativeResize="0"/>
          <p:nvPr/>
        </p:nvPicPr>
        <p:blipFill rotWithShape="1">
          <a:blip r:embed="rId6">
            <a:alphaModFix/>
          </a:blip>
          <a:srcRect b="0" l="0" r="0" t="0"/>
          <a:stretch/>
        </p:blipFill>
        <p:spPr>
          <a:xfrm>
            <a:off x="3272100" y="2110526"/>
            <a:ext cx="2346375" cy="2202175"/>
          </a:xfrm>
          <a:prstGeom prst="rect">
            <a:avLst/>
          </a:prstGeom>
          <a:noFill/>
          <a:ln>
            <a:noFill/>
          </a:ln>
        </p:spPr>
      </p:pic>
      <p:sp>
        <p:nvSpPr>
          <p:cNvPr id="443" name="Google Shape;443;p47"/>
          <p:cNvSpPr txBox="1"/>
          <p:nvPr/>
        </p:nvSpPr>
        <p:spPr>
          <a:xfrm>
            <a:off x="3272104" y="1557268"/>
            <a:ext cx="2346373" cy="459959"/>
          </a:xfrm>
          <a:prstGeom prst="rect">
            <a:avLst/>
          </a:prstGeom>
          <a:noFill/>
          <a:ln>
            <a:noFill/>
          </a:ln>
        </p:spPr>
        <p:txBody>
          <a:bodyPr anchorCtr="0" anchor="b" bIns="34275" lIns="68575" spcFirstLastPara="1" rIns="68575" wrap="square" tIns="34275">
            <a:normAutofit fontScale="85000" lnSpcReduction="10000"/>
          </a:bodyPr>
          <a:lstStyle/>
          <a:p>
            <a:pPr indent="0" lvl="0" marL="0" marR="0" rtl="0" algn="l">
              <a:lnSpc>
                <a:spcPct val="90000"/>
              </a:lnSpc>
              <a:spcBef>
                <a:spcPts val="0"/>
              </a:spcBef>
              <a:spcAft>
                <a:spcPts val="0"/>
              </a:spcAft>
              <a:buClr>
                <a:srgbClr val="000A30"/>
              </a:buClr>
              <a:buSzPct val="118518"/>
              <a:buFont typeface="Calibri"/>
              <a:buNone/>
            </a:pPr>
            <a:r>
              <a:rPr b="1" i="0" lang="en-GB" sz="2700" u="none" cap="none" strike="noStrike">
                <a:solidFill>
                  <a:srgbClr val="000A30"/>
                </a:solidFill>
                <a:latin typeface="Times New Roman"/>
                <a:ea typeface="Times New Roman"/>
                <a:cs typeface="Times New Roman"/>
                <a:sym typeface="Times New Roman"/>
              </a:rPr>
              <a:t>Encrypted image</a:t>
            </a:r>
            <a:endParaRPr sz="1100"/>
          </a:p>
        </p:txBody>
      </p:sp>
      <p:pic>
        <p:nvPicPr>
          <p:cNvPr id="444" name="Google Shape;444;p47"/>
          <p:cNvPicPr preferRelativeResize="0"/>
          <p:nvPr/>
        </p:nvPicPr>
        <p:blipFill rotWithShape="1">
          <a:blip r:embed="rId7">
            <a:alphaModFix/>
          </a:blip>
          <a:srcRect b="0" l="0" r="0" t="0"/>
          <a:stretch/>
        </p:blipFill>
        <p:spPr>
          <a:xfrm>
            <a:off x="5891650" y="2110526"/>
            <a:ext cx="2346375" cy="2202175"/>
          </a:xfrm>
          <a:prstGeom prst="rect">
            <a:avLst/>
          </a:prstGeom>
          <a:noFill/>
          <a:ln>
            <a:noFill/>
          </a:ln>
        </p:spPr>
      </p:pic>
      <p:sp>
        <p:nvSpPr>
          <p:cNvPr id="445" name="Google Shape;445;p47"/>
          <p:cNvSpPr txBox="1"/>
          <p:nvPr/>
        </p:nvSpPr>
        <p:spPr>
          <a:xfrm>
            <a:off x="5891657" y="1620594"/>
            <a:ext cx="2346373" cy="396633"/>
          </a:xfrm>
          <a:prstGeom prst="rect">
            <a:avLst/>
          </a:prstGeom>
          <a:noFill/>
          <a:ln>
            <a:noFill/>
          </a:ln>
        </p:spPr>
        <p:txBody>
          <a:bodyPr anchorCtr="0" anchor="b" bIns="34275" lIns="68575" spcFirstLastPara="1" rIns="68575" wrap="square" tIns="34275">
            <a:normAutofit fontScale="85000" lnSpcReduction="10000"/>
          </a:bodyPr>
          <a:lstStyle/>
          <a:p>
            <a:pPr indent="0" lvl="0" marL="0" marR="0" rtl="0" algn="l">
              <a:lnSpc>
                <a:spcPct val="90000"/>
              </a:lnSpc>
              <a:spcBef>
                <a:spcPts val="0"/>
              </a:spcBef>
              <a:spcAft>
                <a:spcPts val="0"/>
              </a:spcAft>
              <a:buClr>
                <a:srgbClr val="000A30"/>
              </a:buClr>
              <a:buSzPct val="118518"/>
              <a:buFont typeface="Calibri"/>
              <a:buNone/>
            </a:pPr>
            <a:r>
              <a:rPr b="1" i="0" lang="en-GB" sz="2700" u="none" cap="none" strike="noStrike">
                <a:solidFill>
                  <a:srgbClr val="000A30"/>
                </a:solidFill>
                <a:latin typeface="Times New Roman"/>
                <a:ea typeface="Times New Roman"/>
                <a:cs typeface="Times New Roman"/>
                <a:sym typeface="Times New Roman"/>
              </a:rPr>
              <a:t>Decrypted Image</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8"/>
          <p:cNvSpPr txBox="1"/>
          <p:nvPr>
            <p:ph type="ctrTitle"/>
          </p:nvPr>
        </p:nvSpPr>
        <p:spPr>
          <a:xfrm>
            <a:off x="1847953" y="524225"/>
            <a:ext cx="5581500" cy="50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Times New Roman"/>
                <a:ea typeface="Times New Roman"/>
                <a:cs typeface="Times New Roman"/>
                <a:sym typeface="Times New Roman"/>
              </a:rPr>
              <a:t>ON-CHIP POWER ANALYSIS</a:t>
            </a:r>
            <a:endParaRPr b="1" sz="2700">
              <a:solidFill>
                <a:srgbClr val="000A30"/>
              </a:solidFill>
              <a:latin typeface="Times New Roman"/>
              <a:ea typeface="Times New Roman"/>
              <a:cs typeface="Times New Roman"/>
              <a:sym typeface="Times New Roman"/>
            </a:endParaRPr>
          </a:p>
        </p:txBody>
      </p:sp>
      <p:sp>
        <p:nvSpPr>
          <p:cNvPr id="451" name="Google Shape;451;p48"/>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52" name="Google Shape;452;p48"/>
          <p:cNvSpPr txBox="1"/>
          <p:nvPr/>
        </p:nvSpPr>
        <p:spPr>
          <a:xfrm>
            <a:off x="6859282" y="4773205"/>
            <a:ext cx="1864094" cy="27699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453" name="Google Shape;453;p48"/>
          <p:cNvSpPr/>
          <p:nvPr/>
        </p:nvSpPr>
        <p:spPr>
          <a:xfrm>
            <a:off x="376517" y="0"/>
            <a:ext cx="1284643" cy="127747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454" name="Google Shape;454;p48"/>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455" name="Google Shape;455;p48"/>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56" name="Google Shape;456;p48"/>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pic>
        <p:nvPicPr>
          <p:cNvPr descr="VTU_logo" id="457" name="Google Shape;457;p48"/>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pic>
        <p:nvPicPr>
          <p:cNvPr id="458" name="Google Shape;458;p48"/>
          <p:cNvPicPr preferRelativeResize="0"/>
          <p:nvPr/>
        </p:nvPicPr>
        <p:blipFill rotWithShape="1">
          <a:blip r:embed="rId5">
            <a:alphaModFix/>
          </a:blip>
          <a:srcRect b="0" l="0" r="0" t="0"/>
          <a:stretch/>
        </p:blipFill>
        <p:spPr>
          <a:xfrm>
            <a:off x="4200500" y="1383288"/>
            <a:ext cx="4731526" cy="3045920"/>
          </a:xfrm>
          <a:prstGeom prst="rect">
            <a:avLst/>
          </a:prstGeom>
          <a:noFill/>
          <a:ln>
            <a:noFill/>
          </a:ln>
        </p:spPr>
      </p:pic>
      <p:sp>
        <p:nvSpPr>
          <p:cNvPr id="459" name="Google Shape;459;p48"/>
          <p:cNvSpPr txBox="1"/>
          <p:nvPr/>
        </p:nvSpPr>
        <p:spPr>
          <a:xfrm>
            <a:off x="340725" y="1400325"/>
            <a:ext cx="3824700" cy="31917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b="1" lang="en-GB" sz="1100">
                <a:solidFill>
                  <a:schemeClr val="dk1"/>
                </a:solidFill>
              </a:rPr>
              <a:t>Key Metrics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sz="1100">
                <a:solidFill>
                  <a:schemeClr val="dk1"/>
                </a:solidFill>
              </a:rPr>
              <a:t>Total On-Chip Power:</a:t>
            </a:r>
            <a:r>
              <a:rPr lang="en-GB" sz="1100">
                <a:solidFill>
                  <a:schemeClr val="dk1"/>
                </a:solidFill>
              </a:rPr>
              <a:t> 2.784 W</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rPr>
              <a:t>Junction Temperature:</a:t>
            </a:r>
            <a:r>
              <a:rPr lang="en-GB" sz="1100">
                <a:solidFill>
                  <a:schemeClr val="dk1"/>
                </a:solidFill>
              </a:rPr>
              <a:t> 57.1°C (Well within safe operating limits)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rPr>
              <a:t>Thermal Margin:</a:t>
            </a:r>
            <a:r>
              <a:rPr lang="en-GB" sz="1100">
                <a:solidFill>
                  <a:schemeClr val="dk1"/>
                </a:solidFill>
              </a:rPr>
              <a:t> 27.9°C (Headroom available before reaching thermal limits)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rPr>
              <a:t>Power Efficiency:</a:t>
            </a:r>
            <a:r>
              <a:rPr lang="en-GB" sz="1100">
                <a:solidFill>
                  <a:schemeClr val="dk1"/>
                </a:solidFill>
              </a:rPr>
              <a:t> Design is dominated by Dynamic Power (93%), indicating low static leakage.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Conclusion</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The design operates safely at an ambient temperature of 25°C.</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The effective thermal resistance is 11.5°C/W.</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No thermal throttling or active cooling issues are anticipated based on current usage.</a:t>
            </a:r>
            <a:endParaRPr sz="21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9"/>
          <p:cNvSpPr txBox="1"/>
          <p:nvPr>
            <p:ph type="ctrTitle"/>
          </p:nvPr>
        </p:nvSpPr>
        <p:spPr>
          <a:xfrm>
            <a:off x="1847942" y="524215"/>
            <a:ext cx="3851366" cy="507492"/>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Times New Roman"/>
                <a:ea typeface="Times New Roman"/>
                <a:cs typeface="Times New Roman"/>
                <a:sym typeface="Times New Roman"/>
              </a:rPr>
              <a:t>APPLICATION</a:t>
            </a:r>
            <a:endParaRPr b="1" sz="2700">
              <a:solidFill>
                <a:srgbClr val="000A30"/>
              </a:solidFill>
              <a:latin typeface="Times New Roman"/>
              <a:ea typeface="Times New Roman"/>
              <a:cs typeface="Times New Roman"/>
              <a:sym typeface="Times New Roman"/>
            </a:endParaRPr>
          </a:p>
        </p:txBody>
      </p:sp>
      <p:sp>
        <p:nvSpPr>
          <p:cNvPr id="465" name="Google Shape;465;p49"/>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66" name="Google Shape;466;p49"/>
          <p:cNvSpPr txBox="1"/>
          <p:nvPr/>
        </p:nvSpPr>
        <p:spPr>
          <a:xfrm>
            <a:off x="6859282" y="4773205"/>
            <a:ext cx="1818374" cy="484718"/>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467" name="Google Shape;467;p49"/>
          <p:cNvSpPr/>
          <p:nvPr/>
        </p:nvSpPr>
        <p:spPr>
          <a:xfrm>
            <a:off x="376517" y="0"/>
            <a:ext cx="1284643" cy="127747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468" name="Google Shape;468;p49"/>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469" name="Google Shape;469;p49"/>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70" name="Google Shape;470;p49"/>
          <p:cNvSpPr txBox="1"/>
          <p:nvPr/>
        </p:nvSpPr>
        <p:spPr>
          <a:xfrm>
            <a:off x="376517" y="1405491"/>
            <a:ext cx="8227840" cy="2997020"/>
          </a:xfrm>
          <a:prstGeom prst="rect">
            <a:avLst/>
          </a:prstGeom>
          <a:noFill/>
          <a:ln>
            <a:noFill/>
          </a:ln>
        </p:spPr>
        <p:txBody>
          <a:bodyPr anchorCtr="0" anchor="t" bIns="34275" lIns="68575" spcFirstLastPara="1" rIns="68575" wrap="square" tIns="34275">
            <a:norm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71" name="Google Shape;471;p49"/>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sp>
        <p:nvSpPr>
          <p:cNvPr id="472" name="Google Shape;472;p49"/>
          <p:cNvSpPr txBox="1"/>
          <p:nvPr/>
        </p:nvSpPr>
        <p:spPr>
          <a:xfrm>
            <a:off x="376525" y="1412198"/>
            <a:ext cx="8227800" cy="2997000"/>
          </a:xfrm>
          <a:prstGeom prst="rect">
            <a:avLst/>
          </a:prstGeom>
          <a:noFill/>
          <a:ln>
            <a:noFill/>
          </a:ln>
        </p:spPr>
        <p:txBody>
          <a:bodyPr anchorCtr="0" anchor="t" bIns="34275" lIns="68575" spcFirstLastPara="1" rIns="68575" wrap="square" tIns="34275">
            <a:normAutofit/>
          </a:bodyPr>
          <a:lstStyle/>
          <a:p>
            <a:pPr indent="0" lvl="0" marL="0" marR="0" rtl="0" algn="l">
              <a:lnSpc>
                <a:spcPct val="150000"/>
              </a:lnSpc>
              <a:spcBef>
                <a:spcPts val="0"/>
              </a:spcBef>
              <a:spcAft>
                <a:spcPts val="0"/>
              </a:spcAft>
              <a:buNone/>
            </a:pPr>
            <a:r>
              <a:rPr b="1" i="0" lang="en-GB" sz="1200" u="none" cap="none" strike="noStrike">
                <a:solidFill>
                  <a:srgbClr val="000000"/>
                </a:solidFill>
                <a:latin typeface="Times New Roman"/>
                <a:ea typeface="Times New Roman"/>
                <a:cs typeface="Times New Roman"/>
                <a:sym typeface="Times New Roman"/>
              </a:rPr>
              <a:t>1. Secure Telemedicine &amp; Remote Consultations</a:t>
            </a:r>
            <a:endParaRPr sz="1100"/>
          </a:p>
          <a:p>
            <a:pPr indent="0" lvl="0" marL="0" marR="0" rtl="0" algn="l">
              <a:lnSpc>
                <a:spcPct val="150000"/>
              </a:lnSpc>
              <a:spcBef>
                <a:spcPts val="0"/>
              </a:spcBef>
              <a:spcAft>
                <a:spcPts val="0"/>
              </a:spcAft>
              <a:buNone/>
            </a:pPr>
            <a:r>
              <a:rPr b="0" i="0" lang="en-GB" sz="900" u="none" cap="none" strike="noStrike">
                <a:solidFill>
                  <a:srgbClr val="000000"/>
                </a:solidFill>
                <a:latin typeface="Times New Roman"/>
                <a:ea typeface="Times New Roman"/>
                <a:cs typeface="Times New Roman"/>
                <a:sym typeface="Times New Roman"/>
              </a:rPr>
              <a:t>Encrypted medical images (MRI, CT, X-ray) can be safely transmitted between hospitals and doctors over unsecured networks, ensuring patient</a:t>
            </a:r>
            <a:r>
              <a:rPr b="1" i="0" lang="en-GB" sz="900" u="none" cap="none" strike="noStrike">
                <a:solidFill>
                  <a:srgbClr val="000000"/>
                </a:solidFill>
                <a:latin typeface="Times New Roman"/>
                <a:ea typeface="Times New Roman"/>
                <a:cs typeface="Times New Roman"/>
                <a:sym typeface="Times New Roman"/>
              </a:rPr>
              <a:t> </a:t>
            </a:r>
            <a:r>
              <a:rPr b="0" i="0" lang="en-GB" sz="900" u="none" cap="none" strike="noStrike">
                <a:solidFill>
                  <a:srgbClr val="000000"/>
                </a:solidFill>
                <a:latin typeface="Times New Roman"/>
                <a:ea typeface="Times New Roman"/>
                <a:cs typeface="Times New Roman"/>
                <a:sym typeface="Times New Roman"/>
              </a:rPr>
              <a:t>confidentiality.</a:t>
            </a:r>
            <a:endParaRPr b="0" i="0" sz="9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1" i="0" lang="en-GB" sz="1200" u="none" cap="none" strike="noStrike">
                <a:solidFill>
                  <a:srgbClr val="000000"/>
                </a:solidFill>
                <a:latin typeface="Times New Roman"/>
                <a:ea typeface="Times New Roman"/>
                <a:cs typeface="Times New Roman"/>
                <a:sym typeface="Times New Roman"/>
              </a:rPr>
              <a:t>2. Cloud-Based Medical Data Storage</a:t>
            </a:r>
            <a:endParaRPr sz="1100"/>
          </a:p>
          <a:p>
            <a:pPr indent="0" lvl="0" marL="0" marR="0" rtl="0" algn="l">
              <a:lnSpc>
                <a:spcPct val="150000"/>
              </a:lnSpc>
              <a:spcBef>
                <a:spcPts val="0"/>
              </a:spcBef>
              <a:spcAft>
                <a:spcPts val="0"/>
              </a:spcAft>
              <a:buNone/>
            </a:pPr>
            <a:r>
              <a:rPr b="0" i="0" lang="en-GB" sz="900" u="none" cap="none" strike="noStrike">
                <a:solidFill>
                  <a:srgbClr val="000000"/>
                </a:solidFill>
                <a:latin typeface="Times New Roman"/>
                <a:ea typeface="Times New Roman"/>
                <a:cs typeface="Times New Roman"/>
                <a:sym typeface="Times New Roman"/>
              </a:rPr>
              <a:t>Before uploading to cloud servers, images can be encrypted on FPGA hardware, protecting data from </a:t>
            </a:r>
            <a:r>
              <a:rPr b="1" i="0" lang="en-GB" sz="900" u="none" cap="none" strike="noStrike">
                <a:solidFill>
                  <a:srgbClr val="000000"/>
                </a:solidFill>
                <a:latin typeface="Times New Roman"/>
                <a:ea typeface="Times New Roman"/>
                <a:cs typeface="Times New Roman"/>
                <a:sym typeface="Times New Roman"/>
              </a:rPr>
              <a:t>unauthorized access or breaches</a:t>
            </a:r>
            <a:r>
              <a:rPr b="0" i="0" lang="en-GB" sz="900" u="none" cap="none" strike="noStrike">
                <a:solidFill>
                  <a:srgbClr val="000000"/>
                </a:solidFill>
                <a:latin typeface="Times New Roman"/>
                <a:ea typeface="Times New Roman"/>
                <a:cs typeface="Times New Roman"/>
                <a:sym typeface="Times New Roman"/>
              </a:rPr>
              <a:t>.</a:t>
            </a:r>
            <a:endParaRPr b="0" i="0" sz="9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1" i="0" lang="en-GB" sz="1200" u="none" cap="none" strike="noStrike">
                <a:solidFill>
                  <a:srgbClr val="000000"/>
                </a:solidFill>
                <a:latin typeface="Times New Roman"/>
                <a:ea typeface="Times New Roman"/>
                <a:cs typeface="Times New Roman"/>
                <a:sym typeface="Times New Roman"/>
              </a:rPr>
              <a:t>3. Medical IoT Devices &amp; Edge Security</a:t>
            </a:r>
            <a:endParaRPr sz="1100"/>
          </a:p>
          <a:p>
            <a:pPr indent="0" lvl="0" marL="0" marR="0" rtl="0" algn="l">
              <a:lnSpc>
                <a:spcPct val="150000"/>
              </a:lnSpc>
              <a:spcBef>
                <a:spcPts val="0"/>
              </a:spcBef>
              <a:spcAft>
                <a:spcPts val="0"/>
              </a:spcAft>
              <a:buNone/>
            </a:pPr>
            <a:r>
              <a:rPr b="0" i="0" lang="en-GB" sz="900" u="none" cap="none" strike="noStrike">
                <a:solidFill>
                  <a:srgbClr val="000000"/>
                </a:solidFill>
                <a:latin typeface="Times New Roman"/>
                <a:ea typeface="Times New Roman"/>
                <a:cs typeface="Times New Roman"/>
                <a:sym typeface="Times New Roman"/>
              </a:rPr>
              <a:t>Portable imaging devices (like handheld ultrasound scanners) can integrate FPGA-based encryption to secure patient scans </a:t>
            </a:r>
            <a:r>
              <a:rPr b="1" i="0" lang="en-GB" sz="900" u="none" cap="none" strike="noStrike">
                <a:solidFill>
                  <a:srgbClr val="000000"/>
                </a:solidFill>
                <a:latin typeface="Times New Roman"/>
                <a:ea typeface="Times New Roman"/>
                <a:cs typeface="Times New Roman"/>
                <a:sym typeface="Times New Roman"/>
              </a:rPr>
              <a:t>in real-time at the edge</a:t>
            </a:r>
            <a:r>
              <a:rPr b="0" i="0" lang="en-GB" sz="900" u="none" cap="none" strike="noStrike">
                <a:solidFill>
                  <a:srgbClr val="000000"/>
                </a:solidFill>
                <a:latin typeface="Times New Roman"/>
                <a:ea typeface="Times New Roman"/>
                <a:cs typeface="Times New Roman"/>
                <a:sym typeface="Times New Roman"/>
              </a:rPr>
              <a:t>.</a:t>
            </a:r>
            <a:endParaRPr b="0" i="0" sz="9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1" i="0" lang="en-GB" sz="1200" u="none" cap="none" strike="noStrike">
                <a:solidFill>
                  <a:srgbClr val="000000"/>
                </a:solidFill>
                <a:latin typeface="Times New Roman"/>
                <a:ea typeface="Times New Roman"/>
                <a:cs typeface="Times New Roman"/>
                <a:sym typeface="Times New Roman"/>
              </a:rPr>
              <a:t>4. HIPAA &amp; GDPR Compliance in Healthcare Systems</a:t>
            </a:r>
            <a:endParaRPr sz="1100"/>
          </a:p>
          <a:p>
            <a:pPr indent="0" lvl="0" marL="0" marR="0" rtl="0" algn="l">
              <a:lnSpc>
                <a:spcPct val="150000"/>
              </a:lnSpc>
              <a:spcBef>
                <a:spcPts val="0"/>
              </a:spcBef>
              <a:spcAft>
                <a:spcPts val="0"/>
              </a:spcAft>
              <a:buNone/>
            </a:pPr>
            <a:r>
              <a:rPr b="0" i="0" lang="en-GB" sz="900" u="none" cap="none" strike="noStrike">
                <a:solidFill>
                  <a:srgbClr val="000000"/>
                </a:solidFill>
                <a:latin typeface="Times New Roman"/>
                <a:ea typeface="Times New Roman"/>
                <a:cs typeface="Times New Roman"/>
                <a:sym typeface="Times New Roman"/>
              </a:rPr>
              <a:t>Encryption ensures compliance with global healthcare data protection laws, safeguarding </a:t>
            </a:r>
            <a:r>
              <a:rPr b="1" i="0" lang="en-GB" sz="900" u="none" cap="none" strike="noStrike">
                <a:solidFill>
                  <a:srgbClr val="000000"/>
                </a:solidFill>
                <a:latin typeface="Times New Roman"/>
                <a:ea typeface="Times New Roman"/>
                <a:cs typeface="Times New Roman"/>
                <a:sym typeface="Times New Roman"/>
              </a:rPr>
              <a:t>sensitive patient information</a:t>
            </a:r>
            <a:r>
              <a:rPr b="0" i="0" lang="en-GB" sz="900" u="none" cap="none" strike="noStrike">
                <a:solidFill>
                  <a:srgbClr val="000000"/>
                </a:solidFill>
                <a:latin typeface="Times New Roman"/>
                <a:ea typeface="Times New Roman"/>
                <a:cs typeface="Times New Roman"/>
                <a:sym typeface="Times New Roman"/>
              </a:rPr>
              <a:t> during transmission and storage.</a:t>
            </a:r>
            <a:endParaRPr b="0" i="0" sz="9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1" i="0" lang="en-GB" sz="1200" u="none" cap="none" strike="noStrike">
                <a:solidFill>
                  <a:srgbClr val="000000"/>
                </a:solidFill>
                <a:latin typeface="Times New Roman"/>
                <a:ea typeface="Times New Roman"/>
                <a:cs typeface="Times New Roman"/>
                <a:sym typeface="Times New Roman"/>
              </a:rPr>
              <a:t>5. Military &amp; Disaster Relief Medical Camps</a:t>
            </a:r>
            <a:endParaRPr sz="1100"/>
          </a:p>
          <a:p>
            <a:pPr indent="0" lvl="0" marL="0" marR="0" rtl="0" algn="l">
              <a:lnSpc>
                <a:spcPct val="150000"/>
              </a:lnSpc>
              <a:spcBef>
                <a:spcPts val="0"/>
              </a:spcBef>
              <a:spcAft>
                <a:spcPts val="0"/>
              </a:spcAft>
              <a:buNone/>
            </a:pPr>
            <a:r>
              <a:rPr b="0" i="0" lang="en-GB" sz="900" u="none" cap="none" strike="noStrike">
                <a:solidFill>
                  <a:srgbClr val="000000"/>
                </a:solidFill>
                <a:latin typeface="Times New Roman"/>
                <a:ea typeface="Times New Roman"/>
                <a:cs typeface="Times New Roman"/>
                <a:sym typeface="Times New Roman"/>
              </a:rPr>
              <a:t>In remote or high-risk zones, medical images can be encrypted using FPGA to ensure secure sharing with base hospitals, even over </a:t>
            </a:r>
            <a:r>
              <a:rPr b="1" i="0" lang="en-GB" sz="900" u="none" cap="none" strike="noStrike">
                <a:solidFill>
                  <a:srgbClr val="000000"/>
                </a:solidFill>
                <a:latin typeface="Times New Roman"/>
                <a:ea typeface="Times New Roman"/>
                <a:cs typeface="Times New Roman"/>
                <a:sym typeface="Times New Roman"/>
              </a:rPr>
              <a:t>unreliable or hostile networks.</a:t>
            </a:r>
            <a:endParaRPr b="1" i="0" sz="900" u="none" cap="none" strike="noStrike">
              <a:solidFill>
                <a:schemeClr val="dk1"/>
              </a:solidFill>
              <a:latin typeface="Times New Roman"/>
              <a:ea typeface="Times New Roman"/>
              <a:cs typeface="Times New Roman"/>
              <a:sym typeface="Times New Roman"/>
            </a:endParaRPr>
          </a:p>
        </p:txBody>
      </p:sp>
      <p:pic>
        <p:nvPicPr>
          <p:cNvPr descr="VTU_logo" id="473" name="Google Shape;473;p49"/>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0"/>
          <p:cNvSpPr txBox="1"/>
          <p:nvPr>
            <p:ph type="ctrTitle"/>
          </p:nvPr>
        </p:nvSpPr>
        <p:spPr>
          <a:xfrm>
            <a:off x="1847942" y="524215"/>
            <a:ext cx="3851366" cy="507492"/>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Times New Roman"/>
                <a:ea typeface="Times New Roman"/>
                <a:cs typeface="Times New Roman"/>
                <a:sym typeface="Times New Roman"/>
              </a:rPr>
              <a:t>CONCLUSION</a:t>
            </a:r>
            <a:endParaRPr b="1" sz="2700">
              <a:solidFill>
                <a:srgbClr val="000A30"/>
              </a:solidFill>
              <a:latin typeface="Times New Roman"/>
              <a:ea typeface="Times New Roman"/>
              <a:cs typeface="Times New Roman"/>
              <a:sym typeface="Times New Roman"/>
            </a:endParaRPr>
          </a:p>
        </p:txBody>
      </p:sp>
      <p:sp>
        <p:nvSpPr>
          <p:cNvPr id="479" name="Google Shape;479;p50"/>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80" name="Google Shape;480;p50"/>
          <p:cNvSpPr txBox="1"/>
          <p:nvPr/>
        </p:nvSpPr>
        <p:spPr>
          <a:xfrm>
            <a:off x="6859282" y="4773205"/>
            <a:ext cx="1827518" cy="484718"/>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481" name="Google Shape;481;p50"/>
          <p:cNvSpPr/>
          <p:nvPr/>
        </p:nvSpPr>
        <p:spPr>
          <a:xfrm>
            <a:off x="376517" y="0"/>
            <a:ext cx="1284643" cy="127747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482" name="Google Shape;482;p50"/>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483" name="Google Shape;483;p50"/>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84" name="Google Shape;484;p50"/>
          <p:cNvSpPr txBox="1"/>
          <p:nvPr/>
        </p:nvSpPr>
        <p:spPr>
          <a:xfrm>
            <a:off x="376517" y="1405491"/>
            <a:ext cx="8227840" cy="2997020"/>
          </a:xfrm>
          <a:prstGeom prst="rect">
            <a:avLst/>
          </a:prstGeom>
          <a:noFill/>
          <a:ln>
            <a:noFill/>
          </a:ln>
        </p:spPr>
        <p:txBody>
          <a:bodyPr anchorCtr="0" anchor="t" bIns="34275" lIns="68575" spcFirstLastPara="1" rIns="68575" wrap="square" tIns="34275">
            <a:norm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85" name="Google Shape;485;p50"/>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sp>
        <p:nvSpPr>
          <p:cNvPr id="486" name="Google Shape;486;p50"/>
          <p:cNvSpPr txBox="1"/>
          <p:nvPr/>
        </p:nvSpPr>
        <p:spPr>
          <a:xfrm>
            <a:off x="388648" y="1485022"/>
            <a:ext cx="8366704" cy="2379896"/>
          </a:xfrm>
          <a:prstGeom prst="rect">
            <a:avLst/>
          </a:prstGeom>
          <a:noFill/>
          <a:ln>
            <a:noFill/>
          </a:ln>
        </p:spPr>
        <p:txBody>
          <a:bodyPr anchorCtr="0" anchor="t" bIns="34275" lIns="68575" spcFirstLastPara="1" rIns="68575" wrap="square" tIns="34275">
            <a:normAutofit/>
          </a:bodyPr>
          <a:lstStyle/>
          <a:p>
            <a:pPr indent="-266700" lvl="0" marL="254000" marR="0" rtl="0" algn="l">
              <a:lnSpc>
                <a:spcPct val="150000"/>
              </a:lnSpc>
              <a:spcBef>
                <a:spcPts val="0"/>
              </a:spcBef>
              <a:spcAft>
                <a:spcPts val="0"/>
              </a:spcAft>
              <a:buClr>
                <a:srgbClr val="000000"/>
              </a:buClr>
              <a:buSzPts val="1400"/>
              <a:buFont typeface="Arial"/>
              <a:buAutoNum type="arabicPeriod"/>
            </a:pPr>
            <a:r>
              <a:rPr b="0" i="0" lang="en-GB" u="none" cap="none" strike="noStrike">
                <a:solidFill>
                  <a:srgbClr val="000000"/>
                </a:solidFill>
                <a:latin typeface="Times New Roman"/>
                <a:ea typeface="Times New Roman"/>
                <a:cs typeface="Times New Roman"/>
                <a:sym typeface="Times New Roman"/>
              </a:rPr>
              <a:t>Implemented an efficient FPGA-based image cryptography system.</a:t>
            </a:r>
            <a:endParaRPr sz="1300"/>
          </a:p>
          <a:p>
            <a:pPr indent="-266700" lvl="0" marL="254000" marR="0" rtl="0" algn="l">
              <a:lnSpc>
                <a:spcPct val="150000"/>
              </a:lnSpc>
              <a:spcBef>
                <a:spcPts val="0"/>
              </a:spcBef>
              <a:spcAft>
                <a:spcPts val="0"/>
              </a:spcAft>
              <a:buClr>
                <a:srgbClr val="000000"/>
              </a:buClr>
              <a:buSzPts val="1400"/>
              <a:buFont typeface="Arial"/>
              <a:buAutoNum type="arabicPeriod"/>
            </a:pPr>
            <a:r>
              <a:rPr b="0" i="0" lang="en-GB" u="none" cap="none" strike="noStrike">
                <a:solidFill>
                  <a:srgbClr val="000000"/>
                </a:solidFill>
                <a:latin typeface="Times New Roman"/>
                <a:ea typeface="Times New Roman"/>
                <a:cs typeface="Times New Roman"/>
                <a:sym typeface="Times New Roman"/>
              </a:rPr>
              <a:t>Achieved real-time, secure, and low-power operation.</a:t>
            </a:r>
            <a:endParaRPr sz="1300"/>
          </a:p>
          <a:p>
            <a:pPr indent="-266700" lvl="0" marL="254000" marR="0" rtl="0" algn="l">
              <a:lnSpc>
                <a:spcPct val="150000"/>
              </a:lnSpc>
              <a:spcBef>
                <a:spcPts val="0"/>
              </a:spcBef>
              <a:spcAft>
                <a:spcPts val="0"/>
              </a:spcAft>
              <a:buClr>
                <a:srgbClr val="000000"/>
              </a:buClr>
              <a:buSzPts val="1400"/>
              <a:buFont typeface="Arial"/>
              <a:buAutoNum type="arabicPeriod"/>
            </a:pPr>
            <a:r>
              <a:rPr b="0" i="0" lang="en-GB" u="none" cap="none" strike="noStrike">
                <a:solidFill>
                  <a:srgbClr val="000000"/>
                </a:solidFill>
                <a:latin typeface="Times New Roman"/>
                <a:ea typeface="Times New Roman"/>
                <a:cs typeface="Times New Roman"/>
                <a:sym typeface="Times New Roman"/>
              </a:rPr>
              <a:t> Validated performance and correctness through experiments.</a:t>
            </a:r>
            <a:endParaRPr sz="1300"/>
          </a:p>
          <a:p>
            <a:pPr indent="-266700" lvl="0" marL="254000" marR="0" rtl="0" algn="l">
              <a:lnSpc>
                <a:spcPct val="150000"/>
              </a:lnSpc>
              <a:spcBef>
                <a:spcPts val="0"/>
              </a:spcBef>
              <a:spcAft>
                <a:spcPts val="0"/>
              </a:spcAft>
              <a:buClr>
                <a:srgbClr val="000000"/>
              </a:buClr>
              <a:buSzPts val="1400"/>
              <a:buFont typeface="Arial"/>
              <a:buAutoNum type="arabicPeriod"/>
            </a:pPr>
            <a:r>
              <a:rPr b="0" i="0" lang="en-GB" u="none" cap="none" strike="noStrike">
                <a:solidFill>
                  <a:srgbClr val="000000"/>
                </a:solidFill>
                <a:latin typeface="Times New Roman"/>
                <a:ea typeface="Times New Roman"/>
                <a:cs typeface="Times New Roman"/>
                <a:sym typeface="Times New Roman"/>
              </a:rPr>
              <a:t> Combines Vivado HLS and Python-based control for simplicity and flexibility.</a:t>
            </a:r>
            <a:endParaRPr sz="1300"/>
          </a:p>
          <a:p>
            <a:pPr indent="-177800" lvl="0" marL="254000" marR="0" rtl="0" algn="l">
              <a:lnSpc>
                <a:spcPct val="150000"/>
              </a:lnSpc>
              <a:spcBef>
                <a:spcPts val="0"/>
              </a:spcBef>
              <a:spcAft>
                <a:spcPts val="0"/>
              </a:spcAft>
              <a:buClr>
                <a:srgbClr val="000000"/>
              </a:buClr>
              <a:buSzPts val="1200"/>
              <a:buFont typeface="Arial"/>
              <a:buNone/>
            </a:pPr>
            <a:r>
              <a:t/>
            </a:r>
            <a:endParaRPr b="1" i="0" sz="1200" u="none" cap="none" strike="noStrike">
              <a:solidFill>
                <a:schemeClr val="dk1"/>
              </a:solidFill>
              <a:latin typeface="Times New Roman"/>
              <a:ea typeface="Times New Roman"/>
              <a:cs typeface="Times New Roman"/>
              <a:sym typeface="Times New Roman"/>
            </a:endParaRPr>
          </a:p>
          <a:p>
            <a:pPr indent="0" lvl="0" marL="0" marR="0" rtl="0" algn="l">
              <a:lnSpc>
                <a:spcPct val="150000"/>
              </a:lnSpc>
              <a:spcBef>
                <a:spcPts val="800"/>
              </a:spcBef>
              <a:spcAft>
                <a:spcPts val="0"/>
              </a:spcAft>
              <a:buClr>
                <a:schemeClr val="dk1"/>
              </a:buClr>
              <a:buSzPts val="1800"/>
              <a:buFont typeface="Arial"/>
              <a:buNone/>
            </a:pPr>
            <a:r>
              <a:t/>
            </a:r>
            <a:endParaRPr b="1" i="0" sz="900" u="none" cap="none" strike="noStrike">
              <a:solidFill>
                <a:schemeClr val="dk1"/>
              </a:solidFill>
              <a:latin typeface="Times New Roman"/>
              <a:ea typeface="Times New Roman"/>
              <a:cs typeface="Times New Roman"/>
              <a:sym typeface="Times New Roman"/>
            </a:endParaRPr>
          </a:p>
        </p:txBody>
      </p:sp>
      <p:pic>
        <p:nvPicPr>
          <p:cNvPr descr="VTU_logo" id="487" name="Google Shape;487;p50"/>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1"/>
          <p:cNvSpPr txBox="1"/>
          <p:nvPr>
            <p:ph type="ctrTitle"/>
          </p:nvPr>
        </p:nvSpPr>
        <p:spPr>
          <a:xfrm>
            <a:off x="1847942" y="524215"/>
            <a:ext cx="3851366" cy="507492"/>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Times New Roman"/>
                <a:ea typeface="Times New Roman"/>
                <a:cs typeface="Times New Roman"/>
                <a:sym typeface="Times New Roman"/>
              </a:rPr>
              <a:t>REFERENCES</a:t>
            </a:r>
            <a:endParaRPr b="1" sz="2700">
              <a:solidFill>
                <a:srgbClr val="000A30"/>
              </a:solidFill>
              <a:latin typeface="Times New Roman"/>
              <a:ea typeface="Times New Roman"/>
              <a:cs typeface="Times New Roman"/>
              <a:sym typeface="Times New Roman"/>
            </a:endParaRPr>
          </a:p>
        </p:txBody>
      </p:sp>
      <p:sp>
        <p:nvSpPr>
          <p:cNvPr id="493" name="Google Shape;493;p51"/>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94" name="Google Shape;494;p51"/>
          <p:cNvSpPr txBox="1"/>
          <p:nvPr/>
        </p:nvSpPr>
        <p:spPr>
          <a:xfrm>
            <a:off x="6859282" y="4773205"/>
            <a:ext cx="1864094" cy="27699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495" name="Google Shape;495;p51"/>
          <p:cNvSpPr/>
          <p:nvPr/>
        </p:nvSpPr>
        <p:spPr>
          <a:xfrm>
            <a:off x="376517" y="0"/>
            <a:ext cx="1284643" cy="127747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496" name="Google Shape;496;p51"/>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497" name="Google Shape;497;p51"/>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498" name="Google Shape;498;p51"/>
          <p:cNvSpPr txBox="1"/>
          <p:nvPr/>
        </p:nvSpPr>
        <p:spPr>
          <a:xfrm>
            <a:off x="376517" y="1405491"/>
            <a:ext cx="8227840" cy="2997020"/>
          </a:xfrm>
          <a:prstGeom prst="rect">
            <a:avLst/>
          </a:prstGeom>
          <a:noFill/>
          <a:ln>
            <a:noFill/>
          </a:ln>
        </p:spPr>
        <p:txBody>
          <a:bodyPr anchorCtr="0" anchor="t" bIns="34275" lIns="68575" spcFirstLastPara="1" rIns="68575" wrap="square" tIns="34275">
            <a:norm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99" name="Google Shape;499;p51"/>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sp>
        <p:nvSpPr>
          <p:cNvPr id="500" name="Google Shape;500;p51"/>
          <p:cNvSpPr txBox="1"/>
          <p:nvPr/>
        </p:nvSpPr>
        <p:spPr>
          <a:xfrm>
            <a:off x="376517" y="1434610"/>
            <a:ext cx="8227800" cy="32277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0"/>
              </a:spcBef>
              <a:spcAft>
                <a:spcPts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[1] R. Jaimon, S. Sabu, S. John, A. Muhammed, N. S., V. K., and A. Francis, “Image Classification on PYNQ-Z2 Using ResNet20 and Tensil’s TCU,” 2025.</a:t>
            </a:r>
            <a:endParaRPr sz="12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[2] K. Lata and S. Saini, “Hardware–Software Co-Simulation of an AES-128 Based Data Encryption in Image Processing Systems for the Internet of Things Environment,” I IEEE Int. Symp. Smart Electronic Systems (iSES), 2020.</a:t>
            </a:r>
            <a:endParaRPr sz="12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[3] E. H. Y. Wajih, A. Abdelli, M. Machhout, and F. Kharroubi, “A New Chaotic Symmetric Key Stream Cipher for Image Security in the Internet of Things,” IEEE Int. Conf. Artificial Intelligence &amp; Green Energy (ICAIGE), 2023.</a:t>
            </a:r>
            <a:endParaRPr sz="12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[4] C. S., N. P. H. L., P. V., and S. M., “Enhancement of Image Using Verilog and MATLAB,” IRJMETS, vol. 5, no. 7, pp. 870–872, 2023, doi:10.56726/IRJMETS43063.</a:t>
            </a:r>
            <a:endParaRPr sz="12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[5] A. J. Mansor, H. N. Abdalla, and H. T. Ziboon, “Digital Image Scrambling Using Chaotic Systems Based on FPGA,” in Proc. 3rd Scientific Conf. Electrical Engineering (SCEE), 2018, pp. 19–23.</a:t>
            </a:r>
            <a:endParaRPr sz="1200">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t/>
            </a:r>
            <a:endParaRPr sz="1200">
              <a:latin typeface="Times New Roman"/>
              <a:ea typeface="Times New Roman"/>
              <a:cs typeface="Times New Roman"/>
              <a:sym typeface="Times New Roman"/>
            </a:endParaRPr>
          </a:p>
        </p:txBody>
      </p:sp>
      <p:pic>
        <p:nvPicPr>
          <p:cNvPr descr="VTU_logo" id="501" name="Google Shape;501;p51"/>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2"/>
          <p:cNvSpPr txBox="1"/>
          <p:nvPr>
            <p:ph type="ctrTitle"/>
          </p:nvPr>
        </p:nvSpPr>
        <p:spPr>
          <a:xfrm>
            <a:off x="1847942" y="524215"/>
            <a:ext cx="3851366" cy="507492"/>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000A30"/>
              </a:buClr>
              <a:buSzPts val="2700"/>
              <a:buFont typeface="Calibri"/>
              <a:buNone/>
            </a:pPr>
            <a:r>
              <a:rPr b="1" lang="en-GB" sz="2700">
                <a:solidFill>
                  <a:srgbClr val="000A30"/>
                </a:solidFill>
                <a:latin typeface="Times New Roman"/>
                <a:ea typeface="Times New Roman"/>
                <a:cs typeface="Times New Roman"/>
                <a:sym typeface="Times New Roman"/>
              </a:rPr>
              <a:t>REFERENCES</a:t>
            </a:r>
            <a:endParaRPr b="1" sz="2700">
              <a:solidFill>
                <a:srgbClr val="000A30"/>
              </a:solidFill>
              <a:latin typeface="Times New Roman"/>
              <a:ea typeface="Times New Roman"/>
              <a:cs typeface="Times New Roman"/>
              <a:sym typeface="Times New Roman"/>
            </a:endParaRPr>
          </a:p>
        </p:txBody>
      </p:sp>
      <p:sp>
        <p:nvSpPr>
          <p:cNvPr id="507" name="Google Shape;507;p52"/>
          <p:cNvSpPr/>
          <p:nvPr/>
        </p:nvSpPr>
        <p:spPr>
          <a:xfrm>
            <a:off x="0" y="4714875"/>
            <a:ext cx="9144000" cy="428625"/>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508" name="Google Shape;508;p52"/>
          <p:cNvSpPr txBox="1"/>
          <p:nvPr/>
        </p:nvSpPr>
        <p:spPr>
          <a:xfrm>
            <a:off x="6859282" y="4773205"/>
            <a:ext cx="1864094" cy="27699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509" name="Google Shape;509;p52"/>
          <p:cNvSpPr/>
          <p:nvPr/>
        </p:nvSpPr>
        <p:spPr>
          <a:xfrm>
            <a:off x="376517" y="0"/>
            <a:ext cx="1284643" cy="127747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510" name="Google Shape;510;p52"/>
          <p:cNvPicPr preferRelativeResize="0"/>
          <p:nvPr/>
        </p:nvPicPr>
        <p:blipFill rotWithShape="1">
          <a:blip r:embed="rId3">
            <a:alphaModFix/>
          </a:blip>
          <a:srcRect b="0" l="0" r="0" t="0"/>
          <a:stretch/>
        </p:blipFill>
        <p:spPr>
          <a:xfrm>
            <a:off x="511212" y="312326"/>
            <a:ext cx="1015253" cy="652780"/>
          </a:xfrm>
          <a:prstGeom prst="rect">
            <a:avLst/>
          </a:prstGeom>
          <a:noFill/>
          <a:ln>
            <a:noFill/>
          </a:ln>
        </p:spPr>
      </p:pic>
      <p:sp>
        <p:nvSpPr>
          <p:cNvPr id="511" name="Google Shape;511;p52"/>
          <p:cNvSpPr/>
          <p:nvPr/>
        </p:nvSpPr>
        <p:spPr>
          <a:xfrm>
            <a:off x="1915173" y="1052312"/>
            <a:ext cx="675798" cy="47533"/>
          </a:xfrm>
          <a:prstGeom prst="rect">
            <a:avLst/>
          </a:prstGeom>
          <a:solidFill>
            <a:srgbClr val="00A1D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512" name="Google Shape;512;p52"/>
          <p:cNvSpPr txBox="1"/>
          <p:nvPr/>
        </p:nvSpPr>
        <p:spPr>
          <a:xfrm>
            <a:off x="376517" y="1405491"/>
            <a:ext cx="8227840" cy="2997020"/>
          </a:xfrm>
          <a:prstGeom prst="rect">
            <a:avLst/>
          </a:prstGeom>
          <a:noFill/>
          <a:ln>
            <a:noFill/>
          </a:ln>
        </p:spPr>
        <p:txBody>
          <a:bodyPr anchorCtr="0" anchor="t" bIns="34275" lIns="68575" spcFirstLastPara="1" rIns="68575" wrap="square" tIns="34275">
            <a:norm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513" name="Google Shape;513;p52"/>
          <p:cNvSpPr txBox="1"/>
          <p:nvPr/>
        </p:nvSpPr>
        <p:spPr>
          <a:xfrm>
            <a:off x="376517" y="1339997"/>
            <a:ext cx="8227800" cy="32277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0"/>
              </a:spcBef>
              <a:spcAft>
                <a:spcPts val="0"/>
              </a:spcAft>
              <a:buSzPts val="1100"/>
              <a:buNone/>
            </a:pPr>
            <a:r>
              <a:rPr lang="en-GB" sz="1200">
                <a:solidFill>
                  <a:schemeClr val="dk1"/>
                </a:solidFill>
                <a:latin typeface="Times New Roman"/>
                <a:ea typeface="Times New Roman"/>
                <a:cs typeface="Times New Roman"/>
                <a:sym typeface="Times New Roman"/>
              </a:rPr>
              <a:t>[6] P. Ghosh, S. Ghosh, and H. Rahaman, “Hardware Implementation of Two Level Authentication Algorithm Using Cryptography with Steganography for Text-Image Security,” in Proc. IEEE Int. Conf. Electron Devices Society Kolkata Chapter (EDKCON), 2024, pp. 105-110.</a:t>
            </a:r>
            <a:endParaRPr sz="12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SzPts val="1100"/>
              <a:buNone/>
            </a:pPr>
            <a:r>
              <a:rPr lang="en-GB" sz="1200">
                <a:solidFill>
                  <a:schemeClr val="dk1"/>
                </a:solidFill>
                <a:latin typeface="Times New Roman"/>
                <a:ea typeface="Times New Roman"/>
                <a:cs typeface="Times New Roman"/>
                <a:sym typeface="Times New Roman"/>
              </a:rPr>
              <a:t>[7] S. Tiwari and P. R. Muduli, “Convolutional Neural Network-based ECG Classification on PYNQ-Z2 Framework,” in Proc. IEEE Int. Conf. Electronics, Computing and Communication Technologies (CONECCT), 2022, pp. 1–7, doi: 10.1109/CONECCT55679.2022.9865780.</a:t>
            </a:r>
            <a:endParaRPr sz="12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SzPts val="1100"/>
              <a:buNone/>
            </a:pPr>
            <a:r>
              <a:rPr lang="en-GB" sz="1200">
                <a:solidFill>
                  <a:schemeClr val="dk1"/>
                </a:solidFill>
                <a:latin typeface="Times New Roman"/>
                <a:ea typeface="Times New Roman"/>
                <a:cs typeface="Times New Roman"/>
                <a:sym typeface="Times New Roman"/>
              </a:rPr>
              <a:t>[8] Zhang Q, Xue X, Wei X. A novel image encryption algorithm based on DNA subsequence operation. ScientificWorldJournal. 2012;2012:286741. Doi: 10.1100/2012/286741. Epub 2012 Oct 11. PMID: 23093912; PMCID: PMC3475302.</a:t>
            </a:r>
            <a:endParaRPr sz="12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SzPts val="1100"/>
              <a:buNone/>
            </a:pPr>
            <a:r>
              <a:rPr lang="en-GB" sz="1200">
                <a:solidFill>
                  <a:schemeClr val="dk1"/>
                </a:solidFill>
                <a:latin typeface="Times New Roman"/>
                <a:ea typeface="Times New Roman"/>
                <a:cs typeface="Times New Roman"/>
                <a:sym typeface="Times New Roman"/>
              </a:rPr>
              <a:t>[9] S. Pedre, T. Krajn´ ık, E. Todorovich, and P. Borensztejn, “Hardware/Software Co-design for Real-Time Embedded Image Processing: A Case Study,” in Proc. IEEE Int. Conf. on Electron Devices Society Kolkata Chapter (EDKCON), 2012, pp. 7–14.</a:t>
            </a:r>
            <a:endParaRPr sz="12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SzPts val="1100"/>
              <a:buNone/>
            </a:pPr>
            <a:r>
              <a:rPr lang="en-GB" sz="1200">
                <a:solidFill>
                  <a:schemeClr val="dk1"/>
                </a:solidFill>
                <a:latin typeface="Times New Roman"/>
                <a:ea typeface="Times New Roman"/>
                <a:cs typeface="Times New Roman"/>
                <a:sym typeface="Times New Roman"/>
              </a:rPr>
              <a:t>[10] Q. Ding, D. Liu, Y. Zhao, and Z. Ma, “Intelligent target detection and encrypted transmission system based on FPGA,” Computers and Electrical Engineering, vol. 128, art. No. 110653, 2025.</a:t>
            </a:r>
            <a:endParaRPr sz="1200">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t/>
            </a:r>
            <a:endParaRPr sz="1200">
              <a:latin typeface="Times New Roman"/>
              <a:ea typeface="Times New Roman"/>
              <a:cs typeface="Times New Roman"/>
              <a:sym typeface="Times New Roman"/>
            </a:endParaRPr>
          </a:p>
        </p:txBody>
      </p:sp>
      <p:sp>
        <p:nvSpPr>
          <p:cNvPr id="514" name="Google Shape;514;p52"/>
          <p:cNvSpPr txBox="1"/>
          <p:nvPr/>
        </p:nvSpPr>
        <p:spPr>
          <a:xfrm>
            <a:off x="376517" y="4842896"/>
            <a:ext cx="4731530" cy="20730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pic>
        <p:nvPicPr>
          <p:cNvPr descr="VTU_logo" id="515" name="Google Shape;515;p52"/>
          <p:cNvPicPr preferRelativeResize="0"/>
          <p:nvPr/>
        </p:nvPicPr>
        <p:blipFill rotWithShape="1">
          <a:blip r:embed="rId4">
            <a:alphaModFix/>
          </a:blip>
          <a:srcRect b="0" l="0" r="0" t="0"/>
          <a:stretch/>
        </p:blipFill>
        <p:spPr>
          <a:xfrm>
            <a:off x="8014064" y="58332"/>
            <a:ext cx="917965" cy="112668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521" name="Google Shape;521;p53"/>
          <p:cNvSpPr txBox="1"/>
          <p:nvPr/>
        </p:nvSpPr>
        <p:spPr>
          <a:xfrm>
            <a:off x="6859282" y="4773205"/>
            <a:ext cx="18642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522" name="Google Shape;522;p53"/>
          <p:cNvSpPr/>
          <p:nvPr/>
        </p:nvSpPr>
        <p:spPr>
          <a:xfrm>
            <a:off x="376525" y="0"/>
            <a:ext cx="1284600" cy="10158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523" name="Google Shape;523;p53"/>
          <p:cNvPicPr preferRelativeResize="0"/>
          <p:nvPr/>
        </p:nvPicPr>
        <p:blipFill rotWithShape="1">
          <a:blip r:embed="rId3">
            <a:alphaModFix/>
          </a:blip>
          <a:srcRect b="0" l="0" r="0" t="0"/>
          <a:stretch/>
        </p:blipFill>
        <p:spPr>
          <a:xfrm>
            <a:off x="511199" y="181514"/>
            <a:ext cx="1015254" cy="652781"/>
          </a:xfrm>
          <a:prstGeom prst="rect">
            <a:avLst/>
          </a:prstGeom>
          <a:noFill/>
          <a:ln>
            <a:noFill/>
          </a:ln>
        </p:spPr>
      </p:pic>
      <p:sp>
        <p:nvSpPr>
          <p:cNvPr id="524" name="Google Shape;524;p53"/>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pic>
        <p:nvPicPr>
          <p:cNvPr descr="VTU_logo" id="525" name="Google Shape;525;p53"/>
          <p:cNvPicPr preferRelativeResize="0"/>
          <p:nvPr/>
        </p:nvPicPr>
        <p:blipFill rotWithShape="1">
          <a:blip r:embed="rId4">
            <a:alphaModFix/>
          </a:blip>
          <a:srcRect b="0" l="0" r="0" t="0"/>
          <a:stretch/>
        </p:blipFill>
        <p:spPr>
          <a:xfrm>
            <a:off x="8014075" y="58326"/>
            <a:ext cx="917950" cy="957475"/>
          </a:xfrm>
          <a:prstGeom prst="rect">
            <a:avLst/>
          </a:prstGeom>
          <a:noFill/>
          <a:ln>
            <a:noFill/>
          </a:ln>
        </p:spPr>
      </p:pic>
      <p:pic>
        <p:nvPicPr>
          <p:cNvPr id="526" name="Google Shape;526;p53"/>
          <p:cNvPicPr preferRelativeResize="0"/>
          <p:nvPr/>
        </p:nvPicPr>
        <p:blipFill>
          <a:blip r:embed="rId5">
            <a:alphaModFix/>
          </a:blip>
          <a:stretch>
            <a:fillRect/>
          </a:stretch>
        </p:blipFill>
        <p:spPr>
          <a:xfrm>
            <a:off x="376525" y="1049438"/>
            <a:ext cx="8555501" cy="35049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4"/>
          <p:cNvSpPr/>
          <p:nvPr/>
        </p:nvSpPr>
        <p:spPr>
          <a:xfrm>
            <a:off x="0" y="4714875"/>
            <a:ext cx="9144000" cy="42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sp>
        <p:nvSpPr>
          <p:cNvPr id="532" name="Google Shape;532;p54"/>
          <p:cNvSpPr txBox="1"/>
          <p:nvPr/>
        </p:nvSpPr>
        <p:spPr>
          <a:xfrm>
            <a:off x="6859282" y="4773205"/>
            <a:ext cx="18642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chemeClr val="lt1"/>
                </a:solidFill>
                <a:latin typeface="Times New Roman"/>
                <a:ea typeface="Times New Roman"/>
                <a:cs typeface="Times New Roman"/>
                <a:sym typeface="Times New Roman"/>
              </a:rPr>
              <a:t>www.cambridge.edu.in</a:t>
            </a:r>
            <a:endParaRPr b="0" i="0" sz="1100" u="none" cap="none" strike="noStrike">
              <a:solidFill>
                <a:srgbClr val="000000"/>
              </a:solidFill>
              <a:latin typeface="Times New Roman"/>
              <a:ea typeface="Times New Roman"/>
              <a:cs typeface="Times New Roman"/>
              <a:sym typeface="Times New Roman"/>
            </a:endParaRPr>
          </a:p>
        </p:txBody>
      </p:sp>
      <p:sp>
        <p:nvSpPr>
          <p:cNvPr id="533" name="Google Shape;533;p54"/>
          <p:cNvSpPr/>
          <p:nvPr/>
        </p:nvSpPr>
        <p:spPr>
          <a:xfrm>
            <a:off x="376550" y="116525"/>
            <a:ext cx="1284600" cy="848700"/>
          </a:xfrm>
          <a:prstGeom prst="rect">
            <a:avLst/>
          </a:prstGeom>
          <a:solidFill>
            <a:srgbClr val="000A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Times New Roman"/>
              <a:ea typeface="Times New Roman"/>
              <a:cs typeface="Times New Roman"/>
              <a:sym typeface="Times New Roman"/>
            </a:endParaRPr>
          </a:p>
        </p:txBody>
      </p:sp>
      <p:pic>
        <p:nvPicPr>
          <p:cNvPr id="534" name="Google Shape;534;p54"/>
          <p:cNvPicPr preferRelativeResize="0"/>
          <p:nvPr/>
        </p:nvPicPr>
        <p:blipFill rotWithShape="1">
          <a:blip r:embed="rId3">
            <a:alphaModFix/>
          </a:blip>
          <a:srcRect b="0" l="0" r="0" t="0"/>
          <a:stretch/>
        </p:blipFill>
        <p:spPr>
          <a:xfrm>
            <a:off x="511224" y="214489"/>
            <a:ext cx="1015254" cy="652781"/>
          </a:xfrm>
          <a:prstGeom prst="rect">
            <a:avLst/>
          </a:prstGeom>
          <a:noFill/>
          <a:ln>
            <a:noFill/>
          </a:ln>
        </p:spPr>
      </p:pic>
      <p:sp>
        <p:nvSpPr>
          <p:cNvPr id="535" name="Google Shape;535;p54"/>
          <p:cNvSpPr txBox="1"/>
          <p:nvPr/>
        </p:nvSpPr>
        <p:spPr>
          <a:xfrm>
            <a:off x="376517" y="4842896"/>
            <a:ext cx="4731600" cy="2073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Clr>
                <a:schemeClr val="lt1"/>
              </a:buClr>
              <a:buSzPts val="1400"/>
              <a:buFont typeface="Calibri"/>
              <a:buNone/>
            </a:pPr>
            <a:r>
              <a:rPr b="1" i="1" lang="en-GB" sz="1400" u="none" cap="none" strike="noStrike">
                <a:solidFill>
                  <a:schemeClr val="lt1"/>
                </a:solidFill>
                <a:latin typeface="Times New Roman"/>
                <a:ea typeface="Times New Roman"/>
                <a:cs typeface="Times New Roman"/>
                <a:sym typeface="Times New Roman"/>
              </a:rPr>
              <a:t>Department of</a:t>
            </a:r>
            <a:r>
              <a:rPr b="1" i="0" lang="en-GB" sz="1400" u="none" cap="none" strike="noStrike">
                <a:solidFill>
                  <a:schemeClr val="lt1"/>
                </a:solidFill>
                <a:latin typeface="Times New Roman"/>
                <a:ea typeface="Times New Roman"/>
                <a:cs typeface="Times New Roman"/>
                <a:sym typeface="Times New Roman"/>
              </a:rPr>
              <a:t> Electronics &amp; Communication Engineering</a:t>
            </a:r>
            <a:endParaRPr b="1" i="0" sz="1400" u="none" cap="none" strike="noStrike">
              <a:solidFill>
                <a:schemeClr val="lt1"/>
              </a:solidFill>
              <a:latin typeface="Times New Roman"/>
              <a:ea typeface="Times New Roman"/>
              <a:cs typeface="Times New Roman"/>
              <a:sym typeface="Times New Roman"/>
            </a:endParaRPr>
          </a:p>
        </p:txBody>
      </p:sp>
      <p:pic>
        <p:nvPicPr>
          <p:cNvPr descr="VTU_logo" id="536" name="Google Shape;536;p54"/>
          <p:cNvPicPr preferRelativeResize="0"/>
          <p:nvPr/>
        </p:nvPicPr>
        <p:blipFill rotWithShape="1">
          <a:blip r:embed="rId4">
            <a:alphaModFix/>
          </a:blip>
          <a:srcRect b="0" l="0" r="0" t="0"/>
          <a:stretch/>
        </p:blipFill>
        <p:spPr>
          <a:xfrm>
            <a:off x="8014075" y="58325"/>
            <a:ext cx="917950" cy="848700"/>
          </a:xfrm>
          <a:prstGeom prst="rect">
            <a:avLst/>
          </a:prstGeom>
          <a:noFill/>
          <a:ln>
            <a:noFill/>
          </a:ln>
        </p:spPr>
      </p:pic>
      <p:pic>
        <p:nvPicPr>
          <p:cNvPr id="537" name="Google Shape;537;p54"/>
          <p:cNvPicPr preferRelativeResize="0"/>
          <p:nvPr/>
        </p:nvPicPr>
        <p:blipFill>
          <a:blip r:embed="rId5">
            <a:alphaModFix/>
          </a:blip>
          <a:stretch>
            <a:fillRect/>
          </a:stretch>
        </p:blipFill>
        <p:spPr>
          <a:xfrm>
            <a:off x="376525" y="1037400"/>
            <a:ext cx="8555501" cy="35923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